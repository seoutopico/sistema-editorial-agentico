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5"/>
    <p:sldMasterId id="214748366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  <p:embeddedFont>
      <p:font typeface="Inter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70">
          <p15:clr>
            <a:srgbClr val="747775"/>
          </p15:clr>
        </p15:guide>
        <p15:guide id="2" orient="horz" pos="488">
          <p15:clr>
            <a:srgbClr val="747775"/>
          </p15:clr>
        </p15:guide>
        <p15:guide id="3" pos="4876">
          <p15:clr>
            <a:srgbClr val="747775"/>
          </p15:clr>
        </p15:guide>
        <p15:guide id="4" pos="170">
          <p15:clr>
            <a:srgbClr val="747775"/>
          </p15:clr>
        </p15:guide>
        <p15:guide id="5" pos="5556">
          <p15:clr>
            <a:srgbClr val="747775"/>
          </p15:clr>
        </p15:guide>
        <p15:guide id="6" orient="horz" pos="719">
          <p15:clr>
            <a:srgbClr val="747775"/>
          </p15:clr>
        </p15:guide>
        <p15:guide id="7" pos="26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EE3193-8D45-4A5B-88C0-FDBB99C5EF04}">
  <a:tblStyle styleId="{62EE3193-8D45-4A5B-88C0-FDBB99C5EF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0"/>
        <p:guide pos="488" orient="horz"/>
        <p:guide pos="4876"/>
        <p:guide pos="170"/>
        <p:guide pos="5556"/>
        <p:guide pos="719" orient="horz"/>
        <p:guide pos="26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4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3.xml"/><Relationship Id="rId32" Type="http://schemas.openxmlformats.org/officeDocument/2006/relationships/font" Target="fonts/Roboto-italic.fntdata"/><Relationship Id="rId13" Type="http://schemas.openxmlformats.org/officeDocument/2006/relationships/slide" Target="slides/slide6.xml"/><Relationship Id="rId35" Type="http://schemas.openxmlformats.org/officeDocument/2006/relationships/font" Target="fonts/Inter-bold.fntdata"/><Relationship Id="rId12" Type="http://schemas.openxmlformats.org/officeDocument/2006/relationships/slide" Target="slides/slide5.xml"/><Relationship Id="rId34" Type="http://schemas.openxmlformats.org/officeDocument/2006/relationships/font" Target="fonts/Inter-regular.fntdata"/><Relationship Id="rId15" Type="http://schemas.openxmlformats.org/officeDocument/2006/relationships/slide" Target="slides/slide8.xml"/><Relationship Id="rId37" Type="http://schemas.openxmlformats.org/officeDocument/2006/relationships/font" Target="fonts/Inter-boldItalic.fntdata"/><Relationship Id="rId14" Type="http://schemas.openxmlformats.org/officeDocument/2006/relationships/slide" Target="slides/slide7.xml"/><Relationship Id="rId36" Type="http://schemas.openxmlformats.org/officeDocument/2006/relationships/font" Target="fonts/Inter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a0fbafbb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a0fbafbb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4d72ddebf519363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4d72ddebf519363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4d72ddebf519363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4d72ddebf519363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4d72ddebf519363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4d72ddebf519363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4d72ddebf519363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4d72ddebf519363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4d72ddebf519363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4d72ddebf519363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4d72ddebf519363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4d72ddebf519363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ba2dd9be5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eba2dd9be5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4d72ddebf519363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4d72ddebf519363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4d72ddebf5193636_6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4d72ddebf5193636_6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ba2dd9be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ba2dd9be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4d72ddebf5193636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4d72ddebf519363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ba2dd9be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ba2dd9be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ba2dd9be5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eba2dd9be5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4d72ddebf5193636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4d72ddebf519363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ba2dd9be5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ba2dd9be5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4d72ddebf5193636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h4d72ddebf5193636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62e700a7e1b0b41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h62e700a7e1b0b41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a0fbafbb3_2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a0fbafbb3_2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aed10e44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eaed10e44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EAE7DC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358500" y="1946975"/>
            <a:ext cx="8460900" cy="2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2" type="subTitle"/>
          </p:nvPr>
        </p:nvSpPr>
        <p:spPr>
          <a:xfrm>
            <a:off x="270000" y="1135775"/>
            <a:ext cx="85077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270000" y="525575"/>
            <a:ext cx="85077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28">
          <p15:clr>
            <a:srgbClr val="E46962"/>
          </p15:clr>
        </p15:guide>
        <p15:guide id="2" pos="170">
          <p15:clr>
            <a:srgbClr val="E46962"/>
          </p15:clr>
        </p15:guide>
        <p15:guide id="3" orient="horz" pos="71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70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1">
  <p:cSld name="TITLE_AND_BODY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70">
          <p15:clr>
            <a:srgbClr val="E46962"/>
          </p15:clr>
        </p15:guide>
        <p15:guide id="2" orient="horz" pos="78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ásica con título">
  <p:cSld name="DEFAULT_1">
    <p:bg>
      <p:bgPr>
        <a:solidFill>
          <a:srgbClr val="EAE7DC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 txBox="1"/>
          <p:nvPr>
            <p:ph type="title"/>
          </p:nvPr>
        </p:nvSpPr>
        <p:spPr>
          <a:xfrm>
            <a:off x="311703" y="525575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b="1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28">
          <p15:clr>
            <a:srgbClr val="E46962"/>
          </p15:clr>
        </p15:guide>
        <p15:guide id="2" orient="horz" pos="964">
          <p15:clr>
            <a:srgbClr val="E46962"/>
          </p15:clr>
        </p15:guide>
        <p15:guide id="3" pos="17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ásica con título 2">
  <p:cSld name="DEFAULT_3">
    <p:bg>
      <p:bgPr>
        <a:solidFill>
          <a:srgbClr val="EAE7DC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/>
          <p:nvPr>
            <p:ph type="title"/>
          </p:nvPr>
        </p:nvSpPr>
        <p:spPr>
          <a:xfrm>
            <a:off x="399300" y="1431150"/>
            <a:ext cx="8345400" cy="22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b="1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2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ásica con título 1">
  <p:cSld name="DEFAULT_4">
    <p:bg>
      <p:bgPr>
        <a:solidFill>
          <a:srgbClr val="EAE7DC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 txBox="1"/>
          <p:nvPr>
            <p:ph type="title"/>
          </p:nvPr>
        </p:nvSpPr>
        <p:spPr>
          <a:xfrm>
            <a:off x="147103" y="338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b="1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28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ásica con título 3">
  <p:cSld name="DEFAULT_5">
    <p:bg>
      <p:bgPr>
        <a:solidFill>
          <a:srgbClr val="EAE7DC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/>
          <p:nvPr>
            <p:ph type="title"/>
          </p:nvPr>
        </p:nvSpPr>
        <p:spPr>
          <a:xfrm>
            <a:off x="147103" y="338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b="1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2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ásica con título 4">
  <p:cSld name="DEFAULT_6">
    <p:bg>
      <p:bgPr>
        <a:solidFill>
          <a:srgbClr val="EAE7D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/>
          <p:nvPr>
            <p:ph type="title"/>
          </p:nvPr>
        </p:nvSpPr>
        <p:spPr>
          <a:xfrm>
            <a:off x="147103" y="338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b="1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2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ásica con título 5">
  <p:cSld name="DEFAULT_7">
    <p:bg>
      <p:bgPr>
        <a:solidFill>
          <a:srgbClr val="EAE7DC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/>
          <p:nvPr>
            <p:ph type="title"/>
          </p:nvPr>
        </p:nvSpPr>
        <p:spPr>
          <a:xfrm>
            <a:off x="147103" y="338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b="1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2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ásica con título 6">
  <p:cSld name="DEFAULT_8">
    <p:bg>
      <p:bgPr>
        <a:solidFill>
          <a:srgbClr val="EAE7D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/>
          <p:nvPr>
            <p:ph type="title"/>
          </p:nvPr>
        </p:nvSpPr>
        <p:spPr>
          <a:xfrm>
            <a:off x="147103" y="338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b="1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2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EAE7DC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idx="1" type="subTitle"/>
          </p:nvPr>
        </p:nvSpPr>
        <p:spPr>
          <a:xfrm>
            <a:off x="358500" y="1946975"/>
            <a:ext cx="8460900" cy="2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2" type="subTitle"/>
          </p:nvPr>
        </p:nvSpPr>
        <p:spPr>
          <a:xfrm>
            <a:off x="270000" y="1135775"/>
            <a:ext cx="85077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type="title"/>
          </p:nvPr>
        </p:nvSpPr>
        <p:spPr>
          <a:xfrm>
            <a:off x="270000" y="525575"/>
            <a:ext cx="85077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28">
          <p15:clr>
            <a:srgbClr val="E46962"/>
          </p15:clr>
        </p15:guide>
        <p15:guide id="2" pos="170">
          <p15:clr>
            <a:srgbClr val="E46962"/>
          </p15:clr>
        </p15:guide>
        <p15:guide id="3" orient="horz" pos="71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7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1">
  <p:cSld name="TITLE_AND_BODY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70">
          <p15:clr>
            <a:srgbClr val="E46962"/>
          </p15:clr>
        </p15:guide>
        <p15:guide id="2" orient="horz" pos="78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ásica con título">
  <p:cSld name="DEFAULT_1">
    <p:bg>
      <p:bgPr>
        <a:solidFill>
          <a:srgbClr val="EAE7DC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311703" y="525575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b="1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28">
          <p15:clr>
            <a:srgbClr val="E46962"/>
          </p15:clr>
        </p15:guide>
        <p15:guide id="2" orient="horz" pos="964">
          <p15:clr>
            <a:srgbClr val="E46962"/>
          </p15:clr>
        </p15:guide>
        <p15:guide id="3" pos="170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ásica con título 2">
  <p:cSld name="DEFAULT_3">
    <p:bg>
      <p:bgPr>
        <a:solidFill>
          <a:srgbClr val="EAE7DC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/>
          <p:nvPr>
            <p:ph type="title"/>
          </p:nvPr>
        </p:nvSpPr>
        <p:spPr>
          <a:xfrm>
            <a:off x="399300" y="1431150"/>
            <a:ext cx="8345400" cy="22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b="1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2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ásica con título 1">
  <p:cSld name="DEFAULT_4">
    <p:bg>
      <p:bgPr>
        <a:solidFill>
          <a:srgbClr val="EAE7DC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type="title"/>
          </p:nvPr>
        </p:nvSpPr>
        <p:spPr>
          <a:xfrm>
            <a:off x="147103" y="338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b="1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2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ásica con título 3">
  <p:cSld name="DEFAULT_5">
    <p:bg>
      <p:bgPr>
        <a:solidFill>
          <a:srgbClr val="EAE7DC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/>
          <p:nvPr>
            <p:ph type="title"/>
          </p:nvPr>
        </p:nvSpPr>
        <p:spPr>
          <a:xfrm>
            <a:off x="147103" y="338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b="1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28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ásica con título 4">
  <p:cSld name="DEFAULT_6">
    <p:bg>
      <p:bgPr>
        <a:solidFill>
          <a:srgbClr val="EAE7DC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147103" y="338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b="1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28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ásica con título 5">
  <p:cSld name="DEFAULT_7">
    <p:bg>
      <p:bgPr>
        <a:solidFill>
          <a:srgbClr val="EAE7DC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type="title"/>
          </p:nvPr>
        </p:nvSpPr>
        <p:spPr>
          <a:xfrm>
            <a:off x="147103" y="338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b="1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28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ásica con título 6">
  <p:cSld name="DEFAULT_8">
    <p:bg>
      <p:bgPr>
        <a:solidFill>
          <a:srgbClr val="EAE7DC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147103" y="338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b="1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2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AE7D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524700" y="4699575"/>
            <a:ext cx="18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Think&amp;Hack by ainalluna.com</a:t>
            </a:r>
            <a:endParaRPr b="0" i="0" sz="8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7;p1" title="thinkhack_logo_alta-removebg-preview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9200" y="4699575"/>
            <a:ext cx="265500" cy="265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AE7D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/>
        </p:nvSpPr>
        <p:spPr>
          <a:xfrm>
            <a:off x="524700" y="4699575"/>
            <a:ext cx="181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Think&amp;Hack by ainalluna.com</a:t>
            </a:r>
            <a:endParaRPr b="0" i="0" sz="8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12" title="thinkhack_logo_alta-removebg-preview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9200" y="4699575"/>
            <a:ext cx="265500" cy="265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s://www.linkedin.com/in/ainataylor/" TargetMode="External"/><Relationship Id="rId5" Type="http://schemas.openxmlformats.org/officeDocument/2006/relationships/hyperlink" Target="https://ainalluna.substack.com/" TargetMode="External"/><Relationship Id="rId6" Type="http://schemas.openxmlformats.org/officeDocument/2006/relationships/hyperlink" Target="https://ainalluna.substack.com/" TargetMode="External"/><Relationship Id="rId7" Type="http://schemas.openxmlformats.org/officeDocument/2006/relationships/hyperlink" Target="https://ainalluna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6vhVGY8Yf9FQ8qv-nFxn_hXr8-_k03tt/view" TargetMode="External"/><Relationship Id="rId4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tiktok.com/@pipoelnaufragoo" TargetMode="External"/><Relationship Id="rId4" Type="http://schemas.openxmlformats.org/officeDocument/2006/relationships/hyperlink" Target="https://github.com/seoutopico/ai-entity-gap-seo" TargetMode="External"/><Relationship Id="rId5" Type="http://schemas.openxmlformats.org/officeDocument/2006/relationships/hyperlink" Target="https://github.com/seoutopico/claude_skills/blob/master/browser-console-automation/ejemplos/ejemplo-radar-ideas-ThinkHack.md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linkedin.com/in/ainataylor/" TargetMode="External"/><Relationship Id="rId4" Type="http://schemas.openxmlformats.org/officeDocument/2006/relationships/hyperlink" Target="https://ainalluna.substack.com/" TargetMode="External"/><Relationship Id="rId5" Type="http://schemas.openxmlformats.org/officeDocument/2006/relationships/hyperlink" Target="https://ainalluna.substack.com/" TargetMode="External"/><Relationship Id="rId6" Type="http://schemas.openxmlformats.org/officeDocument/2006/relationships/hyperlink" Target="https://ainalluna.com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linkedin.com/in/ainataylor/" TargetMode="External"/><Relationship Id="rId4" Type="http://schemas.openxmlformats.org/officeDocument/2006/relationships/hyperlink" Target="https://ainalluna.substack.com/" TargetMode="External"/><Relationship Id="rId5" Type="http://schemas.openxmlformats.org/officeDocument/2006/relationships/hyperlink" Target="https://ainalluna.substack.com/" TargetMode="External"/><Relationship Id="rId6" Type="http://schemas.openxmlformats.org/officeDocument/2006/relationships/hyperlink" Target="https://ainalluna.com/" TargetMode="External"/><Relationship Id="rId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3"/>
          <p:cNvGrpSpPr/>
          <p:nvPr/>
        </p:nvGrpSpPr>
        <p:grpSpPr>
          <a:xfrm>
            <a:off x="232198" y="1086363"/>
            <a:ext cx="8679605" cy="2970775"/>
            <a:chOff x="140445" y="358900"/>
            <a:chExt cx="8679605" cy="2970775"/>
          </a:xfrm>
        </p:grpSpPr>
        <p:sp>
          <p:nvSpPr>
            <p:cNvPr id="56" name="Google Shape;56;p23"/>
            <p:cNvSpPr txBox="1"/>
            <p:nvPr/>
          </p:nvSpPr>
          <p:spPr>
            <a:xfrm>
              <a:off x="140450" y="358900"/>
              <a:ext cx="8679600" cy="7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" sz="58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De chat a </a:t>
              </a:r>
              <a:r>
                <a:rPr b="1" lang="es" sz="5800">
                  <a:solidFill>
                    <a:schemeClr val="lt1"/>
                  </a:solidFill>
                  <a:highlight>
                    <a:srgbClr val="FD6534"/>
                  </a:highlight>
                  <a:latin typeface="Inter"/>
                  <a:ea typeface="Inter"/>
                  <a:cs typeface="Inter"/>
                  <a:sym typeface="Inter"/>
                </a:rPr>
                <a:t>sistemas</a:t>
              </a:r>
              <a:r>
                <a:rPr b="1" lang="es" sz="58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endParaRPr b="1" i="0" sz="58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" name="Google Shape;57;p23"/>
            <p:cNvSpPr txBox="1"/>
            <p:nvPr/>
          </p:nvSpPr>
          <p:spPr>
            <a:xfrm>
              <a:off x="270000" y="2867975"/>
              <a:ext cx="855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s" sz="18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ConIA - Madrid - 17 octubre 2026</a:t>
              </a:r>
              <a:endParaRPr b="1" sz="100"/>
            </a:p>
          </p:txBody>
        </p:sp>
        <p:sp>
          <p:nvSpPr>
            <p:cNvPr id="58" name="Google Shape;58;p23"/>
            <p:cNvSpPr txBox="1"/>
            <p:nvPr/>
          </p:nvSpPr>
          <p:spPr>
            <a:xfrm>
              <a:off x="140445" y="1333238"/>
              <a:ext cx="8679600" cy="13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s" sz="3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Las skills convierten la </a:t>
              </a:r>
              <a:r>
                <a:rPr b="1" lang="es" sz="3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IA</a:t>
              </a:r>
              <a:r>
                <a:rPr lang="es" sz="3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en tu equipo de marketing</a:t>
              </a:r>
              <a:endParaRPr sz="12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/>
          <p:nvPr/>
        </p:nvSpPr>
        <p:spPr>
          <a:xfrm>
            <a:off x="269875" y="1423069"/>
            <a:ext cx="37230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s" sz="2379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Head of Generative AI</a:t>
            </a:r>
            <a:r>
              <a:rPr lang="es" sz="1870">
                <a:solidFill>
                  <a:schemeClr val="dk1"/>
                </a:solidFill>
              </a:rPr>
              <a:t> </a:t>
            </a:r>
            <a:r>
              <a:rPr b="1" lang="es" sz="2379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en Editorial Planeta</a:t>
            </a:r>
            <a:endParaRPr b="1" sz="17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770">
              <a:solidFill>
                <a:schemeClr val="dk1"/>
              </a:solidFill>
            </a:endParaRPr>
          </a:p>
        </p:txBody>
      </p:sp>
      <p:pic>
        <p:nvPicPr>
          <p:cNvPr id="64" name="Google Shape;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7200" y="1473300"/>
            <a:ext cx="2012650" cy="20126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4"/>
          <p:cNvSpPr txBox="1"/>
          <p:nvPr/>
        </p:nvSpPr>
        <p:spPr>
          <a:xfrm>
            <a:off x="270000" y="2791431"/>
            <a:ext cx="5622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25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Creo sistemas de IA aplicados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25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 procesos. Y escribo Think&amp;Hack.</a:t>
            </a:r>
            <a:endParaRPr/>
          </a:p>
        </p:txBody>
      </p:sp>
      <p:sp>
        <p:nvSpPr>
          <p:cNvPr id="66" name="Google Shape;66;p24"/>
          <p:cNvSpPr txBox="1"/>
          <p:nvPr/>
        </p:nvSpPr>
        <p:spPr>
          <a:xfrm>
            <a:off x="269875" y="3741400"/>
            <a:ext cx="30000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https://www.linkedin.com/in/ainataylor/</a:t>
            </a:r>
            <a:r>
              <a:rPr lang="es" sz="11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https://ainalluna.substack.com/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https://ainalluna.com/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67" name="Google Shape;67;p24"/>
          <p:cNvSpPr txBox="1"/>
          <p:nvPr/>
        </p:nvSpPr>
        <p:spPr>
          <a:xfrm>
            <a:off x="269875" y="664500"/>
            <a:ext cx="60879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2808">
                <a:solidFill>
                  <a:schemeClr val="dk1"/>
                </a:solidFill>
              </a:rPr>
              <a:t>Aina-Lluna Taylor Barceló </a:t>
            </a:r>
            <a:endParaRPr sz="2908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563" y="219850"/>
            <a:ext cx="2714625" cy="381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" name="Google Shape;7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7402" y="0"/>
            <a:ext cx="511372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5"/>
          <p:cNvSpPr txBox="1"/>
          <p:nvPr/>
        </p:nvSpPr>
        <p:spPr>
          <a:xfrm>
            <a:off x="269878" y="552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TikTok</a:t>
            </a:r>
            <a:endParaRPr b="1" sz="560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35K</a:t>
            </a:r>
            <a:endParaRPr b="1" sz="560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25"/>
          <p:cNvSpPr txBox="1"/>
          <p:nvPr/>
        </p:nvSpPr>
        <p:spPr>
          <a:xfrm>
            <a:off x="270000" y="2395100"/>
            <a:ext cx="37509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Cuentas virales en redes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sociales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7DC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/>
          <p:nvPr/>
        </p:nvSpPr>
        <p:spPr>
          <a:xfrm>
            <a:off x="269878" y="552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b="1" lang="es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nálisis de </a:t>
            </a:r>
            <a:endParaRPr b="1" sz="560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entidades SEO</a:t>
            </a:r>
            <a:endParaRPr b="1" sz="560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60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26"/>
          <p:cNvSpPr txBox="1"/>
          <p:nvPr/>
        </p:nvSpPr>
        <p:spPr>
          <a:xfrm>
            <a:off x="270000" y="2395100"/>
            <a:ext cx="56439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Detector de oportunidades de posicionamiento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</p:txBody>
      </p:sp>
      <p:pic>
        <p:nvPicPr>
          <p:cNvPr id="82" name="Google Shape;8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000" y="3067077"/>
            <a:ext cx="3452798" cy="1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7DC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7" title="analisis_de_oportunidad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8725" y="0"/>
            <a:ext cx="46752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7"/>
          <p:cNvSpPr txBox="1"/>
          <p:nvPr/>
        </p:nvSpPr>
        <p:spPr>
          <a:xfrm>
            <a:off x="269878" y="552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Radar de </a:t>
            </a:r>
            <a:endParaRPr b="1" sz="560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ideas</a:t>
            </a:r>
            <a:endParaRPr b="1" sz="560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27"/>
          <p:cNvSpPr txBox="1"/>
          <p:nvPr/>
        </p:nvSpPr>
        <p:spPr>
          <a:xfrm>
            <a:off x="270000" y="2395100"/>
            <a:ext cx="48255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Análisis de oportunidades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8"/>
          <p:cNvSpPr txBox="1"/>
          <p:nvPr/>
        </p:nvSpPr>
        <p:spPr>
          <a:xfrm>
            <a:off x="238125" y="775150"/>
            <a:ext cx="500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Pipo, SEO y Radar de ideas</a:t>
            </a:r>
            <a:endParaRPr/>
          </a:p>
        </p:txBody>
      </p:sp>
      <p:sp>
        <p:nvSpPr>
          <p:cNvPr id="95" name="Google Shape;95;p28"/>
          <p:cNvSpPr txBox="1"/>
          <p:nvPr/>
        </p:nvSpPr>
        <p:spPr>
          <a:xfrm>
            <a:off x="297000" y="1519650"/>
            <a:ext cx="8550000" cy="22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6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¿Qué tiene que ver un náufrago y el SEO?</a:t>
            </a:r>
            <a:endParaRPr b="1" sz="6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9" title="fondador_v5-ezgif.com-video-to-gif-converter.gif"/>
          <p:cNvPicPr preferRelativeResize="0"/>
          <p:nvPr/>
        </p:nvPicPr>
        <p:blipFill>
          <a:blip r:embed="rId3">
            <a:alphaModFix amt="41000"/>
          </a:blip>
          <a:stretch>
            <a:fillRect/>
          </a:stretch>
        </p:blipFill>
        <p:spPr>
          <a:xfrm>
            <a:off x="-14687" y="0"/>
            <a:ext cx="91733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9"/>
          <p:cNvSpPr txBox="1"/>
          <p:nvPr/>
        </p:nvSpPr>
        <p:spPr>
          <a:xfrm>
            <a:off x="255313" y="704700"/>
            <a:ext cx="43431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chemeClr val="dk1"/>
                </a:solidFill>
              </a:rPr>
              <a:t>Tres </a:t>
            </a:r>
            <a:r>
              <a:rPr b="1" lang="es" sz="1700">
                <a:solidFill>
                  <a:schemeClr val="dk1"/>
                </a:solidFill>
              </a:rPr>
              <a:t>proyectos diferentes.</a:t>
            </a:r>
            <a:endParaRPr b="1" sz="1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chemeClr val="dk1"/>
                </a:solidFill>
              </a:rPr>
              <a:t>Una misma forma de trabajar: convertir conocimiento y procesos en capacidades que la IA puede ejecutar.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</a:rPr>
              <a:t>Vamos a aprender a</a:t>
            </a:r>
            <a:r>
              <a:rPr lang="es" sz="2400">
                <a:solidFill>
                  <a:schemeClr val="lt1"/>
                </a:solidFill>
              </a:rPr>
              <a:t> </a:t>
            </a:r>
            <a:r>
              <a:rPr lang="es" sz="2400">
                <a:solidFill>
                  <a:schemeClr val="lt1"/>
                </a:solidFill>
                <a:highlight>
                  <a:srgbClr val="FD6534"/>
                </a:highlight>
              </a:rPr>
              <a:t>diseñar procesos</a:t>
            </a:r>
            <a:r>
              <a:rPr lang="es" sz="2400">
                <a:solidFill>
                  <a:schemeClr val="dk1"/>
                </a:solidFill>
              </a:rPr>
              <a:t> donde la </a:t>
            </a:r>
            <a:r>
              <a:rPr lang="es" sz="2400">
                <a:solidFill>
                  <a:schemeClr val="dk1"/>
                </a:solidFill>
              </a:rPr>
              <a:t>IA trabaja </a:t>
            </a:r>
            <a:r>
              <a:rPr lang="es" sz="2400">
                <a:solidFill>
                  <a:schemeClr val="lt1"/>
                </a:solidFill>
                <a:highlight>
                  <a:srgbClr val="FD6534"/>
                </a:highlight>
              </a:rPr>
              <a:t>con Agentes y </a:t>
            </a:r>
            <a:r>
              <a:rPr b="1" lang="es" sz="2800">
                <a:solidFill>
                  <a:schemeClr val="lt1"/>
                </a:solidFill>
                <a:highlight>
                  <a:srgbClr val="FD6534"/>
                </a:highlight>
              </a:rPr>
              <a:t>Skills</a:t>
            </a:r>
            <a:r>
              <a:rPr lang="es" sz="2400">
                <a:solidFill>
                  <a:schemeClr val="lt1"/>
                </a:solidFill>
                <a:highlight>
                  <a:srgbClr val="FD6534"/>
                </a:highlight>
              </a:rPr>
              <a:t>.</a:t>
            </a:r>
            <a:endParaRPr sz="2400">
              <a:solidFill>
                <a:schemeClr val="lt1"/>
              </a:solidFill>
              <a:highlight>
                <a:srgbClr val="FD6534"/>
              </a:highlight>
            </a:endParaRPr>
          </a:p>
        </p:txBody>
      </p:sp>
      <p:sp>
        <p:nvSpPr>
          <p:cNvPr id="102" name="Google Shape;102;p29"/>
          <p:cNvSpPr txBox="1"/>
          <p:nvPr/>
        </p:nvSpPr>
        <p:spPr>
          <a:xfrm>
            <a:off x="6566250" y="4365400"/>
            <a:ext cx="2347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Escena película: </a:t>
            </a:r>
            <a:r>
              <a:rPr b="1" lang="es" sz="130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El fundador </a:t>
            </a:r>
            <a:r>
              <a:rPr lang="es" sz="900">
                <a:solidFill>
                  <a:schemeClr val="dk1"/>
                </a:solidFill>
              </a:rPr>
              <a:t> 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30"/>
          <p:cNvGrpSpPr/>
          <p:nvPr/>
        </p:nvGrpSpPr>
        <p:grpSpPr>
          <a:xfrm>
            <a:off x="278975" y="1413029"/>
            <a:ext cx="8541005" cy="2317443"/>
            <a:chOff x="113223" y="2691"/>
            <a:chExt cx="8541005" cy="2317443"/>
          </a:xfrm>
        </p:grpSpPr>
        <p:sp>
          <p:nvSpPr>
            <p:cNvPr id="108" name="Google Shape;108;p30"/>
            <p:cNvSpPr txBox="1"/>
            <p:nvPr/>
          </p:nvSpPr>
          <p:spPr>
            <a:xfrm>
              <a:off x="113227" y="2691"/>
              <a:ext cx="8541000" cy="7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" sz="58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De chat a </a:t>
              </a:r>
              <a:r>
                <a:rPr b="1" lang="es" sz="5800">
                  <a:solidFill>
                    <a:schemeClr val="lt1"/>
                  </a:solidFill>
                  <a:highlight>
                    <a:srgbClr val="FD6534"/>
                  </a:highlight>
                  <a:latin typeface="Inter"/>
                  <a:ea typeface="Inter"/>
                  <a:cs typeface="Inter"/>
                  <a:sym typeface="Inter"/>
                </a:rPr>
                <a:t>sistemas</a:t>
              </a:r>
              <a:r>
                <a:rPr b="1" lang="es" sz="58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endParaRPr b="1" i="0" sz="58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9" name="Google Shape;109;p30"/>
            <p:cNvSpPr txBox="1"/>
            <p:nvPr/>
          </p:nvSpPr>
          <p:spPr>
            <a:xfrm>
              <a:off x="113223" y="977034"/>
              <a:ext cx="8541000" cy="13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s" sz="3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Las skills convierten la </a:t>
              </a:r>
              <a:r>
                <a:rPr b="1" lang="es" sz="3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IA</a:t>
              </a:r>
              <a:r>
                <a:rPr lang="es" sz="3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en tu equipo de marketing</a:t>
              </a:r>
              <a:endParaRPr sz="12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7D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1"/>
          <p:cNvSpPr txBox="1"/>
          <p:nvPr/>
        </p:nvSpPr>
        <p:spPr>
          <a:xfrm>
            <a:off x="257050" y="361975"/>
            <a:ext cx="85629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s" sz="57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El método Think&amp;Hack</a:t>
            </a:r>
            <a:endParaRPr b="1" sz="570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5" name="Google Shape;115;p31" title="Imagen de ChatGPT 26 sept 2026, 16_33_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600" y="1344560"/>
            <a:ext cx="7208801" cy="3161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2"/>
          <p:cNvSpPr txBox="1"/>
          <p:nvPr/>
        </p:nvSpPr>
        <p:spPr>
          <a:xfrm>
            <a:off x="270000" y="833796"/>
            <a:ext cx="85500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s" sz="2300">
                <a:solidFill>
                  <a:schemeClr val="dk1"/>
                </a:solidFill>
              </a:rPr>
              <a:t>Crear contenido para Think&amp;Hack a partir de oportunidades reales</a:t>
            </a:r>
            <a:endParaRPr b="1" sz="3000">
              <a:solidFill>
                <a:schemeClr val="dk1"/>
              </a:solidFill>
            </a:endParaRPr>
          </a:p>
        </p:txBody>
      </p:sp>
      <p:graphicFrame>
        <p:nvGraphicFramePr>
          <p:cNvPr id="121" name="Google Shape;121;p32"/>
          <p:cNvGraphicFramePr/>
          <p:nvPr/>
        </p:nvGraphicFramePr>
        <p:xfrm>
          <a:off x="270000" y="37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{62EE3193-8D45-4A5B-88C0-FDBB99C5EF04}</a:tableStyleId>
              </a:tblPr>
              <a:tblGrid>
                <a:gridCol w="8550000"/>
              </a:tblGrid>
              <a:tr h="444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D653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01. </a:t>
                      </a:r>
                      <a:r>
                        <a:rPr lang="es">
                          <a:solidFill>
                            <a:srgbClr val="FD653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Definir</a:t>
                      </a:r>
                      <a:r>
                        <a:rPr lang="es">
                          <a:solidFill>
                            <a:srgbClr val="FD653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el objetivo</a:t>
                      </a:r>
                      <a:endParaRPr>
                        <a:solidFill>
                          <a:srgbClr val="FD653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1F293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F293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F293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" name="Google Shape;122;p32"/>
          <p:cNvSpPr txBox="1"/>
          <p:nvPr/>
        </p:nvSpPr>
        <p:spPr>
          <a:xfrm>
            <a:off x="269875" y="1739025"/>
            <a:ext cx="43290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Revisar lo publicado.</a:t>
            </a:r>
            <a:r>
              <a:rPr lang="es" sz="1100">
                <a:solidFill>
                  <a:schemeClr val="dk1"/>
                </a:solidFill>
              </a:rPr>
              <a:t> Saber qué temas hemos tratado y desde qué perspectiva.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Encontrar oportunidades</a:t>
            </a:r>
            <a:r>
              <a:rPr lang="es" sz="1100">
                <a:solidFill>
                  <a:schemeClr val="dk1"/>
                </a:solidFill>
              </a:rPr>
              <a:t>. Identificar temas relevantes que todavía no hemos desarrollado.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Investigar y desarrollar.</a:t>
            </a:r>
            <a:r>
              <a:rPr lang="es" sz="1100">
                <a:solidFill>
                  <a:schemeClr val="dk1"/>
                </a:solidFill>
              </a:rPr>
              <a:t> Contrastar fuentes y construir un contenido principal con argumentos sólidos.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Adaptar el contenido.</a:t>
            </a:r>
            <a:r>
              <a:rPr lang="es" sz="1100">
                <a:solidFill>
                  <a:schemeClr val="dk1"/>
                </a:solidFill>
              </a:rPr>
              <a:t> Preparar las piezas necesarias para cada canal.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</a:rPr>
              <a:t>Aprovechar lo aprendido.</a:t>
            </a:r>
            <a:r>
              <a:rPr lang="es" sz="1100">
                <a:solidFill>
                  <a:schemeClr val="dk1"/>
                </a:solidFill>
              </a:rPr>
              <a:t> Incorporar los nuevos contenidos y las correcciones para utilizarlos la próxima vez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" name="Google Shape;127;p33"/>
          <p:cNvGraphicFramePr/>
          <p:nvPr/>
        </p:nvGraphicFramePr>
        <p:xfrm>
          <a:off x="270000" y="37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{62EE3193-8D45-4A5B-88C0-FDBB99C5EF04}</a:tableStyleId>
              </a:tblPr>
              <a:tblGrid>
                <a:gridCol w="2855400"/>
              </a:tblGrid>
              <a:tr h="444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D653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02. </a:t>
                      </a:r>
                      <a:r>
                        <a:rPr lang="es">
                          <a:solidFill>
                            <a:srgbClr val="FD653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Definir el proceso</a:t>
                      </a:r>
                      <a:endParaRPr>
                        <a:solidFill>
                          <a:srgbClr val="FD653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1F293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F293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F293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29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8" name="Google Shape;12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8523" y="3"/>
            <a:ext cx="4865476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33"/>
          <p:cNvGrpSpPr/>
          <p:nvPr/>
        </p:nvGrpSpPr>
        <p:grpSpPr>
          <a:xfrm>
            <a:off x="3524250" y="171450"/>
            <a:ext cx="1000200" cy="4543575"/>
            <a:chOff x="3524250" y="171450"/>
            <a:chExt cx="1000200" cy="4543575"/>
          </a:xfrm>
        </p:grpSpPr>
        <p:sp>
          <p:nvSpPr>
            <p:cNvPr id="130" name="Google Shape;130;p33"/>
            <p:cNvSpPr/>
            <p:nvPr/>
          </p:nvSpPr>
          <p:spPr>
            <a:xfrm>
              <a:off x="3524250" y="238125"/>
              <a:ext cx="1000200" cy="4476900"/>
            </a:xfrm>
            <a:custGeom>
              <a:rect b="b" l="l" r="r" t="t"/>
              <a:pathLst>
                <a:path extrusionOk="0" h="120000" w="120000">
                  <a:moveTo>
                    <a:pt x="120000" y="120000"/>
                  </a:moveTo>
                  <a:cubicBezTo>
                    <a:pt x="0" y="120000"/>
                    <a:pt x="0" y="0"/>
                    <a:pt x="114286" y="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rnd" cmpd="sng" w="38100">
              <a:solidFill>
                <a:srgbClr val="FD65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3"/>
            <p:cNvSpPr/>
            <p:nvPr/>
          </p:nvSpPr>
          <p:spPr>
            <a:xfrm>
              <a:off x="4381500" y="171450"/>
              <a:ext cx="142800" cy="133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D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33"/>
          <p:cNvSpPr/>
          <p:nvPr/>
        </p:nvSpPr>
        <p:spPr>
          <a:xfrm>
            <a:off x="4441545" y="4639622"/>
            <a:ext cx="142800" cy="13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D653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3"/>
          <p:cNvSpPr txBox="1"/>
          <p:nvPr/>
        </p:nvSpPr>
        <p:spPr>
          <a:xfrm>
            <a:off x="1905000" y="4781550"/>
            <a:ext cx="1428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Octubre 2026</a:t>
            </a:r>
            <a:endParaRPr sz="9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p33"/>
          <p:cNvSpPr txBox="1"/>
          <p:nvPr/>
        </p:nvSpPr>
        <p:spPr>
          <a:xfrm>
            <a:off x="157200" y="1256050"/>
            <a:ext cx="3522600" cy="28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s" sz="800">
                <a:solidFill>
                  <a:schemeClr val="dk1"/>
                </a:solidFill>
              </a:rPr>
              <a:t>Script para lo repetible, modelo para el juicio.</a:t>
            </a:r>
            <a:r>
              <a:rPr lang="es" sz="800">
                <a:solidFill>
                  <a:schemeClr val="dk1"/>
                </a:solidFill>
              </a:rPr>
              <a:t> Descargar, limpiar, calcular métricas, buscar coincidencias y generar índices son operaciones deterministas: las hace Python sin IA. El modelo solo interpreta: resume, clasifica, compara y argumenta.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s" sz="800">
                <a:solidFill>
                  <a:schemeClr val="dk1"/>
                </a:solidFill>
              </a:rPr>
              <a:t>Fichas con esquema fijo.</a:t>
            </a:r>
            <a:r>
              <a:rPr lang="es" sz="800">
                <a:solidFill>
                  <a:schemeClr val="dk1"/>
                </a:solidFill>
              </a:rPr>
              <a:t> Todo lo que analiza el modelo se guarda como ficha JSON con campos definidos. La salida es siempre comparable y no hay que volver a leer el original.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s" sz="800">
                <a:solidFill>
                  <a:schemeClr val="dk1"/>
                </a:solidFill>
              </a:rPr>
              <a:t>Caché por huella.</a:t>
            </a:r>
            <a:r>
              <a:rPr lang="es" sz="800">
                <a:solidFill>
                  <a:schemeClr val="dk1"/>
                </a:solidFill>
              </a:rPr>
              <a:t> Cada pieza se identifica por su ID y la huella de su contenido. Solo se vuelve a analizar lo nuevo o lo que ha cambiado.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s" sz="800">
                <a:solidFill>
                  <a:schemeClr val="dk1"/>
                </a:solidFill>
              </a:rPr>
              <a:t>Un error nunca destruye datos válidos</a:t>
            </a:r>
            <a:r>
              <a:rPr lang="es" sz="800">
                <a:solidFill>
                  <a:schemeClr val="dk1"/>
                </a:solidFill>
              </a:rPr>
              <a:t> ni se presenta como "sin novedades".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s" sz="800">
                <a:solidFill>
                  <a:schemeClr val="dk1"/>
                </a:solidFill>
              </a:rPr>
              <a:t>La persona decide.</a:t>
            </a:r>
            <a:r>
              <a:rPr lang="es" sz="800">
                <a:solidFill>
                  <a:schemeClr val="dk1"/>
                </a:solidFill>
              </a:rPr>
              <a:t> El sistema propone y justifica. Elegir oportunidad, aprobar la investigación y aprobar el texto son decisiones humanas.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s" sz="800">
                <a:solidFill>
                  <a:schemeClr val="dk1"/>
                </a:solidFill>
              </a:rPr>
              <a:t>Escalar es añadir, no modificar.</a:t>
            </a:r>
            <a:r>
              <a:rPr lang="es" sz="800">
                <a:solidFill>
                  <a:schemeClr val="dk1"/>
                </a:solidFill>
              </a:rPr>
              <a:t> Una fuente nueva o un paso nuevo es una carpeta y una skill nuevas que respetan los contratos de este documento.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4"/>
          <p:cNvSpPr txBox="1"/>
          <p:nvPr/>
        </p:nvSpPr>
        <p:spPr>
          <a:xfrm>
            <a:off x="170175" y="1232925"/>
            <a:ext cx="45276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500">
                <a:solidFill>
                  <a:srgbClr val="1F2937"/>
                </a:solidFill>
              </a:rPr>
              <a:t>Convierte tu contenido en un mapa de entidades, ve los huecos de demanda y te da el plan editorial.</a:t>
            </a:r>
            <a:endParaRPr b="1" sz="2500">
              <a:solidFill>
                <a:srgbClr val="1F293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34"/>
          <p:cNvSpPr txBox="1"/>
          <p:nvPr/>
        </p:nvSpPr>
        <p:spPr>
          <a:xfrm>
            <a:off x="124725" y="224150"/>
            <a:ext cx="47607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s" sz="57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El proceso</a:t>
            </a:r>
            <a:endParaRPr sz="5800"/>
          </a:p>
        </p:txBody>
      </p:sp>
      <p:pic>
        <p:nvPicPr>
          <p:cNvPr id="141" name="Google Shape;141;p34"/>
          <p:cNvPicPr preferRelativeResize="0"/>
          <p:nvPr/>
        </p:nvPicPr>
        <p:blipFill rotWithShape="1">
          <a:blip r:embed="rId3">
            <a:alphaModFix/>
          </a:blip>
          <a:srcRect b="5114" l="0" r="0" t="0"/>
          <a:stretch/>
        </p:blipFill>
        <p:spPr>
          <a:xfrm>
            <a:off x="5963100" y="590425"/>
            <a:ext cx="2562225" cy="310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5"/>
          <p:cNvSpPr txBox="1"/>
          <p:nvPr>
            <p:ph type="title"/>
          </p:nvPr>
        </p:nvSpPr>
        <p:spPr>
          <a:xfrm>
            <a:off x="270000" y="338000"/>
            <a:ext cx="85500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SKILLS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FE4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6"/>
          <p:cNvSpPr txBox="1"/>
          <p:nvPr>
            <p:ph type="title"/>
          </p:nvPr>
        </p:nvSpPr>
        <p:spPr>
          <a:xfrm>
            <a:off x="147103" y="338000"/>
            <a:ext cx="8578500" cy="9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Skill</a:t>
            </a:r>
            <a:endParaRPr/>
          </a:p>
        </p:txBody>
      </p:sp>
      <p:sp>
        <p:nvSpPr>
          <p:cNvPr id="152" name="Google Shape;152;p36"/>
          <p:cNvSpPr/>
          <p:nvPr/>
        </p:nvSpPr>
        <p:spPr>
          <a:xfrm>
            <a:off x="190975" y="1850174"/>
            <a:ext cx="7159500" cy="15888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txBody>
          <a:bodyPr anchorCtr="0" anchor="ctr" bIns="95800" lIns="95800" spcFirstLastPara="1" rIns="95800" wrap="square" tIns="95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67"/>
          </a:p>
        </p:txBody>
      </p:sp>
      <p:pic>
        <p:nvPicPr>
          <p:cNvPr id="153" name="Google Shape;153;p36" title="ChatGPT Image 6 may 2026, 14_49_50.png"/>
          <p:cNvPicPr preferRelativeResize="0"/>
          <p:nvPr/>
        </p:nvPicPr>
        <p:blipFill rotWithShape="1">
          <a:blip r:embed="rId3">
            <a:alphaModFix/>
          </a:blip>
          <a:srcRect b="41989" l="2623" r="27241" t="0"/>
          <a:stretch/>
        </p:blipFill>
        <p:spPr>
          <a:xfrm>
            <a:off x="3475075" y="1360763"/>
            <a:ext cx="5515698" cy="256762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6"/>
          <p:cNvSpPr txBox="1"/>
          <p:nvPr/>
        </p:nvSpPr>
        <p:spPr>
          <a:xfrm>
            <a:off x="190975" y="1571250"/>
            <a:ext cx="32841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C9401E"/>
                </a:solidFill>
              </a:rPr>
              <a:t>¿Qué es una skill?</a:t>
            </a:r>
            <a:endParaRPr b="1" sz="1700">
              <a:solidFill>
                <a:srgbClr val="C9401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C9401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Una skill es un conjunto de instrucciones que la IA carga cuando necesita hacer una tarea concreta.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/>
              <a:t>Es conocimiento empaquetado.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9F4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7"/>
          <p:cNvSpPr txBox="1"/>
          <p:nvPr/>
        </p:nvSpPr>
        <p:spPr>
          <a:xfrm>
            <a:off x="131146" y="1574100"/>
            <a:ext cx="3531000" cy="19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100">
                <a:solidFill>
                  <a:schemeClr val="lt1"/>
                </a:solidFill>
                <a:highlight>
                  <a:srgbClr val="FD6534"/>
                </a:highlight>
                <a:latin typeface="Inter"/>
                <a:ea typeface="Inter"/>
                <a:cs typeface="Inter"/>
                <a:sym typeface="Inter"/>
              </a:rPr>
              <a:t>//</a:t>
            </a:r>
            <a:r>
              <a:rPr b="1" lang="es" sz="4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4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SKILLS </a:t>
            </a:r>
            <a:endParaRPr b="1" sz="4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100">
                <a:solidFill>
                  <a:schemeClr val="lt1"/>
                </a:solidFill>
                <a:highlight>
                  <a:srgbClr val="FD6534"/>
                </a:highlight>
                <a:latin typeface="Inter"/>
                <a:ea typeface="Inter"/>
                <a:cs typeface="Inter"/>
                <a:sym typeface="Inter"/>
              </a:rPr>
              <a:t>//</a:t>
            </a:r>
            <a:r>
              <a:rPr b="1" lang="es" sz="4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AGENTES    </a:t>
            </a:r>
            <a:endParaRPr b="1" sz="4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100">
                <a:solidFill>
                  <a:schemeClr val="lt1"/>
                </a:solidFill>
                <a:highlight>
                  <a:srgbClr val="FD6534"/>
                </a:highlight>
                <a:latin typeface="Inter"/>
                <a:ea typeface="Inter"/>
                <a:cs typeface="Inter"/>
                <a:sym typeface="Inter"/>
              </a:rPr>
              <a:t>//</a:t>
            </a:r>
            <a:r>
              <a:rPr b="1" lang="es" sz="4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4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SCRIPTS</a:t>
            </a:r>
            <a:endParaRPr b="1" sz="4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1" sz="570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0" name="Google Shape;160;p37" title="ChatGPT Image 12 jun 2026, 12_51_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2825" y="762875"/>
            <a:ext cx="6041249" cy="402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8"/>
          <p:cNvSpPr txBox="1"/>
          <p:nvPr>
            <p:ph type="title"/>
          </p:nvPr>
        </p:nvSpPr>
        <p:spPr>
          <a:xfrm>
            <a:off x="270000" y="338000"/>
            <a:ext cx="85500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AGENTES</a:t>
            </a:r>
            <a:endParaRPr/>
          </a:p>
        </p:txBody>
      </p:sp>
      <p:sp>
        <p:nvSpPr>
          <p:cNvPr id="166" name="Google Shape;166;p38"/>
          <p:cNvSpPr txBox="1"/>
          <p:nvPr/>
        </p:nvSpPr>
        <p:spPr>
          <a:xfrm>
            <a:off x="610250" y="1692700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IA agente </a:t>
            </a:r>
            <a:r>
              <a:rPr b="1" lang="es" sz="1100">
                <a:solidFill>
                  <a:schemeClr val="dk1"/>
                </a:solidFill>
              </a:rPr>
              <a:t>no crea valor solo por “pensar”</a:t>
            </a:r>
            <a:r>
              <a:rPr lang="es" sz="1100">
                <a:solidFill>
                  <a:schemeClr val="dk1"/>
                </a:solidFill>
              </a:rPr>
              <a:t>: necesita un conjunto de capacidades especializadas que convierten intención en ejecución.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9"/>
          <p:cNvSpPr txBox="1"/>
          <p:nvPr>
            <p:ph type="title"/>
          </p:nvPr>
        </p:nvSpPr>
        <p:spPr>
          <a:xfrm>
            <a:off x="147103" y="338000"/>
            <a:ext cx="8578500" cy="9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</a:t>
            </a:r>
            <a:r>
              <a:rPr lang="es"/>
              <a:t>gente</a:t>
            </a:r>
            <a:endParaRPr/>
          </a:p>
        </p:txBody>
      </p:sp>
      <p:sp>
        <p:nvSpPr>
          <p:cNvPr id="172" name="Google Shape;172;p39"/>
          <p:cNvSpPr txBox="1"/>
          <p:nvPr/>
        </p:nvSpPr>
        <p:spPr>
          <a:xfrm>
            <a:off x="190975" y="1571250"/>
            <a:ext cx="3868800" cy="28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C9401E"/>
                </a:solidFill>
              </a:rPr>
              <a:t>¿Qué es un agente?</a:t>
            </a:r>
            <a:endParaRPr b="1" sz="1700">
              <a:solidFill>
                <a:srgbClr val="C9401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C9401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agente es una IA configurada para ejecutar una fase concreta del proceso.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Recibe un objetivo, lee el contexto necesario, usa herramientas si hacen falta, aplica criterio dentro de límites y entrega una salida definida.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39" title="ChatGPT Image 12 jun 2026, 11_51_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7875" y="1011250"/>
            <a:ext cx="5007602" cy="333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/>
          <p:nvPr>
            <p:ph type="title"/>
          </p:nvPr>
        </p:nvSpPr>
        <p:spPr>
          <a:xfrm>
            <a:off x="270000" y="338000"/>
            <a:ext cx="85500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RESULTADO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1"/>
          <p:cNvSpPr txBox="1"/>
          <p:nvPr>
            <p:ph idx="2" type="subTitle"/>
          </p:nvPr>
        </p:nvSpPr>
        <p:spPr>
          <a:xfrm>
            <a:off x="-46228" y="2151802"/>
            <a:ext cx="8291400" cy="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</p:txBody>
      </p:sp>
      <p:sp>
        <p:nvSpPr>
          <p:cNvPr id="184" name="Google Shape;184;p41"/>
          <p:cNvSpPr txBox="1"/>
          <p:nvPr>
            <p:ph type="title"/>
          </p:nvPr>
        </p:nvSpPr>
        <p:spPr>
          <a:xfrm>
            <a:off x="141308" y="525575"/>
            <a:ext cx="8884200" cy="11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5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RECURSOS Y REFERENCIAS</a:t>
            </a:r>
            <a:endParaRPr b="1" sz="5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60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41"/>
          <p:cNvSpPr txBox="1"/>
          <p:nvPr/>
        </p:nvSpPr>
        <p:spPr>
          <a:xfrm>
            <a:off x="270000" y="2604650"/>
            <a:ext cx="30054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 u="sng">
                <a:solidFill>
                  <a:schemeClr val="hlink"/>
                </a:solidFill>
                <a:hlinkClick r:id="rId3"/>
              </a:rPr>
              <a:t>Pipo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 u="sng">
                <a:solidFill>
                  <a:schemeClr val="hlink"/>
                </a:solidFill>
                <a:hlinkClick r:id="rId4"/>
              </a:rPr>
              <a:t>Análisis de entidades SEO</a:t>
            </a:r>
            <a:endParaRPr sz="1100" u="sng">
              <a:solidFill>
                <a:srgbClr val="1155CC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 u="sng">
                <a:solidFill>
                  <a:schemeClr val="hlink"/>
                </a:solidFill>
                <a:hlinkClick r:id="rId5"/>
              </a:rPr>
              <a:t>Radar de ideas Think&amp;Hack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2"/>
          <p:cNvSpPr txBox="1"/>
          <p:nvPr/>
        </p:nvSpPr>
        <p:spPr>
          <a:xfrm>
            <a:off x="248700" y="1554600"/>
            <a:ext cx="8646600" cy="20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58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Tools are great.</a:t>
            </a:r>
            <a:endParaRPr b="1" sz="580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58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s" sz="5800">
                <a:solidFill>
                  <a:schemeClr val="lt1"/>
                </a:solidFill>
                <a:highlight>
                  <a:srgbClr val="FD6534"/>
                </a:highlight>
                <a:latin typeface="Inter"/>
                <a:ea typeface="Inter"/>
                <a:cs typeface="Inter"/>
                <a:sym typeface="Inter"/>
              </a:rPr>
              <a:t>Systems</a:t>
            </a:r>
            <a:r>
              <a:rPr b="1" lang="es" sz="58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are better.</a:t>
            </a:r>
            <a:endParaRPr b="1" sz="580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3"/>
          <p:cNvSpPr txBox="1"/>
          <p:nvPr/>
        </p:nvSpPr>
        <p:spPr>
          <a:xfrm flipH="1">
            <a:off x="297000" y="406075"/>
            <a:ext cx="8550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s" sz="46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¿</a:t>
            </a:r>
            <a:r>
              <a:rPr b="1" lang="es" sz="4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PREGUNTAS</a:t>
            </a:r>
            <a:r>
              <a:rPr b="1" i="0" lang="es" sz="440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 b="1" i="0" sz="4400" u="none" cap="none" strike="noStrike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43"/>
          <p:cNvSpPr txBox="1"/>
          <p:nvPr/>
        </p:nvSpPr>
        <p:spPr>
          <a:xfrm>
            <a:off x="0" y="1174825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sistema listo para descargar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3"/>
          <p:cNvSpPr txBox="1"/>
          <p:nvPr/>
        </p:nvSpPr>
        <p:spPr>
          <a:xfrm>
            <a:off x="3072000" y="3830750"/>
            <a:ext cx="30000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https://www.linkedin.com/in/ainataylor/</a:t>
            </a:r>
            <a:r>
              <a:rPr lang="es" sz="11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https://ainalluna.substack.com/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chemeClr val="dk1"/>
                </a:solidFill>
              </a:rPr>
              <a:t> </a:t>
            </a:r>
            <a:r>
              <a:rPr lang="es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https://ainalluna.com/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4"/>
          <p:cNvSpPr txBox="1"/>
          <p:nvPr/>
        </p:nvSpPr>
        <p:spPr>
          <a:xfrm flipH="1">
            <a:off x="0" y="2125350"/>
            <a:ext cx="9144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lang="es" sz="4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¡GRACIAS!</a:t>
            </a:r>
            <a:endParaRPr b="1" i="0" sz="4400" u="none" cap="none" strike="noStrike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44"/>
          <p:cNvSpPr txBox="1"/>
          <p:nvPr/>
        </p:nvSpPr>
        <p:spPr>
          <a:xfrm>
            <a:off x="3072000" y="3577275"/>
            <a:ext cx="30000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https://www.linkedin.com/in/ainataylor/</a:t>
            </a:r>
            <a:r>
              <a:rPr lang="es" sz="11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https://ainalluna.substack.com/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chemeClr val="dk1"/>
                </a:solidFill>
              </a:rPr>
              <a:t> </a:t>
            </a:r>
            <a:r>
              <a:rPr lang="es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https://ainalluna.com/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204" name="Google Shape;204;p44" title="thinkhack_logo_alta-removebg-preview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9200" y="4699575"/>
            <a:ext cx="265500" cy="26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44" title="thinkhack_logo_alta-removebg-preview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11925" y="583775"/>
            <a:ext cx="1320150" cy="132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