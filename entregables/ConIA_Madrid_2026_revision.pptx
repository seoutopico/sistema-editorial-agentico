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79" r:id="rId12"/>
    <p:sldId id="280" r:id="rId13"/>
    <p:sldId id="281" r:id="rId14"/>
    <p:sldId id="282" r:id="rId15"/>
    <p:sldId id="283" r:id="rId16"/>
    <p:sldId id="284" r:id="rId17"/>
    <p:sldId id="285" r:id="rId18"/>
    <p:sldId id="286" r:id="rId19"/>
    <p:sldId id="287" r:id="rId20"/>
    <p:sldId id="288" r:id="rId21"/>
    <p:sldId id="289"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 id="302" r:id="rId35"/>
    <p:sldId id="303" r:id="rId36"/>
  </p:sldIdLst>
  <p:sldSz cx="9144000" cy="5143500" type="screen16x9"/>
  <p:notesSz cx="6858000" cy="9144000"/>
  <p:embeddedFontLst>
    <p:embeddedFont>
      <p:font typeface="Consolas" panose="020B0609020204030204" pitchFamily="49" charset="0"/>
      <p:regular r:id="rId38"/>
      <p:bold r:id="rId39"/>
      <p:italic r:id="rId40"/>
      <p:boldItalic r:id="rId41"/>
    </p:embeddedFont>
    <p:embeddedFont>
      <p:font typeface="Inter" panose="02000503000000020004" pitchFamily="2" charset="0"/>
      <p:regular r:id="rId42"/>
      <p:bold r:id="rId43"/>
      <p:italic r:id="rId44"/>
      <p:boldItalic r:id="rId45"/>
    </p:embeddedFont>
    <p:embeddedFont>
      <p:font typeface="Roboto" panose="02000000000000000000"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70">
          <p15:clr>
            <a:srgbClr val="747775"/>
          </p15:clr>
        </p15:guide>
        <p15:guide id="2" orient="horz" pos="488">
          <p15:clr>
            <a:srgbClr val="747775"/>
          </p15:clr>
        </p15:guide>
        <p15:guide id="3" pos="4876">
          <p15:clr>
            <a:srgbClr val="747775"/>
          </p15:clr>
        </p15:guide>
        <p15:guide id="5" pos="5556">
          <p15:clr>
            <a:srgbClr val="747775"/>
          </p15:clr>
        </p15:guide>
        <p15:guide id="6" orient="horz" pos="719">
          <p15:clr>
            <a:srgbClr val="747775"/>
          </p15:clr>
        </p15:guide>
        <p15:guide id="7" pos="26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EE3193-8D45-4A5B-88C0-FDBB99C5EF04}">
  <a:tblStyle styleId="{62EE3193-8D45-4A5B-88C0-FDBB99C5EF0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pos="170"/>
        <p:guide orient="horz" pos="488"/>
        <p:guide pos="4876"/>
        <p:guide pos="5556"/>
        <p:guide orient="horz" pos="719"/>
        <p:guide pos="266"/>
      </p:guideLst>
    </p:cSldViewPr>
  </p:slide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 name="Google Shape;5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ea0fbafbb3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ea0fbafbb3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h4d72ddebf5193636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h4d72ddebf5193636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h4d72ddebf5193636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h4d72ddebf5193636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h4d72ddebf5193636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h4d72ddebf5193636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h4d72ddebf5193636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h4d72ddebf5193636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h4d72ddebf5193636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h4d72ddebf5193636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h4d72ddebf5193636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h4d72ddebf5193636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eba2dd9be5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04:30–04:50 | 20 s</a:t>
            </a:r>
          </a:p>
          <a:p>
            <a:pPr marL="0" lvl="0" indent="0" algn="l" rtl="0">
              <a:spcBef>
                <a:spcPts val="0"/>
              </a:spcBef>
              <a:spcAft>
                <a:spcPts val="0"/>
              </a:spcAft>
              <a:buNone/>
            </a:pPr>
            <a:endParaRPr lang="es-ES"/>
          </a:p>
          <a:p>
            <a:pPr marL="0" lvl="0" indent="0" algn="l" rtl="0">
              <a:spcBef>
                <a:spcPts val="0"/>
              </a:spcBef>
              <a:spcAft>
                <a:spcPts val="0"/>
              </a:spcAft>
              <a:buNone/>
            </a:pPr>
            <a:r>
              <a:rPr lang="es-ES"/>
              <a:t>Esta es la forma de trabajar de Think&amp;Hack. Empezamos por lo que queremos conseguir, definimos los pasos y las decisiones y después elegimos las piezas que necesitamos para ejecutarlo y comprobarlo. Vamos a aplicarlo a un caso concreto: el sistema editorial de la newsletter.</a:t>
            </a:r>
            <a:endParaRPr/>
          </a:p>
        </p:txBody>
      </p:sp>
      <p:sp>
        <p:nvSpPr>
          <p:cNvPr id="112" name="Google Shape;112;g3eba2dd9be5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h4d72ddebf5193636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h4d72ddebf5193636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04:50–05:15 | 25 s</a:t>
            </a:r>
          </a:p>
          <a:p>
            <a:pPr marL="0" lvl="0" indent="0" algn="l" rtl="0">
              <a:spcBef>
                <a:spcPts val="0"/>
              </a:spcBef>
              <a:spcAft>
                <a:spcPts val="0"/>
              </a:spcAft>
              <a:buNone/>
            </a:pPr>
            <a:endParaRPr lang="es-ES"/>
          </a:p>
          <a:p>
            <a:pPr marL="0" lvl="0" indent="0" algn="l" rtl="0">
              <a:spcBef>
                <a:spcPts val="0"/>
              </a:spcBef>
              <a:spcAft>
                <a:spcPts val="0"/>
              </a:spcAft>
              <a:buNone/>
            </a:pPr>
            <a:r>
              <a:rPr lang="es-ES"/>
              <a:t>Quiero crear contenido para Think&amp;Hack a partir de oportunidades reales. Para eso necesito conocer lo que ya he publicado, encontrar algo relevante que aportar, investigarlo y adaptarlo a mis canales. Con dos condiciones: que las afirmaciones tengan respaldo y que la siguiente ejecución pueda aprovechar lo publicado y las correcciones que hayamos registrado.</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05:15–06:10 | 55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La IA también puede ayudarnos a diseñar el proceso, pero hay que darle algo más que «créame contenido». Podemos pedirlo así: para cada fase, dime qué información necesita, qué hace, qué entrega y cómo comprobar que está bien. Y señala dónde tengo que decidir yo. Mi trabajo es revisar si ese recorrido tiene sentido: si falta una fuente, una decisión o una revisión, lo corregimos aquí. En nuestro proyecto ese acuerdo queda escrito en ARQUITECTURA.md. Así, los siguientes encargos comparten el mismo plano.</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ARQUITECTURA.md</a:t>
            </a:r>
          </a:p>
          <a:p>
            <a:pPr marL="0" lvl="0" indent="0" algn="l" rtl="0">
              <a:spcBef>
                <a:spcPts val="0"/>
              </a:spcBef>
              <a:spcAft>
                <a:spcPts val="0"/>
              </a:spcAft>
              <a:buNone/>
            </a:pPr>
            <a:r>
              <a:rPr lang="es-ES"/>
              <a:t>prompts/00-crear-estructura.md</a:t>
            </a:r>
          </a:p>
          <a:p>
            <a:pPr marL="0" lvl="0" indent="0" algn="l" rtl="0">
              <a:spcBef>
                <a:spcPts val="0"/>
              </a:spcBef>
              <a:spcAft>
                <a:spcPts val="0"/>
              </a:spcAft>
              <a:buNone/>
            </a:pPr>
            <a:r>
              <a:rPr lang="es-ES"/>
              <a:t>Petición didáctica propuesta; no es una transcripción histórica de la creación del repositorio.</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06:10–06:45 | 35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De ahí sale este recorrido: revisar lo publicado, encontrar oportunidades, investigar y desarrollar, adaptar y guardar lo aprendido. El orden tiene una razón. No podemos decidir qué falta sin saber qué tenemos. No deberíamos adaptar a LinkedIn un contenido cuya investigación todavía no está aprobada. Y si no guardamos lo publicado, la próxima ejecución vuelve a empezar con información vieja. Pero estos cinco nombres todavía no bastan para construir. Vamos a concretar el primero.</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ARQUITECTURA.md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06:45–07:40 | 55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Ahora convertimos una fase en un encargo. ¿Con qué trabaja? Con los artículos completos y los datos que hemos descargado. ¿Qué tiene que decidir? De qué trata cada artículo, desde qué enfoque y qué idea defiende. ¿Qué debe dejar? Una ficha comparable y un mapa de temas. ¿Cómo sabemos si sirve? La ficha debe tener los campos acordados, pero además ser fiel al artículo. Estas cuatro preguntas nos dan las instrucciones que antes estábamos dejando a la improvisación.</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prompts/02-crear-analizar-biblioteca.md</a:t>
            </a:r>
          </a:p>
          <a:p>
            <a:pPr marL="0" lvl="0" indent="0" algn="l" rtl="0">
              <a:spcBef>
                <a:spcPts val="0"/>
              </a:spcBef>
              <a:spcAft>
                <a:spcPts val="0"/>
              </a:spcAft>
              <a:buNone/>
            </a:pPr>
            <a:r>
              <a:rPr lang="es-ES"/>
              <a:t>ARQUITECTURA.md</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07:40–08:15 | 35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Antes de crear la Skill, repartimos el trabajo. Descargar, identificar y detectar cambios tiene reglas que podemos programar. Leer el artículo y decidir su tesis exige interpretación. Por eso el proyecto usa código para conservar y comprobar los datos, y el modelo para los campos editoriales. Esta separación también se la podemos pedir a la IA cuando diseñamos el proceso, y después revisarla. No hace falta saber programar para señalar qué debe ser estable y dónde necesitamos criterio.</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.agents/skills/analizar-biblioteca/SKILL.md</a:t>
            </a:r>
          </a:p>
          <a:p>
            <a:pPr marL="0" lvl="0" indent="0" algn="l" rtl="0">
              <a:spcBef>
                <a:spcPts val="0"/>
              </a:spcBef>
              <a:spcAft>
                <a:spcPts val="0"/>
              </a:spcAft>
              <a:buNone/>
            </a:pPr>
            <a:r>
              <a:rPr lang="es-ES"/>
              <a:t>.agents/skills/analizar-biblioteca/scripts/analizar_biblioteca.py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08:15–08:40 | 25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Ya sabemos cómo queremos hacer el trabajo. Ahora lo conservamos en una Skill: una carpeta con las instrucciones y los recursos de esa tarea. Así podemos volver a usar el método y compartirlo. No hace falta escribirla entera a mano: podemos pedirle al agente que construya los archivos. Pero tenemos que saber qué queremos encontrar dentro y cómo vamos a comprobarlo.</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.agents/skills/analizar-biblioteca/SKILL.md</a:t>
            </a:r>
          </a:p>
          <a:p>
            <a:pPr marL="0" lvl="0" indent="0" algn="l" rtl="0">
              <a:spcBef>
                <a:spcPts val="0"/>
              </a:spcBef>
              <a:spcAft>
                <a:spcPts val="0"/>
              </a:spcAft>
              <a:buNone/>
            </a:pPr>
            <a:r>
              <a:rPr lang="es-ES"/>
              <a:t>https://agentskills.io/specification</a:t>
            </a:r>
          </a:p>
          <a:p>
            <a:pPr marL="0" lvl="0" indent="0" algn="l" rtl="0">
              <a:spcBef>
                <a:spcPts val="0"/>
              </a:spcBef>
              <a:spcAft>
                <a:spcPts val="0"/>
              </a:spcAft>
              <a:buNone/>
            </a:pPr>
            <a:r>
              <a:rPr lang="es-ES"/>
              <a:t>https://ainalluna.substack.com/p/crear-skills-agentes-ia-verificables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08:40–09:45 | 65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Abre la carpeta del proyecto en Codex o Claude Code y pide que ejecute el prompt correspondiente. Este es el encargo real del repositorio, resumido para que se pueda leer. Dice qué construir, qué resultado esperamos y cómo repartir el trabajo. También obliga a leer el plano y a probar con artículos ficticios. El prompt completo incluye campos, valores permitidos, errores y entregables. Crear la Skill y usarla son dos momentos distintos. Aquí le estamos pidiendo que construya y pruebe la capacidad; todavía no que analice nuestra biblioteca real. El repositorio contiene estos encargos, uno por pieza, para poder seguir el mismo recorrido.</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prompts/02-crear-analizar-biblioteca.md</a:t>
            </a:r>
          </a:p>
          <a:p>
            <a:pPr marL="0" lvl="0" indent="0" algn="l" rtl="0">
              <a:spcBef>
                <a:spcPts val="0"/>
              </a:spcBef>
              <a:spcAft>
                <a:spcPts val="0"/>
              </a:spcAft>
              <a:buNone/>
            </a:pPr>
            <a:r>
              <a:rPr lang="es-ES"/>
              <a:t>prompts/00-crear-estructura.md</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09:45–10:20 | 35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Lo primero es abrir el resultado, no darlo por bueno porque el agente diga que ha terminado. Esta es la carpeta real. SKILL.md es el archivo obligatorio. Tiene una cabecera con nombre y descripción, y debajo un cuerpo escrito en texto normal con el procedimiento. References contiene los criterios largos y el esquema de la ficha. Scripts contiene el código y sus pruebas. Vamos a mirar qué hay que escribir en las dos partes del SKILL.md.</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.agents/skills/analizar-biblioteca/SKILL.md</a:t>
            </a:r>
          </a:p>
          <a:p>
            <a:pPr marL="0" lvl="0" indent="0" algn="l" rtl="0">
              <a:spcBef>
                <a:spcPts val="0"/>
              </a:spcBef>
              <a:spcAft>
                <a:spcPts val="0"/>
              </a:spcAft>
              <a:buNone/>
            </a:pPr>
            <a:r>
              <a:rPr lang="es-ES"/>
              <a:t>.agents/skills/analizar-biblioteca/references/instrucciones-ficha.md</a:t>
            </a:r>
          </a:p>
          <a:p>
            <a:pPr marL="0" lvl="0" indent="0" algn="l" rtl="0">
              <a:spcBef>
                <a:spcPts val="0"/>
              </a:spcBef>
              <a:spcAft>
                <a:spcPts val="0"/>
              </a:spcAft>
              <a:buNone/>
            </a:pPr>
            <a:r>
              <a:rPr lang="es-ES"/>
              <a:t>https://agentskills.io/specification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10:20–11:10 | 50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Antes de abrir todas las instrucciones, el agente necesita saber si esta Skill le sirve. Ayuda con contenido no permite distinguir entre analizar, escribir o adaptar. La descripción real dice con qué trabaja, qué produce y cuándo usarla. Escribe con las palabras que usarías al pedir la tarea. Si dos Skills responden a lo mismo, revisa sus límites. No garantiza la activación: se prueba con una petición directa, una paráfrasis y otra cercana que deba quedar fuera. Y si queremos usarla expresamente, podemos llamarla por su nombre.</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.agents/skills/analizar-biblioteca/SKILL.md</a:t>
            </a:r>
          </a:p>
          <a:p>
            <a:pPr marL="0" lvl="0" indent="0" algn="l" rtl="0">
              <a:spcBef>
                <a:spcPts val="0"/>
              </a:spcBef>
              <a:spcAft>
                <a:spcPts val="0"/>
              </a:spcAft>
              <a:buNone/>
            </a:pPr>
            <a:r>
              <a:rPr lang="es-ES"/>
              <a:t>https://www.youtube.com/watch?v=8ZaSS6NPct4&amp;t=740s</a:t>
            </a:r>
          </a:p>
          <a:p>
            <a:pPr marL="0" lvl="0" indent="0" algn="l" rtl="0">
              <a:spcBef>
                <a:spcPts val="0"/>
              </a:spcBef>
              <a:spcAft>
                <a:spcPts val="0"/>
              </a:spcAft>
              <a:buNone/>
            </a:pPr>
            <a:r>
              <a:rPr lang="es-ES"/>
              <a:t>https://ainalluna.substack.com/p/crear-skills-agentes-ia-verificables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11:10–12:15 | 65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Después de la descripción viene el procedimiento. No escribimos «hazlo bien». Escribimos el orden, las decisiones y qué hacer cuando algo falla. Este es el flujo real resumido. Un criterio de la referencia dice que la tesis debe ser la idea que defiende el artículo, no un resumen del tema. Incluye ejemplos aceptados y rechazados. La Skill indica cuándo consultar esa referencia. Esa es la carga progresiva: primero descripción, después procedimiento y luego el detalle que haga falta. Lo específico de nuestra forma de trabajar es lo que merece conservarse.</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.agents/skills/analizar-biblioteca/SKILL.md</a:t>
            </a:r>
          </a:p>
          <a:p>
            <a:pPr marL="0" lvl="0" indent="0" algn="l" rtl="0">
              <a:spcBef>
                <a:spcPts val="0"/>
              </a:spcBef>
              <a:spcAft>
                <a:spcPts val="0"/>
              </a:spcAft>
              <a:buNone/>
            </a:pPr>
            <a:r>
              <a:rPr lang="es-ES"/>
              <a:t>.agents/skills/analizar-biblioteca/references/instrucciones-ficha.md</a:t>
            </a:r>
          </a:p>
          <a:p>
            <a:pPr marL="0" lvl="0" indent="0" algn="l" rtl="0">
              <a:spcBef>
                <a:spcPts val="0"/>
              </a:spcBef>
              <a:spcAft>
                <a:spcPts val="0"/>
              </a:spcAft>
              <a:buNone/>
            </a:pPr>
            <a:r>
              <a:rPr lang="es-ES"/>
              <a:t>https://www.youtube.com/watch?v=8ZaSS6NPct4&amp;t=1080s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12:15–13:20 | 65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Ahora cambia el encargo. Ya no pedimos crear la Skill: le pedimos usarla. En Codex podemos invocarla por su nombre como veis aquí. En esta demostración aislada hemos usado un artículo real de Think&amp;Hack. El procedimiento detecta que falta la ficha; el agente lee el artículo, consulta los criterios y redacta los campos editoriales. El script los combina con los datos originales y guarda la ficha. Al terminar, el mapa ya incluye el artículo y la siguiente comprobación no lo presenta como pendiente. Esto es una ejecución de la fase de inventario, no una promesa de que todo el sistema está terminado.</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.conia-v3/demo-ejecucion.json</a:t>
            </a:r>
          </a:p>
          <a:p>
            <a:pPr marL="0" lvl="0" indent="0" algn="l" rtl="0">
              <a:spcBef>
                <a:spcPts val="0"/>
              </a:spcBef>
              <a:spcAft>
                <a:spcPts val="0"/>
              </a:spcAft>
              <a:buNone/>
            </a:pPr>
            <a:r>
              <a:rPr lang="es-ES"/>
              <a:t>.conia-v3/demo/biblioteca/substack/fichas/205019542.json</a:t>
            </a:r>
          </a:p>
          <a:p>
            <a:pPr marL="0" lvl="0" indent="0" algn="l" rtl="0">
              <a:spcBef>
                <a:spcPts val="0"/>
              </a:spcBef>
              <a:spcAft>
                <a:spcPts val="0"/>
              </a:spcAft>
              <a:buNone/>
            </a:pPr>
            <a:r>
              <a:rPr lang="es-ES"/>
              <a:t>.conia-v3/demo/biblioteca/mapa-temas.md</a:t>
            </a:r>
          </a:p>
          <a:p>
            <a:pPr marL="0" lvl="0" indent="0" algn="l" rtl="0">
              <a:spcBef>
                <a:spcPts val="0"/>
              </a:spcBef>
              <a:spcAft>
                <a:spcPts val="0"/>
              </a:spcAft>
              <a:buNone/>
            </a:pPr>
            <a:r>
              <a:rPr lang="es-ES"/>
              <a:t>https://learn.chatgpt.com/docs/build-skills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13:20–13:55 | 35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Eso es lo que hace aquí el agente: recibe el encargo, usa el modelo para interpretar, llama a herramientas y observa el resultado para continuar o corregir. La Skill le da nuestro método; no es un empleado que trabaje solo. El script ejecuta la parte programada. Podemos usar el mismo agente con distintas Skills. No necesitamos crear un agente nuevo por cada fase: lo decidimos por el contexto, las herramientas y las responsabilidades que realmente convenga separar.</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https://ainalluna.substack.com/p/crear-agentes-claude-code</a:t>
            </a:r>
          </a:p>
          <a:p>
            <a:pPr marL="0" lvl="0" indent="0" algn="l" rtl="0">
              <a:spcBef>
                <a:spcPts val="0"/>
              </a:spcBef>
              <a:spcAft>
                <a:spcPts val="0"/>
              </a:spcAft>
              <a:buNone/>
            </a:pPr>
            <a:r>
              <a:rPr lang="es-ES"/>
              <a:t>.agents/skills/analizar-biblioteca/SKILL.md</a:t>
            </a:r>
          </a:p>
          <a:p>
            <a:pPr marL="0" lvl="0" indent="0" algn="l" rtl="0">
              <a:spcBef>
                <a:spcPts val="0"/>
              </a:spcBef>
              <a:spcAft>
                <a:spcPts val="0"/>
              </a:spcAft>
              <a:buNone/>
            </a:pPr>
            <a:r>
              <a:rPr lang="es-ES"/>
              <a:t>Ilustración de mujeresenseo_junio2026.pptx</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13:55–14:45 | 50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No comprobaría solo el caso feliz. En esta prueba quitamos deliberadamente la tesis y llamamos al mismo script. Esta es su respuesta real: no guarda la ficha. Después entregamos la ficha completa, se valida y se actualiza el mapa. Aquí aparece el arnés: el entorno que ejecuta al agente, limita lo que puede hacer y comprueba las entregas. Este control valida la estructura. Para saber si la tesis es fiel, todavía hay que contrastarla con el artículo. En investigación, un enlace que funciona tampoco prueba una afirmación: hay que leer la fuente.</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.conia-v3/demo-ejecucion.json</a:t>
            </a:r>
          </a:p>
          <a:p>
            <a:pPr marL="0" lvl="0" indent="0" algn="l" rtl="0">
              <a:spcBef>
                <a:spcPts val="0"/>
              </a:spcBef>
              <a:spcAft>
                <a:spcPts val="0"/>
              </a:spcAft>
              <a:buNone/>
            </a:pPr>
            <a:r>
              <a:rPr lang="es-ES"/>
              <a:t>.agents/skills/analizar-biblioteca/scripts/analizar_biblioteca.py</a:t>
            </a:r>
          </a:p>
          <a:p>
            <a:pPr marL="0" lvl="0" indent="0" algn="l" rtl="0">
              <a:spcBef>
                <a:spcPts val="0"/>
              </a:spcBef>
              <a:spcAft>
                <a:spcPts val="0"/>
              </a:spcAft>
              <a:buNone/>
            </a:pPr>
            <a:r>
              <a:rPr lang="es-ES"/>
              <a:t>https://ainalluna.substack.com/p/harness-engineering-agentes-ia</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14:45–15:15 | 30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Cuando el agente escribe una operación que funciona, podemos pedirle que la conserve dentro de la Skill y que actualice el procedimiento para reutilizarla. Después comprobamos que realmente la usa. Así no tiene que reinventar en cada encargo cómo guardar o validar una ficha. El modelo seguirá interpretando el contenido nuevo; la operación que ya hemos programado y probado queda estable.</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.agents/skills/analizar-biblioteca/scripts/analizar_biblioteca.py</a:t>
            </a:r>
          </a:p>
          <a:p>
            <a:pPr marL="0" lvl="0" indent="0" algn="l" rtl="0">
              <a:spcBef>
                <a:spcPts val="0"/>
              </a:spcBef>
              <a:spcAft>
                <a:spcPts val="0"/>
              </a:spcAft>
              <a:buNone/>
            </a:pPr>
            <a:r>
              <a:rPr lang="es-ES"/>
              <a:t>https://www.youtube.com/watch?v=HIRDzMtuWFk&amp;t=86s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15:15–16:00 | 45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Y hacemos lo mismo con el criterio. En esta Skill hay una regla concreta: reutilizar un tema existente cuando encaje, porque crear uno por cada matiz fragmentaría el mapa. Si una ejecución revela un problema, pedimos que identifique la causa y corrija el lugar adecuado: descripción, procedimiento, referencia o código. Luego repetimos la tarea. La Skill no aprende automáticamente por haber recibido una corrección. Esa corrección tiene que quedar escrita, revisada y disponible. En la guía de estilo, el proyecto protege además la sección de reglas aprendidas.</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.agents/skills/analizar-biblioteca/references/instrucciones-ficha.md</a:t>
            </a:r>
          </a:p>
          <a:p>
            <a:pPr marL="0" lvl="0" indent="0" algn="l" rtl="0">
              <a:spcBef>
                <a:spcPts val="0"/>
              </a:spcBef>
              <a:spcAft>
                <a:spcPts val="0"/>
              </a:spcAft>
              <a:buNone/>
            </a:pPr>
            <a:r>
              <a:rPr lang="es-ES"/>
              <a:t>.agents/skills/analizar-biblioteca/SKILL.md</a:t>
            </a:r>
          </a:p>
          <a:p>
            <a:pPr marL="0" lvl="0" indent="0" algn="l" rtl="0">
              <a:spcBef>
                <a:spcPts val="0"/>
              </a:spcBef>
              <a:spcAft>
                <a:spcPts val="0"/>
              </a:spcAft>
              <a:buNone/>
            </a:pPr>
            <a:r>
              <a:rPr lang="es-ES"/>
              <a:t>https://www.youtube.com/watch?v=HIRDzMtuWFk&amp;t=296s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16:00–16:35 | 35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Con una pieza comprendida, aplicamos el mismo método al resto. Cada etapa recibe información, toma decisiones y entrega algo que la siguiente pueda usar. Por eso definimos los contratos. El proyecto ofrece nueve prompts: uno para la estructura y ocho para sus Skills. Cada prompt deja una pieza que podemos revisar y probar. Elegir la oportunidad, aprobar la investigación y aprobar el texto siguen siendo decisiones humanas. El sistema no aparece por tener muchas Skills: aparece al conectarlas con ese proceso y sus comprobaciones.</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README.md</a:t>
            </a:r>
          </a:p>
          <a:p>
            <a:pPr marL="0" lvl="0" indent="0" algn="l" rtl="0">
              <a:spcBef>
                <a:spcPts val="0"/>
              </a:spcBef>
              <a:spcAft>
                <a:spcPts val="0"/>
              </a:spcAft>
              <a:buNone/>
            </a:pPr>
            <a:r>
              <a:rPr lang="es-ES"/>
              <a:t>ARQUITECTURA.md</a:t>
            </a:r>
          </a:p>
          <a:p>
            <a:pPr marL="0" lvl="0" indent="0" algn="l" rtl="0">
              <a:spcBef>
                <a:spcPts val="0"/>
              </a:spcBef>
              <a:spcAft>
                <a:spcPts val="0"/>
              </a:spcAft>
              <a:buNone/>
            </a:pPr>
            <a:r>
              <a:rPr lang="es-ES"/>
              <a:t>prompts/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16:35–17:15 | 40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Una ventaja es que el método queda en archivos. En Codex, las Skills de este proyecto están en .agents/skills. En Claude Code, las de proyecto se instalan en .claude/skills. Work y Cowork también permiten trabajar con Skills, con sus mecanismos de instalación y empaquetado. Un plugin puede distribuir Skills y conexiones. No es copiar una carpeta y suponer que funcionará igual: si usa Python, archivos o servicios, adaptamos el entorno y repetimos la prueba. El método puede viajar con nosotros sin volver a inventarlo.</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https://learn.chatgpt.com/docs/build-skills</a:t>
            </a:r>
          </a:p>
          <a:p>
            <a:pPr marL="0" lvl="0" indent="0" algn="l" rtl="0">
              <a:spcBef>
                <a:spcPts val="0"/>
              </a:spcBef>
              <a:spcAft>
                <a:spcPts val="0"/>
              </a:spcAft>
              <a:buNone/>
            </a:pPr>
            <a:r>
              <a:rPr lang="es-ES"/>
              <a:t>https://code.claude.com/docs/en/skills</a:t>
            </a:r>
          </a:p>
          <a:p>
            <a:pPr marL="0" lvl="0" indent="0" algn="l" rtl="0">
              <a:spcBef>
                <a:spcPts val="0"/>
              </a:spcBef>
              <a:spcAft>
                <a:spcPts val="0"/>
              </a:spcAft>
              <a:buNone/>
            </a:pPr>
            <a:r>
              <a:rPr lang="es-ES"/>
              <a:t>https://support.claude.com/en/articles/12512180-use-skills-in-claude</a:t>
            </a:r>
          </a:p>
          <a:p>
            <a:pPr marL="0" lvl="0" indent="0" algn="l" rtl="0">
              <a:spcBef>
                <a:spcPts val="0"/>
              </a:spcBef>
              <a:spcAft>
                <a:spcPts val="0"/>
              </a:spcAft>
              <a:buNone/>
            </a:pPr>
            <a:r>
              <a:rPr lang="es-ES"/>
              <a:t>https://ainalluna.substack.com/p/como-crear-skill-chatgpt-work</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17:15–17:30 | 15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Con todo esto había resuelto cómo trabajar. Pero todavía tenía que acordarme de arrancarlo. Esa fue la razón para dar el siguiente paso con Hacki: que el sistema empezara a trabajar cuando tocaba y me dejara preparada la siguiente decisión.</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https://ainalluna.substack.com/p/agente-ia-autonomo-hermes-agent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17:30–18:20 | 50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Este es un caso real de Think&amp;Hack que documenté en septiembre. Hacki utiliza Hermes Agent y tiene una tarea programada: Editorial Weekly. El servidor y su programador la arrancan sin que yo escriba un prompt esa mañana. Revisa contenido y señales, prepara propuestas y deja el resultado pendiente de aprobación. Esta captura muestra seis Notes propuestas y el estado awaiting approval. La Skill aporta el método; el horario y el entorno que ejecuta el agente hacen posible el arranque automático. Este caso demuestra el principio; trasladar el repositorio de la charla a Hermes todavía exige adaptar y probar su instalación.</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https://ainalluna.substack.com/p/agente-ia-calendario-editorial-newsletter</a:t>
            </a:r>
          </a:p>
          <a:p>
            <a:pPr marL="0" lvl="0" indent="0" algn="l" rtl="0">
              <a:spcBef>
                <a:spcPts val="0"/>
              </a:spcBef>
              <a:spcAft>
                <a:spcPts val="0"/>
              </a:spcAft>
              <a:buNone/>
            </a:pPr>
            <a:r>
              <a:rPr lang="es-ES"/>
              <a:t>https://hermes-agent.nousresearch.com/docs/user-guide/features/cron</a:t>
            </a:r>
          </a:p>
          <a:p>
            <a:pPr marL="0" lvl="0" indent="0" algn="l" rtl="0">
              <a:spcBef>
                <a:spcPts val="0"/>
              </a:spcBef>
              <a:spcAft>
                <a:spcPts val="0"/>
              </a:spcAft>
              <a:buNone/>
            </a:pPr>
            <a:r>
              <a:rPr lang="es-ES"/>
              <a:t>https://hermes-agent.nousresearch.com/docs/developer-guide/creating-skills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18:20–19:00 | 40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Y aquí aparece el resultado en mi calendario editorial. Hay propuestas y piezas para Notes y LinkedIn, con sus estados. El trabajo se ha puesto en marcha sin que yo pulse un botón; la decisión de publicar sigue pasando por mí. Reviso qué aporta cada pieza, corrijo lo que no encaja y apruebo lo que merece salir. Esa es la automatización que me interesa: llegar a una decisión con el trabajo previo preparado y con información para revisarlo.</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https://ainalluna.substack.com/p/agente-ia-calendario-editorial-newsletter</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PASE DE 20 MINUTOS | 19:00–19:25 | 25 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Esto es pasar de chat a sistemas. Empezamos por un objetivo, diseñamos un proceso y elegimos las piezas que lo hacen posible. Las Skills conservan el método; los agentes lo aplican con herramientas; los scripts repiten lo que ya sabemos hacer; el arnés permite controlar y verificar. Y cuando ese proceso está preparado, podemos programar su ejecución. No tengo que volver a explicarlo todo ni recordar cada arranque. Tengo trabajo preparado, un método que puedo revisar y la responsabilidad de decidir qué merece publicarse. Gracias.</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https://ainalluna.substack.com/p/agente-ia-calendario-editorial-newsletter</a:t>
            </a:r>
          </a:p>
          <a:p>
            <a:pPr marL="0" lvl="0" indent="0" algn="l" rtl="0">
              <a:spcBef>
                <a:spcPts val="0"/>
              </a:spcBef>
              <a:spcAft>
                <a:spcPts val="0"/>
              </a:spcAft>
              <a:buNone/>
            </a:pPr>
            <a:r>
              <a:rPr lang="es-ES"/>
              <a:t>https://github.com/seoutopico/sistema-editorial-agentico</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APÉNDICE OCULTO · fuera del pase de 20 minutos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Contratos del diseño completo definido en ARQUITECTURA.md. Cada fase entrega información que necesita la siguiente. El estado de implementación evoluciona y se documenta en README.md. La ejecución comprobada durante la preparación de esta ponencia corresponde a analizar-biblioteca, en una copia aislada con un artículo real.</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ARQUITECTURA.md</a:t>
            </a:r>
          </a:p>
          <a:p>
            <a:pPr marL="0" lvl="0" indent="0" algn="l" rtl="0">
              <a:spcBef>
                <a:spcPts val="0"/>
              </a:spcBef>
              <a:spcAft>
                <a:spcPts val="0"/>
              </a:spcAft>
              <a:buNone/>
            </a:pPr>
            <a:r>
              <a:rPr lang="es-ES"/>
              <a:t>README.md</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APÉNDICE OCULTO · fuera del pase de 20 minutos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Apéndice para compartir. Enlace al repositorio de origen: https://github.com/seoutopico/sistema-editorial-agentico. Su visibilidad pública debe verificarse antes de anunciarlo como accesible a todo el público. Esta entrega local no ha publicado ni cambiado permisos del repositorio. El sistema se adapta con proyecto.config.json y biblioteca/youtube/canales.md. No distribuir credenciales ni contenido privado de la biblioteca.</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https://github.com/seoutopico/sistema-editorial-agentico</a:t>
            </a:r>
          </a:p>
          <a:p>
            <a:pPr marL="0" lvl="0" indent="0" algn="l" rtl="0">
              <a:spcBef>
                <a:spcPts val="0"/>
              </a:spcBef>
              <a:spcAft>
                <a:spcPts val="0"/>
              </a:spcAft>
              <a:buNone/>
            </a:pPr>
            <a:r>
              <a:rPr lang="es-ES"/>
              <a:t>README.md</a:t>
            </a:r>
          </a:p>
          <a:p>
            <a:pPr marL="0" lvl="0" indent="0" algn="l" rtl="0">
              <a:spcBef>
                <a:spcPts val="0"/>
              </a:spcBef>
              <a:spcAft>
                <a:spcPts val="0"/>
              </a:spcAft>
              <a:buNone/>
            </a:pPr>
            <a:r>
              <a:rPr lang="es-ES"/>
              <a:t>ARQUITECTURA.md</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APÉNDICE OCULTO · fuera del pase de 20 minutos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Apéndice. Prompt propuesto para el público, no fragmento literal de una ejecución del repositorio. Es un punto de partida; ajustar el alcance a una tarea real. Conservar instrucciones que cambien decisiones y retirar lo redundante. El tamaño del SKILL.md importa menos que su foco y su organización; pasar el detalle largo a referencias.</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https://ainalluna.substack.com/p/crear-skills-agentes-ia-verificables</a:t>
            </a:r>
          </a:p>
          <a:p>
            <a:pPr marL="0" lvl="0" indent="0" algn="l" rtl="0">
              <a:spcBef>
                <a:spcPts val="0"/>
              </a:spcBef>
              <a:spcAft>
                <a:spcPts val="0"/>
              </a:spcAft>
              <a:buNone/>
            </a:pPr>
            <a:r>
              <a:rPr lang="es-ES"/>
              <a:t>https://ainalluna.substack.com/p/como-crear-skill-chatgpt-work</a:t>
            </a:r>
          </a:p>
          <a:p>
            <a:pPr marL="0" lvl="0" indent="0" algn="l" rtl="0">
              <a:spcBef>
                <a:spcPts val="0"/>
              </a:spcBef>
              <a:spcAft>
                <a:spcPts val="0"/>
              </a:spcAft>
              <a:buNone/>
            </a:pPr>
            <a:r>
              <a:rPr lang="es-ES"/>
              <a:t>Taller de Fred Harper: Texto pegado.txt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APÉNDICE OCULTO · fuera del pase de 20 minutos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Apéndice de buenas prácticas. Inspeccionar herramientas y scripts antes de instalarlos. No confundir un esquema válido con una afirmación verdadera. Documentar fallos y arreglar la pieza más pequeña que los causa: descripción, procedimiento, referencia o script. Probar de nuevo tras cada cambio relevante y cuando se cambia de modelo o entorno.</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r>
              <a:rPr lang="es-ES"/>
              <a:t>https://ainalluna.substack.com/p/crear-skills-agentes-ia-verificables</a:t>
            </a:r>
          </a:p>
          <a:p>
            <a:pPr marL="0" lvl="0" indent="0" algn="l" rtl="0">
              <a:spcBef>
                <a:spcPts val="0"/>
              </a:spcBef>
              <a:spcAft>
                <a:spcPts val="0"/>
              </a:spcAft>
              <a:buNone/>
            </a:pPr>
            <a:r>
              <a:rPr lang="es-ES"/>
              <a:t>2026-10-14T02-16-05-transcripcion-youtube.md</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h4d72ddebf519363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h4d72ddebf519363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ES"/>
              <a:t>APÉNDICE OCULTO · fuera del pase de 20 minutos</a:t>
            </a:r>
          </a:p>
          <a:p>
            <a:pPr marL="0" lvl="0" indent="0" algn="l" rtl="0">
              <a:spcBef>
                <a:spcPts val="0"/>
              </a:spcBef>
              <a:spcAft>
                <a:spcPts val="0"/>
              </a:spcAft>
              <a:buNone/>
            </a:pPr>
            <a:endParaRPr lang="es-ES"/>
          </a:p>
          <a:p>
            <a:pPr marL="0" lvl="0" indent="0" algn="l" rtl="0">
              <a:spcBef>
                <a:spcPts val="0"/>
              </a:spcBef>
              <a:spcAft>
                <a:spcPts val="0"/>
              </a:spcAft>
              <a:buNone/>
            </a:pPr>
            <a:r>
              <a:rPr lang="es-ES"/>
              <a:t>GUION ORAL</a:t>
            </a:r>
          </a:p>
          <a:p>
            <a:pPr marL="0" lvl="0" indent="0" algn="l" rtl="0">
              <a:spcBef>
                <a:spcPts val="0"/>
              </a:spcBef>
              <a:spcAft>
                <a:spcPts val="0"/>
              </a:spcAft>
              <a:buNone/>
            </a:pPr>
            <a:r>
              <a:rPr lang="es-ES"/>
              <a:t>FUENTES EDITORIALES</a:t>
            </a:r>
          </a:p>
          <a:p>
            <a:pPr marL="0" lvl="0" indent="0" algn="l" rtl="0">
              <a:spcBef>
                <a:spcPts val="0"/>
              </a:spcBef>
              <a:spcAft>
                <a:spcPts val="0"/>
              </a:spcAft>
              <a:buNone/>
            </a:pPr>
            <a:r>
              <a:rPr lang="es-ES"/>
              <a:t>https://ainalluna.substack.com/p/crear-skills-agentes-ia-verificables</a:t>
            </a:r>
          </a:p>
          <a:p>
            <a:pPr marL="0" lvl="0" indent="0" algn="l" rtl="0">
              <a:spcBef>
                <a:spcPts val="0"/>
              </a:spcBef>
              <a:spcAft>
                <a:spcPts val="0"/>
              </a:spcAft>
              <a:buNone/>
            </a:pPr>
            <a:r>
              <a:rPr lang="es-ES"/>
              <a:t>https://ainalluna.substack.com/p/crear-agentes-claude-code</a:t>
            </a:r>
          </a:p>
          <a:p>
            <a:pPr marL="0" lvl="0" indent="0" algn="l" rtl="0">
              <a:spcBef>
                <a:spcPts val="0"/>
              </a:spcBef>
              <a:spcAft>
                <a:spcPts val="0"/>
              </a:spcAft>
              <a:buNone/>
            </a:pPr>
            <a:r>
              <a:rPr lang="es-ES"/>
              <a:t>https://ainalluna.substack.com/p/harness-engineering-agentes-ia</a:t>
            </a:r>
          </a:p>
          <a:p>
            <a:pPr marL="0" lvl="0" indent="0" algn="l" rtl="0">
              <a:spcBef>
                <a:spcPts val="0"/>
              </a:spcBef>
              <a:spcAft>
                <a:spcPts val="0"/>
              </a:spcAft>
              <a:buNone/>
            </a:pPr>
            <a:r>
              <a:rPr lang="es-ES"/>
              <a:t>https://ainalluna.substack.com/p/agente-ia-autonomo-hermes-agent</a:t>
            </a:r>
          </a:p>
          <a:p>
            <a:pPr marL="0" lvl="0" indent="0" algn="l" rtl="0">
              <a:spcBef>
                <a:spcPts val="0"/>
              </a:spcBef>
              <a:spcAft>
                <a:spcPts val="0"/>
              </a:spcAft>
              <a:buNone/>
            </a:pPr>
            <a:r>
              <a:rPr lang="es-ES"/>
              <a:t>https://ainalluna.substack.com/p/hacki-semana-1</a:t>
            </a:r>
          </a:p>
          <a:p>
            <a:pPr marL="0" lvl="0" indent="0" algn="l" rtl="0">
              <a:spcBef>
                <a:spcPts val="0"/>
              </a:spcBef>
              <a:spcAft>
                <a:spcPts val="0"/>
              </a:spcAft>
              <a:buNone/>
            </a:pPr>
            <a:r>
              <a:rPr lang="es-ES"/>
              <a:t>https://ainalluna.substack.com/p/agente-ia-calendario-editorial-newsletter</a:t>
            </a:r>
          </a:p>
          <a:p>
            <a:pPr marL="0" lvl="0" indent="0" algn="l" rtl="0">
              <a:spcBef>
                <a:spcPts val="0"/>
              </a:spcBef>
              <a:spcAft>
                <a:spcPts val="0"/>
              </a:spcAft>
              <a:buNone/>
            </a:pPr>
            <a:r>
              <a:rPr lang="es-ES"/>
              <a:t>https://ainalluna.substack.com/p/como-crear-skill-chatgpt-work</a:t>
            </a:r>
          </a:p>
          <a:p>
            <a:pPr marL="0" lvl="0" indent="0" algn="l" rtl="0">
              <a:spcBef>
                <a:spcPts val="0"/>
              </a:spcBef>
              <a:spcAft>
                <a:spcPts val="0"/>
              </a:spcAft>
              <a:buNone/>
            </a:pPr>
            <a:endParaRPr lang="es-ES"/>
          </a:p>
          <a:p>
            <a:pPr marL="0" lvl="0" indent="0" algn="l" rtl="0">
              <a:spcBef>
                <a:spcPts val="0"/>
              </a:spcBef>
              <a:spcAft>
                <a:spcPts val="0"/>
              </a:spcAft>
              <a:buNone/>
            </a:pPr>
            <a:r>
              <a:rPr lang="es-ES"/>
              <a:t>TRANSCRIPCIONES</a:t>
            </a:r>
          </a:p>
          <a:p>
            <a:pPr marL="0" lvl="0" indent="0" algn="l" rtl="0">
              <a:spcBef>
                <a:spcPts val="0"/>
              </a:spcBef>
              <a:spcAft>
                <a:spcPts val="0"/>
              </a:spcAft>
              <a:buNone/>
            </a:pPr>
            <a:r>
              <a:rPr lang="es-ES"/>
              <a:t>Fred Harper: Texto pegado.txt (aportada por la ponente).</a:t>
            </a:r>
          </a:p>
          <a:p>
            <a:pPr marL="0" lvl="0" indent="0" algn="l" rtl="0">
              <a:spcBef>
                <a:spcPts val="0"/>
              </a:spcBef>
              <a:spcAft>
                <a:spcPts val="0"/>
              </a:spcAft>
              <a:buNone/>
            </a:pPr>
            <a:r>
              <a:rPr lang="es-ES"/>
              <a:t>Cuatro principios: 2026-10-14T02-16-05-transcripcion-youtube.md.</a:t>
            </a:r>
          </a:p>
          <a:p>
            <a:pPr marL="0" lvl="0" indent="0" algn="l" rtl="0">
              <a:spcBef>
                <a:spcPts val="0"/>
              </a:spcBef>
              <a:spcAft>
                <a:spcPts val="0"/>
              </a:spcAft>
              <a:buNone/>
            </a:pPr>
            <a:endParaRPr lang="es-ES"/>
          </a:p>
          <a:p>
            <a:pPr marL="0" lvl="0" indent="0" algn="l" rtl="0">
              <a:spcBef>
                <a:spcPts val="0"/>
              </a:spcBef>
              <a:spcAft>
                <a:spcPts val="0"/>
              </a:spcAft>
              <a:buNone/>
            </a:pPr>
            <a:r>
              <a:rPr lang="es-ES"/>
              <a:t>FUENTES TÉCNICAS</a:t>
            </a:r>
          </a:p>
          <a:p>
            <a:pPr marL="0" lvl="0" indent="0" algn="l" rtl="0">
              <a:spcBef>
                <a:spcPts val="0"/>
              </a:spcBef>
              <a:spcAft>
                <a:spcPts val="0"/>
              </a:spcAft>
              <a:buNone/>
            </a:pPr>
            <a:r>
              <a:rPr lang="es-ES"/>
              <a:t>https://agentskills.io/specification</a:t>
            </a:r>
          </a:p>
          <a:p>
            <a:pPr marL="0" lvl="0" indent="0" algn="l" rtl="0">
              <a:spcBef>
                <a:spcPts val="0"/>
              </a:spcBef>
              <a:spcAft>
                <a:spcPts val="0"/>
              </a:spcAft>
              <a:buNone/>
            </a:pPr>
            <a:r>
              <a:rPr lang="es-ES"/>
              <a:t>https://learn.chatgpt.com/docs/build-skills</a:t>
            </a:r>
          </a:p>
          <a:p>
            <a:pPr marL="0" lvl="0" indent="0" algn="l" rtl="0">
              <a:spcBef>
                <a:spcPts val="0"/>
              </a:spcBef>
              <a:spcAft>
                <a:spcPts val="0"/>
              </a:spcAft>
              <a:buNone/>
            </a:pPr>
            <a:r>
              <a:rPr lang="es-ES"/>
              <a:t>https://developers.openai.com/plugins/concepts/skills</a:t>
            </a:r>
          </a:p>
          <a:p>
            <a:pPr marL="0" lvl="0" indent="0" algn="l" rtl="0">
              <a:spcBef>
                <a:spcPts val="0"/>
              </a:spcBef>
              <a:spcAft>
                <a:spcPts val="0"/>
              </a:spcAft>
              <a:buNone/>
            </a:pPr>
            <a:r>
              <a:rPr lang="es-ES"/>
              <a:t>https://code.claude.com/docs/en/skills</a:t>
            </a:r>
          </a:p>
          <a:p>
            <a:pPr marL="0" lvl="0" indent="0" algn="l" rtl="0">
              <a:spcBef>
                <a:spcPts val="0"/>
              </a:spcBef>
              <a:spcAft>
                <a:spcPts val="0"/>
              </a:spcAft>
              <a:buNone/>
            </a:pPr>
            <a:r>
              <a:rPr lang="es-ES"/>
              <a:t>https://support.claude.com/en/articles/12512180-use-skills-in-claude</a:t>
            </a:r>
          </a:p>
          <a:p>
            <a:pPr marL="0" lvl="0" indent="0" algn="l" rtl="0">
              <a:spcBef>
                <a:spcPts val="0"/>
              </a:spcBef>
              <a:spcAft>
                <a:spcPts val="0"/>
              </a:spcAft>
              <a:buNone/>
            </a:pPr>
            <a:r>
              <a:rPr lang="es-ES"/>
              <a:t>https://hermes-agent.nousresearch.com/docs/user-guide/features/cron</a:t>
            </a:r>
          </a:p>
          <a:p>
            <a:pPr marL="0" lvl="0" indent="0" algn="l" rtl="0">
              <a:spcBef>
                <a:spcPts val="0"/>
              </a:spcBef>
              <a:spcAft>
                <a:spcPts val="0"/>
              </a:spcAft>
              <a:buNone/>
            </a:pPr>
            <a:endParaRPr lang="es-ES"/>
          </a:p>
          <a:p>
            <a:pPr marL="0" lvl="0" indent="0" algn="l" rtl="0">
              <a:spcBef>
                <a:spcPts val="0"/>
              </a:spcBef>
              <a:spcAft>
                <a:spcPts val="0"/>
              </a:spcAft>
              <a:buNone/>
            </a:pPr>
            <a:r>
              <a:rPr lang="es-ES"/>
              <a:t>DISEÑO</a:t>
            </a:r>
          </a:p>
          <a:p>
            <a:pPr marL="0" lvl="0" indent="0" algn="l" rtl="0">
              <a:spcBef>
                <a:spcPts val="0"/>
              </a:spcBef>
              <a:spcAft>
                <a:spcPts val="0"/>
              </a:spcAft>
              <a:buNone/>
            </a:pPr>
            <a:r>
              <a:rPr lang="es-ES"/>
              <a:t>Referencia: mujeresenseo_junio2026.pptx. Tres ilustraciones nuevas generadas en su estilo; ilustración de agente reutilizada. Capturas originales de newsletters de Aina-Lluna Taylor. Texto, tablas y diagramas editables.</a:t>
            </a:r>
          </a:p>
          <a:p>
            <a:pPr marL="0" lvl="0" indent="0" algn="l" rtl="0">
              <a:spcBef>
                <a:spcPts val="0"/>
              </a:spcBef>
              <a:spcAft>
                <a:spcPts val="0"/>
              </a:spcAft>
              <a:buNone/>
            </a:pPr>
            <a:endParaRPr lang="es-ES"/>
          </a:p>
          <a:p>
            <a:pPr marL="0" lvl="0" indent="0" algn="l" rtl="0">
              <a:spcBef>
                <a:spcPts val="0"/>
              </a:spcBef>
              <a:spcAft>
                <a:spcPts val="0"/>
              </a:spcAft>
              <a:buNone/>
            </a:pPr>
            <a:r>
              <a:rPr lang="es-ES"/>
              <a:t>ESTADO</a:t>
            </a:r>
          </a:p>
          <a:p>
            <a:pPr marL="0" lvl="0" indent="0" algn="l" rtl="0">
              <a:spcBef>
                <a:spcPts val="0"/>
              </a:spcBef>
              <a:spcAft>
                <a:spcPts val="0"/>
              </a:spcAft>
              <a:buNone/>
            </a:pPr>
            <a:r>
              <a:rPr lang="es-ES"/>
              <a:t>14/10/2026: biblioteca con 55 artículos y 55 fichas. El desarrollo del repo continúa; consultar README.md para el estado de las ocho Skills. La demostración aislada de analizar-biblioteca se ha ejecutado y comprobado. Hacki es un caso documentado separado; no prueba el despliegue del repo de la charla.</a:t>
            </a:r>
          </a:p>
          <a:p>
            <a:pPr marL="0" lvl="0" indent="0" algn="l" rtl="0">
              <a:spcBef>
                <a:spcPts val="0"/>
              </a:spcBef>
              <a:spcAft>
                <a:spcPts val="0"/>
              </a:spcAft>
              <a:buNone/>
            </a:pPr>
            <a:endParaRPr lang="es-ES"/>
          </a:p>
          <a:p>
            <a:pPr marL="0" lvl="0" indent="0" algn="l" rtl="0">
              <a:spcBef>
                <a:spcPts val="0"/>
              </a:spcBef>
              <a:spcAft>
                <a:spcPts val="0"/>
              </a:spcAft>
              <a:buNone/>
            </a:pPr>
            <a:r>
              <a:rPr lang="es-ES"/>
              <a:t>VÍDEOS REVISADOS</a:t>
            </a:r>
          </a:p>
          <a:p>
            <a:pPr marL="0" lvl="0" indent="0" algn="l" rtl="0">
              <a:spcBef>
                <a:spcPts val="0"/>
              </a:spcBef>
              <a:spcAft>
                <a:spcPts val="0"/>
              </a:spcAft>
              <a:buNone/>
            </a:pPr>
            <a:r>
              <a:rPr lang="es-ES"/>
              <a:t>https://www.youtube.com/watch?v=8ZaSS6NPct4 (primeros 20 minutos: transcripción y secuencia visual).</a:t>
            </a:r>
          </a:p>
          <a:p>
            <a:pPr marL="0" lvl="0" indent="0" algn="l" rtl="0">
              <a:spcBef>
                <a:spcPts val="0"/>
              </a:spcBef>
              <a:spcAft>
                <a:spcPts val="0"/>
              </a:spcAft>
              <a:buNone/>
            </a:pPr>
            <a:r>
              <a:rPr lang="es-ES"/>
              <a:t>https://www.youtube.com/watch?v=HIRDzMtuWFk (vídeo completo: transcripción e imágenes).</a:t>
            </a:r>
          </a:p>
          <a:p>
            <a:pPr marL="0" lvl="0" indent="0" algn="l" rtl="0">
              <a:spcBef>
                <a:spcPts val="0"/>
              </a:spcBef>
              <a:spcAft>
                <a:spcPts val="0"/>
              </a:spcAft>
              <a:buNone/>
            </a:pPr>
            <a:endParaRPr lang="es-ES"/>
          </a:p>
          <a:p>
            <a:pPr marL="0" lvl="0" indent="0" algn="l" rtl="0">
              <a:spcBef>
                <a:spcPts val="0"/>
              </a:spcBef>
              <a:spcAft>
                <a:spcPts val="0"/>
              </a:spcAft>
              <a:buNone/>
            </a:pPr>
            <a:r>
              <a:rPr lang="es-ES"/>
              <a:t>FUENTES Y ESTADO</a:t>
            </a: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rgbClr val="EAE7DC"/>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a:off x="358500" y="1946975"/>
            <a:ext cx="8460900" cy="2092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12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 name="Google Shape;10;p2"/>
          <p:cNvSpPr txBox="1">
            <a:spLocks noGrp="1"/>
          </p:cNvSpPr>
          <p:nvPr>
            <p:ph type="subTitle" idx="2"/>
          </p:nvPr>
        </p:nvSpPr>
        <p:spPr>
          <a:xfrm>
            <a:off x="270000" y="1135775"/>
            <a:ext cx="8507700" cy="457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 name="Google Shape;11;p2"/>
          <p:cNvSpPr txBox="1">
            <a:spLocks noGrp="1"/>
          </p:cNvSpPr>
          <p:nvPr>
            <p:ph type="title"/>
          </p:nvPr>
        </p:nvSpPr>
        <p:spPr>
          <a:xfrm>
            <a:off x="270000" y="525575"/>
            <a:ext cx="8507700" cy="610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3000"/>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128">
          <p15:clr>
            <a:srgbClr val="E46962"/>
          </p15:clr>
        </p15:guide>
        <p15:guide id="2" pos="170">
          <p15:clr>
            <a:srgbClr val="E46962"/>
          </p15:clr>
        </p15:guide>
        <p15:guide id="3" orient="horz" pos="715">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2"/>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pos="170">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ásica con título">
  <p:cSld name="DEFAULT_1">
    <p:bg>
      <p:bgPr>
        <a:solidFill>
          <a:srgbClr val="EAE7DC"/>
        </a:solidFill>
        <a:effectLst/>
      </p:bgPr>
    </p:bg>
    <p:spTree>
      <p:nvGrpSpPr>
        <p:cNvPr id="1" name="Shape 14"/>
        <p:cNvGrpSpPr/>
        <p:nvPr/>
      </p:nvGrpSpPr>
      <p:grpSpPr>
        <a:xfrm>
          <a:off x="0" y="0"/>
          <a:ext cx="0" cy="0"/>
          <a:chOff x="0" y="0"/>
          <a:chExt cx="0" cy="0"/>
        </a:xfrm>
      </p:grpSpPr>
      <p:sp>
        <p:nvSpPr>
          <p:cNvPr id="15" name="Google Shape;15;p5"/>
          <p:cNvSpPr txBox="1">
            <a:spLocks noGrp="1"/>
          </p:cNvSpPr>
          <p:nvPr>
            <p:ph type="title"/>
          </p:nvPr>
        </p:nvSpPr>
        <p:spPr>
          <a:xfrm>
            <a:off x="311703" y="525575"/>
            <a:ext cx="8578500" cy="906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1F2937"/>
              </a:buClr>
              <a:buSzPts val="5600"/>
              <a:buFont typeface="Inter"/>
              <a:buNone/>
              <a:defRPr sz="5600" b="1">
                <a:solidFill>
                  <a:srgbClr val="1F2937"/>
                </a:solidFill>
                <a:latin typeface="Inter"/>
                <a:ea typeface="Inter"/>
                <a:cs typeface="Inter"/>
                <a:sym typeface="Int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128">
          <p15:clr>
            <a:srgbClr val="E46962"/>
          </p15:clr>
        </p15:guide>
        <p15:guide id="2" orient="horz" pos="964">
          <p15:clr>
            <a:srgbClr val="E46962"/>
          </p15:clr>
        </p15:guide>
        <p15:guide id="3" pos="170">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ásica con título 2">
  <p:cSld name="DEFAULT_3">
    <p:bg>
      <p:bgPr>
        <a:solidFill>
          <a:srgbClr val="EAE7DC"/>
        </a:solidFill>
        <a:effectLst/>
      </p:bgPr>
    </p:bg>
    <p:spTree>
      <p:nvGrpSpPr>
        <p:cNvPr id="1" name="Shape 16"/>
        <p:cNvGrpSpPr/>
        <p:nvPr/>
      </p:nvGrpSpPr>
      <p:grpSpPr>
        <a:xfrm>
          <a:off x="0" y="0"/>
          <a:ext cx="0" cy="0"/>
          <a:chOff x="0" y="0"/>
          <a:chExt cx="0" cy="0"/>
        </a:xfrm>
      </p:grpSpPr>
      <p:sp>
        <p:nvSpPr>
          <p:cNvPr id="17" name="Google Shape;17;p6"/>
          <p:cNvSpPr txBox="1">
            <a:spLocks noGrp="1"/>
          </p:cNvSpPr>
          <p:nvPr>
            <p:ph type="title"/>
          </p:nvPr>
        </p:nvSpPr>
        <p:spPr>
          <a:xfrm>
            <a:off x="399300" y="1431150"/>
            <a:ext cx="8345400" cy="22812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Clr>
                <a:srgbClr val="1F2937"/>
              </a:buClr>
              <a:buSzPts val="5600"/>
              <a:buFont typeface="Inter"/>
              <a:buNone/>
              <a:defRPr sz="5600" b="1">
                <a:solidFill>
                  <a:srgbClr val="1F2937"/>
                </a:solidFill>
                <a:latin typeface="Inter"/>
                <a:ea typeface="Inter"/>
                <a:cs typeface="Inter"/>
                <a:sym typeface="Inter"/>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128">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ásica con título 1">
  <p:cSld name="DEFAULT_4">
    <p:bg>
      <p:bgPr>
        <a:solidFill>
          <a:srgbClr val="EAE7DC"/>
        </a:solidFill>
        <a:effectLst/>
      </p:bgPr>
    </p:bg>
    <p:spTree>
      <p:nvGrpSpPr>
        <p:cNvPr id="1" name="Shape 18"/>
        <p:cNvGrpSpPr/>
        <p:nvPr/>
      </p:nvGrpSpPr>
      <p:grpSpPr>
        <a:xfrm>
          <a:off x="0" y="0"/>
          <a:ext cx="0" cy="0"/>
          <a:chOff x="0" y="0"/>
          <a:chExt cx="0" cy="0"/>
        </a:xfrm>
      </p:grpSpPr>
      <p:sp>
        <p:nvSpPr>
          <p:cNvPr id="19" name="Google Shape;19;p7"/>
          <p:cNvSpPr txBox="1">
            <a:spLocks noGrp="1"/>
          </p:cNvSpPr>
          <p:nvPr>
            <p:ph type="title"/>
          </p:nvPr>
        </p:nvSpPr>
        <p:spPr>
          <a:xfrm>
            <a:off x="147103" y="338000"/>
            <a:ext cx="8578500" cy="906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1F2937"/>
              </a:buClr>
              <a:buSzPts val="5600"/>
              <a:buFont typeface="Inter"/>
              <a:buNone/>
              <a:defRPr sz="5600" b="1">
                <a:solidFill>
                  <a:srgbClr val="1F2937"/>
                </a:solidFill>
                <a:latin typeface="Inter"/>
                <a:ea typeface="Inter"/>
                <a:cs typeface="Inter"/>
                <a:sym typeface="Int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128">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ásica con título 3">
  <p:cSld name="DEFAULT_5">
    <p:bg>
      <p:bgPr>
        <a:solidFill>
          <a:srgbClr val="EAE7DC"/>
        </a:solidFill>
        <a:effectLst/>
      </p:bgPr>
    </p:bg>
    <p:spTree>
      <p:nvGrpSpPr>
        <p:cNvPr id="1" name="Shape 20"/>
        <p:cNvGrpSpPr/>
        <p:nvPr/>
      </p:nvGrpSpPr>
      <p:grpSpPr>
        <a:xfrm>
          <a:off x="0" y="0"/>
          <a:ext cx="0" cy="0"/>
          <a:chOff x="0" y="0"/>
          <a:chExt cx="0" cy="0"/>
        </a:xfrm>
      </p:grpSpPr>
      <p:sp>
        <p:nvSpPr>
          <p:cNvPr id="21" name="Google Shape;21;p8"/>
          <p:cNvSpPr txBox="1">
            <a:spLocks noGrp="1"/>
          </p:cNvSpPr>
          <p:nvPr>
            <p:ph type="title"/>
          </p:nvPr>
        </p:nvSpPr>
        <p:spPr>
          <a:xfrm>
            <a:off x="147103" y="338000"/>
            <a:ext cx="8578500" cy="906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1F2937"/>
              </a:buClr>
              <a:buSzPts val="5600"/>
              <a:buFont typeface="Inter"/>
              <a:buNone/>
              <a:defRPr sz="5600" b="1">
                <a:solidFill>
                  <a:srgbClr val="1F2937"/>
                </a:solidFill>
                <a:latin typeface="Inter"/>
                <a:ea typeface="Inter"/>
                <a:cs typeface="Inter"/>
                <a:sym typeface="Int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128">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ásica con título 6">
  <p:cSld name="DEFAULT_8">
    <p:bg>
      <p:bgPr>
        <a:solidFill>
          <a:srgbClr val="EAE7DC"/>
        </a:solidFill>
        <a:effectLst/>
      </p:bgPr>
    </p:bg>
    <p:spTree>
      <p:nvGrpSpPr>
        <p:cNvPr id="1" name="Shape 26"/>
        <p:cNvGrpSpPr/>
        <p:nvPr/>
      </p:nvGrpSpPr>
      <p:grpSpPr>
        <a:xfrm>
          <a:off x="0" y="0"/>
          <a:ext cx="0" cy="0"/>
          <a:chOff x="0" y="0"/>
          <a:chExt cx="0" cy="0"/>
        </a:xfrm>
      </p:grpSpPr>
      <p:sp>
        <p:nvSpPr>
          <p:cNvPr id="27" name="Google Shape;27;p11"/>
          <p:cNvSpPr txBox="1">
            <a:spLocks noGrp="1"/>
          </p:cNvSpPr>
          <p:nvPr>
            <p:ph type="title"/>
          </p:nvPr>
        </p:nvSpPr>
        <p:spPr>
          <a:xfrm>
            <a:off x="147103" y="338000"/>
            <a:ext cx="8578500" cy="906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1F2937"/>
              </a:buClr>
              <a:buSzPts val="5600"/>
              <a:buFont typeface="Inter"/>
              <a:buNone/>
              <a:defRPr sz="5600" b="1">
                <a:solidFill>
                  <a:srgbClr val="1F2937"/>
                </a:solidFill>
                <a:latin typeface="Inter"/>
                <a:ea typeface="Inter"/>
                <a:cs typeface="Inter"/>
                <a:sym typeface="Int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128">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EAE7DC"/>
        </a:solidFill>
        <a:effectLst/>
      </p:bgPr>
    </p:bg>
    <p:spTree>
      <p:nvGrpSpPr>
        <p:cNvPr id="1" name="Shape 5"/>
        <p:cNvGrpSpPr/>
        <p:nvPr/>
      </p:nvGrpSpPr>
      <p:grpSpPr>
        <a:xfrm>
          <a:off x="0" y="0"/>
          <a:ext cx="0" cy="0"/>
          <a:chOff x="0" y="0"/>
          <a:chExt cx="0" cy="0"/>
        </a:xfrm>
      </p:grpSpPr>
      <p:sp>
        <p:nvSpPr>
          <p:cNvPr id="6" name="Google Shape;6;p1"/>
          <p:cNvSpPr txBox="1"/>
          <p:nvPr/>
        </p:nvSpPr>
        <p:spPr>
          <a:xfrm>
            <a:off x="524700" y="4699575"/>
            <a:ext cx="1812300" cy="261600"/>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800" b="0" i="0" u="none" strike="noStrike" cap="none">
                <a:solidFill>
                  <a:srgbClr val="1F2937"/>
                </a:solidFill>
                <a:latin typeface="Calibri"/>
                <a:ea typeface="Calibri"/>
                <a:cs typeface="Calibri"/>
                <a:sym typeface="Calibri"/>
              </a:rPr>
              <a:t>Think&amp;Hack by ainalluna.com</a:t>
            </a:r>
            <a:endParaRPr sz="800" b="0" i="0" u="none" strike="noStrike" cap="none">
              <a:solidFill>
                <a:srgbClr val="1F2937"/>
              </a:solidFill>
              <a:latin typeface="Calibri"/>
              <a:ea typeface="Calibri"/>
              <a:cs typeface="Calibri"/>
              <a:sym typeface="Calibri"/>
            </a:endParaRPr>
          </a:p>
        </p:txBody>
      </p:sp>
      <p:pic>
        <p:nvPicPr>
          <p:cNvPr id="7" name="Google Shape;7;p1" title="thinkhack_logo_alta-removebg-preview.png"/>
          <p:cNvPicPr preferRelativeResize="0"/>
          <p:nvPr/>
        </p:nvPicPr>
        <p:blipFill rotWithShape="1">
          <a:blip r:embed="rId9">
            <a:alphaModFix/>
          </a:blip>
          <a:srcRect/>
          <a:stretch/>
        </p:blipFill>
        <p:spPr>
          <a:xfrm>
            <a:off x="259200" y="4699575"/>
            <a:ext cx="265500" cy="2655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7"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ainalluna.com/" TargetMode="External"/><Relationship Id="rId5" Type="http://schemas.openxmlformats.org/officeDocument/2006/relationships/hyperlink" Target="https://ainalluna.substack.com/" TargetMode="External"/><Relationship Id="rId4" Type="http://schemas.openxmlformats.org/officeDocument/2006/relationships/hyperlink" Target="https://www.linkedin.com/in/ainataylor/"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drive.google.com/file/d/16vhVGY8Yf9FQ8qv-nFxn_hXr8-_k03tt/view"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ainalluna.substack.com/"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seoutopico/sistema-editorial-agentico"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grpSp>
        <p:nvGrpSpPr>
          <p:cNvPr id="55" name="Google Shape;55;p23"/>
          <p:cNvGrpSpPr/>
          <p:nvPr/>
        </p:nvGrpSpPr>
        <p:grpSpPr>
          <a:xfrm>
            <a:off x="232198" y="1086363"/>
            <a:ext cx="8679605" cy="2970775"/>
            <a:chOff x="140445" y="358900"/>
            <a:chExt cx="8679605" cy="2970775"/>
          </a:xfrm>
        </p:grpSpPr>
        <p:sp>
          <p:nvSpPr>
            <p:cNvPr id="56" name="Google Shape;56;p23"/>
            <p:cNvSpPr txBox="1"/>
            <p:nvPr/>
          </p:nvSpPr>
          <p:spPr>
            <a:xfrm>
              <a:off x="140450" y="358900"/>
              <a:ext cx="8679600" cy="7827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Clr>
                  <a:schemeClr val="dk1"/>
                </a:buClr>
                <a:buSzPts val="1100"/>
                <a:buFont typeface="Arial"/>
                <a:buNone/>
              </a:pPr>
              <a:r>
                <a:rPr lang="es" sz="5800" b="1">
                  <a:solidFill>
                    <a:srgbClr val="1F2937"/>
                  </a:solidFill>
                  <a:latin typeface="Inter"/>
                  <a:ea typeface="Inter"/>
                  <a:cs typeface="Inter"/>
                  <a:sym typeface="Inter"/>
                </a:rPr>
                <a:t>De chat a </a:t>
              </a:r>
              <a:r>
                <a:rPr lang="es" sz="5800" b="1">
                  <a:solidFill>
                    <a:schemeClr val="lt1"/>
                  </a:solidFill>
                  <a:highlight>
                    <a:srgbClr val="FD6534"/>
                  </a:highlight>
                  <a:latin typeface="Inter"/>
                  <a:ea typeface="Inter"/>
                  <a:cs typeface="Inter"/>
                  <a:sym typeface="Inter"/>
                </a:rPr>
                <a:t>sistemas</a:t>
              </a:r>
              <a:r>
                <a:rPr lang="es" sz="5800" b="1">
                  <a:solidFill>
                    <a:srgbClr val="1F2937"/>
                  </a:solidFill>
                  <a:latin typeface="Inter"/>
                  <a:ea typeface="Inter"/>
                  <a:cs typeface="Inter"/>
                  <a:sym typeface="Inter"/>
                </a:rPr>
                <a:t> </a:t>
              </a:r>
              <a:endParaRPr sz="5800" b="1" i="0" u="none" strike="noStrike" cap="none">
                <a:solidFill>
                  <a:srgbClr val="1F2937"/>
                </a:solidFill>
                <a:latin typeface="Inter"/>
                <a:ea typeface="Inter"/>
                <a:cs typeface="Inter"/>
                <a:sym typeface="Inter"/>
              </a:endParaRPr>
            </a:p>
          </p:txBody>
        </p:sp>
        <p:sp>
          <p:nvSpPr>
            <p:cNvPr id="57" name="Google Shape;57;p23"/>
            <p:cNvSpPr txBox="1"/>
            <p:nvPr/>
          </p:nvSpPr>
          <p:spPr>
            <a:xfrm>
              <a:off x="270000" y="2867975"/>
              <a:ext cx="8550000" cy="4617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s" sz="1800" b="1">
                  <a:solidFill>
                    <a:srgbClr val="1F2937"/>
                  </a:solidFill>
                  <a:latin typeface="Inter"/>
                  <a:ea typeface="Inter"/>
                  <a:cs typeface="Inter"/>
                  <a:sym typeface="Inter"/>
                </a:rPr>
                <a:t>ConIA - Madrid - 17 octubre 2026</a:t>
              </a:r>
              <a:endParaRPr sz="100" b="1"/>
            </a:p>
          </p:txBody>
        </p:sp>
        <p:sp>
          <p:nvSpPr>
            <p:cNvPr id="58" name="Google Shape;58;p23"/>
            <p:cNvSpPr txBox="1"/>
            <p:nvPr/>
          </p:nvSpPr>
          <p:spPr>
            <a:xfrm>
              <a:off x="140445" y="1333238"/>
              <a:ext cx="8679600" cy="1343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s" sz="3500">
                  <a:solidFill>
                    <a:srgbClr val="1F2937"/>
                  </a:solidFill>
                  <a:latin typeface="Inter"/>
                  <a:ea typeface="Inter"/>
                  <a:cs typeface="Inter"/>
                  <a:sym typeface="Inter"/>
                </a:rPr>
                <a:t>Las skills convierten la </a:t>
              </a:r>
              <a:r>
                <a:rPr lang="es" sz="3500" b="1">
                  <a:solidFill>
                    <a:srgbClr val="1F2937"/>
                  </a:solidFill>
                  <a:latin typeface="Inter"/>
                  <a:ea typeface="Inter"/>
                  <a:cs typeface="Inter"/>
                  <a:sym typeface="Inter"/>
                </a:rPr>
                <a:t>IA</a:t>
              </a:r>
              <a:r>
                <a:rPr lang="es" sz="3500">
                  <a:solidFill>
                    <a:srgbClr val="1F2937"/>
                  </a:solidFill>
                  <a:latin typeface="Inter"/>
                  <a:ea typeface="Inter"/>
                  <a:cs typeface="Inter"/>
                  <a:sym typeface="Inter"/>
                </a:rPr>
                <a:t> en tu equipo de marketing</a:t>
              </a:r>
              <a:endParaRPr sz="1200">
                <a:solidFill>
                  <a:srgbClr val="1F2937"/>
                </a:solidFill>
                <a:latin typeface="Inter"/>
                <a:ea typeface="Inter"/>
                <a:cs typeface="Inter"/>
                <a:sym typeface="Inte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24"/>
          <p:cNvSpPr txBox="1"/>
          <p:nvPr/>
        </p:nvSpPr>
        <p:spPr>
          <a:xfrm>
            <a:off x="269875" y="1423069"/>
            <a:ext cx="3723000" cy="866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605"/>
              <a:buNone/>
            </a:pPr>
            <a:r>
              <a:rPr lang="es" sz="2379" b="1">
                <a:solidFill>
                  <a:srgbClr val="1F2937"/>
                </a:solidFill>
                <a:latin typeface="Inter"/>
                <a:ea typeface="Inter"/>
                <a:cs typeface="Inter"/>
                <a:sym typeface="Inter"/>
              </a:rPr>
              <a:t>Head of Generative AI</a:t>
            </a:r>
            <a:r>
              <a:rPr lang="es" sz="1870">
                <a:solidFill>
                  <a:schemeClr val="dk1"/>
                </a:solidFill>
              </a:rPr>
              <a:t> </a:t>
            </a:r>
            <a:r>
              <a:rPr lang="es" sz="2379" b="1">
                <a:solidFill>
                  <a:srgbClr val="1F2937"/>
                </a:solidFill>
                <a:latin typeface="Inter"/>
                <a:ea typeface="Inter"/>
                <a:cs typeface="Inter"/>
                <a:sym typeface="Inter"/>
              </a:rPr>
              <a:t>en Editorial Planeta</a:t>
            </a:r>
            <a:endParaRPr sz="1760" b="1">
              <a:solidFill>
                <a:schemeClr val="dk1"/>
              </a:solidFill>
            </a:endParaRPr>
          </a:p>
          <a:p>
            <a:pPr marL="0" lvl="0" indent="0" algn="l" rtl="0">
              <a:lnSpc>
                <a:spcPct val="115000"/>
              </a:lnSpc>
              <a:spcBef>
                <a:spcPts val="1200"/>
              </a:spcBef>
              <a:spcAft>
                <a:spcPts val="1200"/>
              </a:spcAft>
              <a:buSzPts val="605"/>
              <a:buNone/>
            </a:pPr>
            <a:endParaRPr sz="770">
              <a:solidFill>
                <a:schemeClr val="dk1"/>
              </a:solidFill>
            </a:endParaRPr>
          </a:p>
        </p:txBody>
      </p:sp>
      <p:pic>
        <p:nvPicPr>
          <p:cNvPr id="64" name="Google Shape;64;p24"/>
          <p:cNvPicPr preferRelativeResize="0"/>
          <p:nvPr/>
        </p:nvPicPr>
        <p:blipFill>
          <a:blip r:embed="rId3">
            <a:alphaModFix/>
          </a:blip>
          <a:stretch>
            <a:fillRect/>
          </a:stretch>
        </p:blipFill>
        <p:spPr>
          <a:xfrm>
            <a:off x="6327200" y="1473300"/>
            <a:ext cx="2012650" cy="2012650"/>
          </a:xfrm>
          <a:prstGeom prst="rect">
            <a:avLst/>
          </a:prstGeom>
          <a:noFill/>
          <a:ln>
            <a:noFill/>
          </a:ln>
        </p:spPr>
      </p:pic>
      <p:sp>
        <p:nvSpPr>
          <p:cNvPr id="65" name="Google Shape;65;p24"/>
          <p:cNvSpPr txBox="1"/>
          <p:nvPr/>
        </p:nvSpPr>
        <p:spPr>
          <a:xfrm>
            <a:off x="270000" y="2791431"/>
            <a:ext cx="5622900" cy="8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2025">
                <a:solidFill>
                  <a:srgbClr val="1F2937"/>
                </a:solidFill>
                <a:latin typeface="Inter"/>
                <a:ea typeface="Inter"/>
                <a:cs typeface="Inter"/>
                <a:sym typeface="Inter"/>
              </a:rPr>
              <a:t>Creo sistemas de IA aplicados</a:t>
            </a:r>
            <a:endParaRPr>
              <a:solidFill>
                <a:schemeClr val="dk1"/>
              </a:solidFill>
            </a:endParaRPr>
          </a:p>
          <a:p>
            <a:pPr marL="0" lvl="0" indent="0" algn="l" rtl="0">
              <a:spcBef>
                <a:spcPts val="0"/>
              </a:spcBef>
              <a:spcAft>
                <a:spcPts val="0"/>
              </a:spcAft>
              <a:buNone/>
            </a:pPr>
            <a:r>
              <a:rPr lang="es" sz="2025">
                <a:solidFill>
                  <a:srgbClr val="1F2937"/>
                </a:solidFill>
                <a:latin typeface="Inter"/>
                <a:ea typeface="Inter"/>
                <a:cs typeface="Inter"/>
                <a:sym typeface="Inter"/>
              </a:rPr>
              <a:t>a procesos. Y escribo Think&amp;Hack.</a:t>
            </a:r>
            <a:endParaRPr/>
          </a:p>
        </p:txBody>
      </p:sp>
      <p:sp>
        <p:nvSpPr>
          <p:cNvPr id="66" name="Google Shape;66;p24"/>
          <p:cNvSpPr txBox="1"/>
          <p:nvPr/>
        </p:nvSpPr>
        <p:spPr>
          <a:xfrm>
            <a:off x="269875" y="3741400"/>
            <a:ext cx="3000000" cy="743400"/>
          </a:xfrm>
          <a:prstGeom prst="rect">
            <a:avLst/>
          </a:prstGeom>
          <a:noFill/>
          <a:ln>
            <a:noFill/>
          </a:ln>
        </p:spPr>
        <p:txBody>
          <a:bodyPr spcFirstLastPara="1" wrap="square" lIns="91425" tIns="91425" rIns="91425" bIns="91425" anchor="t" anchorCtr="0">
            <a:spAutoFit/>
          </a:bodyPr>
          <a:lstStyle/>
          <a:p>
            <a:pPr marL="457200" lvl="0" indent="-298450" algn="l" rtl="0">
              <a:lnSpc>
                <a:spcPct val="115000"/>
              </a:lnSpc>
              <a:spcBef>
                <a:spcPts val="0"/>
              </a:spcBef>
              <a:spcAft>
                <a:spcPts val="0"/>
              </a:spcAft>
              <a:buClr>
                <a:schemeClr val="dk1"/>
              </a:buClr>
              <a:buSzPts val="1100"/>
              <a:buFont typeface="Arial"/>
              <a:buChar char="●"/>
            </a:pPr>
            <a:r>
              <a:rPr lang="es" sz="1100">
                <a:solidFill>
                  <a:schemeClr val="dk1"/>
                </a:solidFill>
                <a:uFill>
                  <a:noFill/>
                </a:uFill>
                <a:hlinkClick r:id="rId4">
                  <a:extLst>
                    <a:ext uri="{A12FA001-AC4F-418D-AE19-62706E023703}">
                      <ahyp:hlinkClr xmlns:ahyp="http://schemas.microsoft.com/office/drawing/2018/hyperlinkcolor" val="tx"/>
                    </a:ext>
                  </a:extLst>
                </a:hlinkClick>
              </a:rPr>
              <a:t>https://www.linkedin.com/in/ainataylor/</a:t>
            </a:r>
            <a:r>
              <a:rPr lang="es" sz="1100">
                <a:solidFill>
                  <a:schemeClr val="dk1"/>
                </a:solidFill>
                <a:uFill>
                  <a:noFill/>
                </a:uFill>
                <a:hlinkClick r:id="rId5">
                  <a:extLst>
                    <a:ext uri="{A12FA001-AC4F-418D-AE19-62706E023703}">
                      <ahyp:hlinkClr xmlns:ahyp="http://schemas.microsoft.com/office/drawing/2018/hyperlinkcolor" val="tx"/>
                    </a:ext>
                  </a:extLst>
                </a:hlinkClick>
              </a:rPr>
              <a:t> </a:t>
            </a:r>
            <a:endParaRPr sz="1100">
              <a:solidFill>
                <a:schemeClr val="dk1"/>
              </a:solidFill>
            </a:endParaRPr>
          </a:p>
          <a:p>
            <a:pPr marL="457200" lvl="0" indent="-298450" algn="l" rtl="0">
              <a:lnSpc>
                <a:spcPct val="115000"/>
              </a:lnSpc>
              <a:spcBef>
                <a:spcPts val="0"/>
              </a:spcBef>
              <a:spcAft>
                <a:spcPts val="0"/>
              </a:spcAft>
              <a:buClr>
                <a:schemeClr val="dk1"/>
              </a:buClr>
              <a:buSzPts val="1100"/>
              <a:buFont typeface="Arial"/>
              <a:buChar char="●"/>
            </a:pPr>
            <a:r>
              <a:rPr lang="es" sz="1100">
                <a:solidFill>
                  <a:schemeClr val="dk1"/>
                </a:solidFill>
                <a:uFill>
                  <a:noFill/>
                </a:uFill>
                <a:hlinkClick r:id="rId5">
                  <a:extLst>
                    <a:ext uri="{A12FA001-AC4F-418D-AE19-62706E023703}">
                      <ahyp:hlinkClr xmlns:ahyp="http://schemas.microsoft.com/office/drawing/2018/hyperlinkcolor" val="tx"/>
                    </a:ext>
                  </a:extLst>
                </a:hlinkClick>
              </a:rPr>
              <a:t>https://ainalluna.substack.com/</a:t>
            </a:r>
            <a:endParaRPr sz="1100">
              <a:solidFill>
                <a:schemeClr val="dk1"/>
              </a:solidFill>
            </a:endParaRPr>
          </a:p>
          <a:p>
            <a:pPr marL="457200" lvl="0" indent="-298450" algn="l" rtl="0">
              <a:lnSpc>
                <a:spcPct val="115000"/>
              </a:lnSpc>
              <a:spcBef>
                <a:spcPts val="0"/>
              </a:spcBef>
              <a:spcAft>
                <a:spcPts val="0"/>
              </a:spcAft>
              <a:buClr>
                <a:schemeClr val="dk1"/>
              </a:buClr>
              <a:buSzPts val="1100"/>
              <a:buFont typeface="Arial"/>
              <a:buChar char="●"/>
            </a:pPr>
            <a:r>
              <a:rPr lang="es" sz="1100">
                <a:solidFill>
                  <a:schemeClr val="dk1"/>
                </a:solidFill>
                <a:uFill>
                  <a:noFill/>
                </a:uFill>
                <a:hlinkClick r:id="rId6">
                  <a:extLst>
                    <a:ext uri="{A12FA001-AC4F-418D-AE19-62706E023703}">
                      <ahyp:hlinkClr xmlns:ahyp="http://schemas.microsoft.com/office/drawing/2018/hyperlinkcolor" val="tx"/>
                    </a:ext>
                  </a:extLst>
                </a:hlinkClick>
              </a:rPr>
              <a:t>https://ainalluna.com/</a:t>
            </a:r>
            <a:r>
              <a:rPr lang="es" sz="1100">
                <a:solidFill>
                  <a:schemeClr val="dk1"/>
                </a:solidFill>
              </a:rPr>
              <a:t> </a:t>
            </a:r>
            <a:endParaRPr/>
          </a:p>
        </p:txBody>
      </p:sp>
      <p:sp>
        <p:nvSpPr>
          <p:cNvPr id="67" name="Google Shape;67;p24"/>
          <p:cNvSpPr txBox="1"/>
          <p:nvPr/>
        </p:nvSpPr>
        <p:spPr>
          <a:xfrm>
            <a:off x="269875" y="664500"/>
            <a:ext cx="6087900" cy="616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s" sz="2808" b="1">
                <a:solidFill>
                  <a:schemeClr val="dk1"/>
                </a:solidFill>
              </a:rPr>
              <a:t>Aina-Lluna Taylor Barceló </a:t>
            </a:r>
            <a:endParaRPr sz="2908"/>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pic>
        <p:nvPicPr>
          <p:cNvPr id="72" name="Google Shape;72;p25"/>
          <p:cNvPicPr preferRelativeResize="0"/>
          <p:nvPr/>
        </p:nvPicPr>
        <p:blipFill>
          <a:blip r:embed="rId3">
            <a:alphaModFix/>
          </a:blip>
          <a:stretch>
            <a:fillRect/>
          </a:stretch>
        </p:blipFill>
        <p:spPr>
          <a:xfrm>
            <a:off x="4729563" y="219850"/>
            <a:ext cx="2714625" cy="381000"/>
          </a:xfrm>
          <a:prstGeom prst="rect">
            <a:avLst/>
          </a:prstGeom>
          <a:noFill/>
          <a:ln w="38100" cap="flat" cmpd="sng">
            <a:solidFill>
              <a:srgbClr val="FF0000"/>
            </a:solidFill>
            <a:prstDash val="solid"/>
            <a:round/>
            <a:headEnd type="none" w="sm" len="sm"/>
            <a:tailEnd type="none" w="sm" len="sm"/>
          </a:ln>
        </p:spPr>
      </p:pic>
      <p:pic>
        <p:nvPicPr>
          <p:cNvPr id="73" name="Google Shape;73;p25"/>
          <p:cNvPicPr preferRelativeResize="0"/>
          <p:nvPr/>
        </p:nvPicPr>
        <p:blipFill>
          <a:blip r:embed="rId4">
            <a:alphaModFix/>
          </a:blip>
          <a:stretch>
            <a:fillRect/>
          </a:stretch>
        </p:blipFill>
        <p:spPr>
          <a:xfrm>
            <a:off x="4067402" y="0"/>
            <a:ext cx="5113721" cy="5143500"/>
          </a:xfrm>
          <a:prstGeom prst="rect">
            <a:avLst/>
          </a:prstGeom>
          <a:noFill/>
          <a:ln>
            <a:noFill/>
          </a:ln>
        </p:spPr>
      </p:pic>
      <p:sp>
        <p:nvSpPr>
          <p:cNvPr id="74" name="Google Shape;74;p25"/>
          <p:cNvSpPr txBox="1"/>
          <p:nvPr/>
        </p:nvSpPr>
        <p:spPr>
          <a:xfrm>
            <a:off x="269878" y="552000"/>
            <a:ext cx="8578500" cy="90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5600" b="1">
                <a:solidFill>
                  <a:srgbClr val="1F2937"/>
                </a:solidFill>
                <a:latin typeface="Inter"/>
                <a:ea typeface="Inter"/>
                <a:cs typeface="Inter"/>
                <a:sym typeface="Inter"/>
              </a:rPr>
              <a:t>TikTok</a:t>
            </a:r>
            <a:endParaRPr sz="5600" b="1">
              <a:solidFill>
                <a:srgbClr val="1F2937"/>
              </a:solidFill>
              <a:latin typeface="Inter"/>
              <a:ea typeface="Inter"/>
              <a:cs typeface="Inter"/>
              <a:sym typeface="Inter"/>
            </a:endParaRPr>
          </a:p>
          <a:p>
            <a:pPr marL="0" lvl="0" indent="0" algn="l" rtl="0">
              <a:spcBef>
                <a:spcPts val="0"/>
              </a:spcBef>
              <a:spcAft>
                <a:spcPts val="0"/>
              </a:spcAft>
              <a:buNone/>
            </a:pPr>
            <a:r>
              <a:rPr lang="es" sz="5600" b="1">
                <a:solidFill>
                  <a:srgbClr val="1F2937"/>
                </a:solidFill>
                <a:latin typeface="Inter"/>
                <a:ea typeface="Inter"/>
                <a:cs typeface="Inter"/>
                <a:sym typeface="Inter"/>
              </a:rPr>
              <a:t>35K</a:t>
            </a:r>
            <a:endParaRPr sz="5600" b="1">
              <a:solidFill>
                <a:srgbClr val="1F2937"/>
              </a:solidFill>
              <a:latin typeface="Inter"/>
              <a:ea typeface="Inter"/>
              <a:cs typeface="Inter"/>
              <a:sym typeface="Inter"/>
            </a:endParaRPr>
          </a:p>
        </p:txBody>
      </p:sp>
      <p:sp>
        <p:nvSpPr>
          <p:cNvPr id="75" name="Google Shape;75;p25"/>
          <p:cNvSpPr txBox="1"/>
          <p:nvPr/>
        </p:nvSpPr>
        <p:spPr>
          <a:xfrm>
            <a:off x="270000" y="2395100"/>
            <a:ext cx="3750900" cy="1052700"/>
          </a:xfrm>
          <a:prstGeom prst="rect">
            <a:avLst/>
          </a:prstGeom>
          <a:noFill/>
          <a:ln>
            <a:noFill/>
          </a:ln>
        </p:spPr>
        <p:txBody>
          <a:bodyPr spcFirstLastPara="1" wrap="square" lIns="91425" tIns="91425" rIns="91425" bIns="91425" anchor="ctr" anchorCtr="0">
            <a:spAutoFit/>
          </a:bodyPr>
          <a:lstStyle/>
          <a:p>
            <a:pPr marL="0" lvl="0" indent="0" algn="l" rtl="0">
              <a:lnSpc>
                <a:spcPct val="115000"/>
              </a:lnSpc>
              <a:spcBef>
                <a:spcPts val="0"/>
              </a:spcBef>
              <a:spcAft>
                <a:spcPts val="0"/>
              </a:spcAft>
              <a:buNone/>
            </a:pPr>
            <a:r>
              <a:rPr lang="es" sz="1800"/>
              <a:t>Cuentas virales en redes</a:t>
            </a:r>
            <a:endParaRPr sz="1800"/>
          </a:p>
          <a:p>
            <a:pPr marL="0" lvl="0" indent="0" algn="l" rtl="0">
              <a:lnSpc>
                <a:spcPct val="115000"/>
              </a:lnSpc>
              <a:spcBef>
                <a:spcPts val="0"/>
              </a:spcBef>
              <a:spcAft>
                <a:spcPts val="0"/>
              </a:spcAft>
              <a:buNone/>
            </a:pPr>
            <a:r>
              <a:rPr lang="es" sz="1800"/>
              <a:t>sociales</a:t>
            </a:r>
            <a:endParaRPr sz="1800"/>
          </a:p>
          <a:p>
            <a:pPr marL="0" lvl="0" indent="0" algn="l" rtl="0">
              <a:lnSpc>
                <a:spcPct val="115000"/>
              </a:lnSpc>
              <a:spcBef>
                <a:spcPts val="0"/>
              </a:spcBef>
              <a:spcAft>
                <a:spcPts val="0"/>
              </a:spcAft>
              <a:buNone/>
            </a:pPr>
            <a:endParaRPr sz="15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79"/>
        <p:cNvGrpSpPr/>
        <p:nvPr/>
      </p:nvGrpSpPr>
      <p:grpSpPr>
        <a:xfrm>
          <a:off x="0" y="0"/>
          <a:ext cx="0" cy="0"/>
          <a:chOff x="0" y="0"/>
          <a:chExt cx="0" cy="0"/>
        </a:xfrm>
      </p:grpSpPr>
      <p:sp>
        <p:nvSpPr>
          <p:cNvPr id="80" name="Google Shape;80;p26"/>
          <p:cNvSpPr txBox="1"/>
          <p:nvPr/>
        </p:nvSpPr>
        <p:spPr>
          <a:xfrm>
            <a:off x="269878" y="552000"/>
            <a:ext cx="8578500" cy="90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5600" b="1">
                <a:solidFill>
                  <a:srgbClr val="1F2937"/>
                </a:solidFill>
                <a:latin typeface="Inter"/>
                <a:ea typeface="Inter"/>
                <a:cs typeface="Inter"/>
                <a:sym typeface="Inter"/>
              </a:rPr>
              <a:t>Análisis de </a:t>
            </a:r>
            <a:endParaRPr sz="5600" b="1">
              <a:solidFill>
                <a:srgbClr val="1F2937"/>
              </a:solidFill>
              <a:latin typeface="Inter"/>
              <a:ea typeface="Inter"/>
              <a:cs typeface="Inter"/>
              <a:sym typeface="Inter"/>
            </a:endParaRPr>
          </a:p>
          <a:p>
            <a:pPr marL="0" lvl="0" indent="0" algn="l" rtl="0">
              <a:spcBef>
                <a:spcPts val="0"/>
              </a:spcBef>
              <a:spcAft>
                <a:spcPts val="0"/>
              </a:spcAft>
              <a:buNone/>
            </a:pPr>
            <a:r>
              <a:rPr lang="es" sz="5600" b="1">
                <a:solidFill>
                  <a:srgbClr val="1F2937"/>
                </a:solidFill>
                <a:latin typeface="Inter"/>
                <a:ea typeface="Inter"/>
                <a:cs typeface="Inter"/>
                <a:sym typeface="Inter"/>
              </a:rPr>
              <a:t>entidades SEO</a:t>
            </a:r>
            <a:endParaRPr sz="5600" b="1">
              <a:solidFill>
                <a:srgbClr val="1F2937"/>
              </a:solidFill>
              <a:latin typeface="Inter"/>
              <a:ea typeface="Inter"/>
              <a:cs typeface="Inter"/>
              <a:sym typeface="Inter"/>
            </a:endParaRPr>
          </a:p>
          <a:p>
            <a:pPr marL="0" lvl="0" indent="0" algn="l" rtl="0">
              <a:spcBef>
                <a:spcPts val="0"/>
              </a:spcBef>
              <a:spcAft>
                <a:spcPts val="0"/>
              </a:spcAft>
              <a:buNone/>
            </a:pPr>
            <a:endParaRPr sz="5600" b="1">
              <a:solidFill>
                <a:srgbClr val="1F2937"/>
              </a:solidFill>
              <a:latin typeface="Inter"/>
              <a:ea typeface="Inter"/>
              <a:cs typeface="Inter"/>
              <a:sym typeface="Inter"/>
            </a:endParaRPr>
          </a:p>
        </p:txBody>
      </p:sp>
      <p:sp>
        <p:nvSpPr>
          <p:cNvPr id="81" name="Google Shape;81;p26"/>
          <p:cNvSpPr txBox="1"/>
          <p:nvPr/>
        </p:nvSpPr>
        <p:spPr>
          <a:xfrm>
            <a:off x="270000" y="2395100"/>
            <a:ext cx="5643900" cy="1052700"/>
          </a:xfrm>
          <a:prstGeom prst="rect">
            <a:avLst/>
          </a:prstGeom>
          <a:noFill/>
          <a:ln>
            <a:noFill/>
          </a:ln>
        </p:spPr>
        <p:txBody>
          <a:bodyPr spcFirstLastPara="1" wrap="square" lIns="91425" tIns="91425" rIns="91425" bIns="91425" anchor="ctr" anchorCtr="0">
            <a:spAutoFit/>
          </a:bodyPr>
          <a:lstStyle/>
          <a:p>
            <a:pPr marL="0" lvl="0" indent="0" algn="l" rtl="0">
              <a:lnSpc>
                <a:spcPct val="115000"/>
              </a:lnSpc>
              <a:spcBef>
                <a:spcPts val="0"/>
              </a:spcBef>
              <a:spcAft>
                <a:spcPts val="0"/>
              </a:spcAft>
              <a:buNone/>
            </a:pPr>
            <a:r>
              <a:rPr lang="es" sz="1800"/>
              <a:t>Detector de oportunidades de posicionamiento</a:t>
            </a:r>
            <a:endParaRPr sz="1800"/>
          </a:p>
          <a:p>
            <a:pPr marL="0" lvl="0" indent="0" algn="l" rtl="0">
              <a:lnSpc>
                <a:spcPct val="115000"/>
              </a:lnSpc>
              <a:spcBef>
                <a:spcPts val="0"/>
              </a:spcBef>
              <a:spcAft>
                <a:spcPts val="0"/>
              </a:spcAft>
              <a:buNone/>
            </a:pPr>
            <a:endParaRPr sz="1800"/>
          </a:p>
          <a:p>
            <a:pPr marL="0" lvl="0" indent="0" algn="l" rtl="0">
              <a:lnSpc>
                <a:spcPct val="115000"/>
              </a:lnSpc>
              <a:spcBef>
                <a:spcPts val="0"/>
              </a:spcBef>
              <a:spcAft>
                <a:spcPts val="0"/>
              </a:spcAft>
              <a:buNone/>
            </a:pPr>
            <a:endParaRPr sz="1500">
              <a:solidFill>
                <a:srgbClr val="000000"/>
              </a:solidFill>
            </a:endParaRPr>
          </a:p>
        </p:txBody>
      </p:sp>
      <p:pic>
        <p:nvPicPr>
          <p:cNvPr id="82" name="Google Shape;82;p26"/>
          <p:cNvPicPr preferRelativeResize="0"/>
          <p:nvPr/>
        </p:nvPicPr>
        <p:blipFill>
          <a:blip r:embed="rId3">
            <a:alphaModFix/>
          </a:blip>
          <a:stretch>
            <a:fillRect/>
          </a:stretch>
        </p:blipFill>
        <p:spPr>
          <a:xfrm>
            <a:off x="270000" y="3067077"/>
            <a:ext cx="3452798" cy="1600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86"/>
        <p:cNvGrpSpPr/>
        <p:nvPr/>
      </p:nvGrpSpPr>
      <p:grpSpPr>
        <a:xfrm>
          <a:off x="0" y="0"/>
          <a:ext cx="0" cy="0"/>
          <a:chOff x="0" y="0"/>
          <a:chExt cx="0" cy="0"/>
        </a:xfrm>
      </p:grpSpPr>
      <p:pic>
        <p:nvPicPr>
          <p:cNvPr id="87" name="Google Shape;87;p27" title="analisis_de_oportunidads.mp4">
            <a:hlinkClick r:id="rId3"/>
          </p:cNvPr>
          <p:cNvPicPr preferRelativeResize="0"/>
          <p:nvPr/>
        </p:nvPicPr>
        <p:blipFill>
          <a:blip r:embed="rId4">
            <a:alphaModFix/>
          </a:blip>
          <a:stretch>
            <a:fillRect/>
          </a:stretch>
        </p:blipFill>
        <p:spPr>
          <a:xfrm>
            <a:off x="4468725" y="0"/>
            <a:ext cx="4675276" cy="5143501"/>
          </a:xfrm>
          <a:prstGeom prst="rect">
            <a:avLst/>
          </a:prstGeom>
          <a:noFill/>
          <a:ln>
            <a:noFill/>
          </a:ln>
        </p:spPr>
      </p:pic>
      <p:sp>
        <p:nvSpPr>
          <p:cNvPr id="88" name="Google Shape;88;p27"/>
          <p:cNvSpPr txBox="1"/>
          <p:nvPr/>
        </p:nvSpPr>
        <p:spPr>
          <a:xfrm>
            <a:off x="269878" y="552000"/>
            <a:ext cx="8578500" cy="90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5600" b="1">
                <a:solidFill>
                  <a:srgbClr val="1F2937"/>
                </a:solidFill>
                <a:latin typeface="Inter"/>
                <a:ea typeface="Inter"/>
                <a:cs typeface="Inter"/>
                <a:sym typeface="Inter"/>
              </a:rPr>
              <a:t>Radar de </a:t>
            </a:r>
            <a:endParaRPr sz="5600" b="1">
              <a:solidFill>
                <a:srgbClr val="1F2937"/>
              </a:solidFill>
              <a:latin typeface="Inter"/>
              <a:ea typeface="Inter"/>
              <a:cs typeface="Inter"/>
              <a:sym typeface="Inter"/>
            </a:endParaRPr>
          </a:p>
          <a:p>
            <a:pPr marL="0" lvl="0" indent="0" algn="l" rtl="0">
              <a:spcBef>
                <a:spcPts val="0"/>
              </a:spcBef>
              <a:spcAft>
                <a:spcPts val="0"/>
              </a:spcAft>
              <a:buNone/>
            </a:pPr>
            <a:r>
              <a:rPr lang="es" sz="5600" b="1">
                <a:solidFill>
                  <a:srgbClr val="1F2937"/>
                </a:solidFill>
                <a:latin typeface="Inter"/>
                <a:ea typeface="Inter"/>
                <a:cs typeface="Inter"/>
                <a:sym typeface="Inter"/>
              </a:rPr>
              <a:t>ideas</a:t>
            </a:r>
            <a:endParaRPr sz="5600" b="1">
              <a:solidFill>
                <a:srgbClr val="1F2937"/>
              </a:solidFill>
              <a:latin typeface="Inter"/>
              <a:ea typeface="Inter"/>
              <a:cs typeface="Inter"/>
              <a:sym typeface="Inter"/>
            </a:endParaRPr>
          </a:p>
        </p:txBody>
      </p:sp>
      <p:sp>
        <p:nvSpPr>
          <p:cNvPr id="89" name="Google Shape;89;p27"/>
          <p:cNvSpPr txBox="1"/>
          <p:nvPr/>
        </p:nvSpPr>
        <p:spPr>
          <a:xfrm>
            <a:off x="270000" y="2395100"/>
            <a:ext cx="4825500" cy="734100"/>
          </a:xfrm>
          <a:prstGeom prst="rect">
            <a:avLst/>
          </a:prstGeom>
          <a:noFill/>
          <a:ln>
            <a:noFill/>
          </a:ln>
        </p:spPr>
        <p:txBody>
          <a:bodyPr spcFirstLastPara="1" wrap="square" lIns="91425" tIns="91425" rIns="91425" bIns="91425" anchor="ctr" anchorCtr="0">
            <a:spAutoFit/>
          </a:bodyPr>
          <a:lstStyle/>
          <a:p>
            <a:pPr marL="0" lvl="0" indent="0" algn="l" rtl="0">
              <a:lnSpc>
                <a:spcPct val="115000"/>
              </a:lnSpc>
              <a:spcBef>
                <a:spcPts val="0"/>
              </a:spcBef>
              <a:spcAft>
                <a:spcPts val="0"/>
              </a:spcAft>
              <a:buNone/>
            </a:pPr>
            <a:r>
              <a:rPr lang="es" sz="1800"/>
              <a:t>Análisis de oportunidades</a:t>
            </a:r>
            <a:endParaRPr sz="1800">
              <a:solidFill>
                <a:srgbClr val="000000"/>
              </a:solidFill>
            </a:endParaRPr>
          </a:p>
          <a:p>
            <a:pPr marL="0" lvl="0" indent="0" algn="l" rtl="0">
              <a:lnSpc>
                <a:spcPct val="115000"/>
              </a:lnSpc>
              <a:spcBef>
                <a:spcPts val="0"/>
              </a:spcBef>
              <a:spcAft>
                <a:spcPts val="0"/>
              </a:spcAft>
              <a:buNone/>
            </a:pPr>
            <a:endParaRPr sz="150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fade">
                                      <p:cBhvr>
                                        <p:cTn id="7" dur="10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8"/>
          <p:cNvSpPr txBox="1"/>
          <p:nvPr/>
        </p:nvSpPr>
        <p:spPr>
          <a:xfrm>
            <a:off x="238125" y="775150"/>
            <a:ext cx="50007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s"/>
              <a:t>Pipo, SEO y Radar de ideas</a:t>
            </a:r>
            <a:endParaRPr/>
          </a:p>
        </p:txBody>
      </p:sp>
      <p:sp>
        <p:nvSpPr>
          <p:cNvPr id="95" name="Google Shape;95;p28"/>
          <p:cNvSpPr txBox="1"/>
          <p:nvPr/>
        </p:nvSpPr>
        <p:spPr>
          <a:xfrm>
            <a:off x="297000" y="1519650"/>
            <a:ext cx="8550000" cy="2203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s" sz="6100" b="1">
                <a:solidFill>
                  <a:schemeClr val="dk1"/>
                </a:solidFill>
                <a:latin typeface="Inter"/>
                <a:ea typeface="Inter"/>
                <a:cs typeface="Inter"/>
                <a:sym typeface="Inter"/>
              </a:rPr>
              <a:t>¿Qué tiene que ver un náufrago y el SEO?</a:t>
            </a:r>
            <a:endParaRPr sz="6100" b="1">
              <a:solidFill>
                <a:schemeClr val="dk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29" title="fondador_v5-ezgif.com-video-to-gif-converter.gif"/>
          <p:cNvPicPr preferRelativeResize="0"/>
          <p:nvPr/>
        </p:nvPicPr>
        <p:blipFill>
          <a:blip r:embed="rId3">
            <a:alphaModFix amt="41000"/>
          </a:blip>
          <a:stretch>
            <a:fillRect/>
          </a:stretch>
        </p:blipFill>
        <p:spPr>
          <a:xfrm>
            <a:off x="-14687" y="0"/>
            <a:ext cx="9173376" cy="5143500"/>
          </a:xfrm>
          <a:prstGeom prst="rect">
            <a:avLst/>
          </a:prstGeom>
          <a:noFill/>
          <a:ln>
            <a:noFill/>
          </a:ln>
        </p:spPr>
      </p:pic>
      <p:sp>
        <p:nvSpPr>
          <p:cNvPr id="101" name="Google Shape;101;p29"/>
          <p:cNvSpPr txBox="1"/>
          <p:nvPr/>
        </p:nvSpPr>
        <p:spPr>
          <a:xfrm>
            <a:off x="255313" y="704700"/>
            <a:ext cx="4343100" cy="3555600"/>
          </a:xfrm>
          <a:prstGeom prst="rect">
            <a:avLst/>
          </a:prstGeom>
          <a:noFill/>
          <a:ln>
            <a:noFill/>
          </a:ln>
        </p:spPr>
        <p:txBody>
          <a:bodyPr spcFirstLastPara="1" wrap="square" lIns="91425" tIns="91425" rIns="91425" bIns="91425" anchor="ctr" anchorCtr="0">
            <a:spAutoFit/>
          </a:bodyPr>
          <a:lstStyle/>
          <a:p>
            <a:pPr marL="0" marR="0" lvl="0" indent="0" algn="l" rtl="0">
              <a:lnSpc>
                <a:spcPct val="115000"/>
              </a:lnSpc>
              <a:spcBef>
                <a:spcPts val="1200"/>
              </a:spcBef>
              <a:spcAft>
                <a:spcPts val="0"/>
              </a:spcAft>
              <a:buClr>
                <a:schemeClr val="dk1"/>
              </a:buClr>
              <a:buSzPts val="1100"/>
              <a:buFont typeface="Arial"/>
              <a:buNone/>
            </a:pPr>
            <a:r>
              <a:rPr lang="es" sz="1700" b="1">
                <a:solidFill>
                  <a:schemeClr val="dk1"/>
                </a:solidFill>
              </a:rPr>
              <a:t>Tres proyectos diferentes.</a:t>
            </a:r>
            <a:endParaRPr sz="1700" b="1">
              <a:solidFill>
                <a:schemeClr val="dk1"/>
              </a:solidFill>
            </a:endParaRPr>
          </a:p>
          <a:p>
            <a:pPr marL="0" marR="0" lvl="0" indent="0" algn="l" rtl="0">
              <a:lnSpc>
                <a:spcPct val="115000"/>
              </a:lnSpc>
              <a:spcBef>
                <a:spcPts val="1200"/>
              </a:spcBef>
              <a:spcAft>
                <a:spcPts val="0"/>
              </a:spcAft>
              <a:buClr>
                <a:schemeClr val="dk1"/>
              </a:buClr>
              <a:buSzPts val="1100"/>
              <a:buFont typeface="Arial"/>
              <a:buNone/>
            </a:pPr>
            <a:r>
              <a:rPr lang="es" sz="1700" b="1">
                <a:solidFill>
                  <a:schemeClr val="dk1"/>
                </a:solidFill>
              </a:rPr>
              <a:t>Una misma forma de trabajar: convertir conocimiento y procesos en capacidades que la IA puede ejecutar.</a:t>
            </a:r>
            <a:endParaRPr sz="2400" b="1">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400">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s" sz="2400">
                <a:solidFill>
                  <a:schemeClr val="dk1"/>
                </a:solidFill>
              </a:rPr>
              <a:t>Vamos a aprender a</a:t>
            </a:r>
            <a:r>
              <a:rPr lang="es" sz="2400">
                <a:solidFill>
                  <a:schemeClr val="lt1"/>
                </a:solidFill>
              </a:rPr>
              <a:t> </a:t>
            </a:r>
            <a:r>
              <a:rPr lang="es" sz="2400">
                <a:solidFill>
                  <a:schemeClr val="lt1"/>
                </a:solidFill>
                <a:highlight>
                  <a:srgbClr val="FD6534"/>
                </a:highlight>
              </a:rPr>
              <a:t>diseñar procesos</a:t>
            </a:r>
            <a:r>
              <a:rPr lang="es" sz="2400">
                <a:solidFill>
                  <a:schemeClr val="dk1"/>
                </a:solidFill>
              </a:rPr>
              <a:t> donde la IA trabaja </a:t>
            </a:r>
            <a:r>
              <a:rPr lang="es" sz="2400">
                <a:solidFill>
                  <a:schemeClr val="lt1"/>
                </a:solidFill>
                <a:highlight>
                  <a:srgbClr val="FD6534"/>
                </a:highlight>
              </a:rPr>
              <a:t>con Agentes y </a:t>
            </a:r>
            <a:r>
              <a:rPr lang="es" sz="2800" b="1">
                <a:solidFill>
                  <a:schemeClr val="lt1"/>
                </a:solidFill>
                <a:highlight>
                  <a:srgbClr val="FD6534"/>
                </a:highlight>
              </a:rPr>
              <a:t>Skills</a:t>
            </a:r>
            <a:r>
              <a:rPr lang="es" sz="2400">
                <a:solidFill>
                  <a:schemeClr val="lt1"/>
                </a:solidFill>
                <a:highlight>
                  <a:srgbClr val="FD6534"/>
                </a:highlight>
              </a:rPr>
              <a:t>.</a:t>
            </a:r>
            <a:endParaRPr sz="2400">
              <a:solidFill>
                <a:schemeClr val="lt1"/>
              </a:solidFill>
              <a:highlight>
                <a:srgbClr val="FD6534"/>
              </a:highlight>
            </a:endParaRPr>
          </a:p>
        </p:txBody>
      </p:sp>
      <p:sp>
        <p:nvSpPr>
          <p:cNvPr id="102" name="Google Shape;102;p29"/>
          <p:cNvSpPr txBox="1"/>
          <p:nvPr/>
        </p:nvSpPr>
        <p:spPr>
          <a:xfrm>
            <a:off x="6566250" y="4365400"/>
            <a:ext cx="23475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a:p>
            <a:pPr marL="0" lvl="0" indent="0" algn="l" rtl="0">
              <a:spcBef>
                <a:spcPts val="0"/>
              </a:spcBef>
              <a:spcAft>
                <a:spcPts val="0"/>
              </a:spcAft>
              <a:buNone/>
            </a:pPr>
            <a:r>
              <a:rPr lang="es" sz="1300" b="1">
                <a:solidFill>
                  <a:srgbClr val="0F0F0F"/>
                </a:solidFill>
                <a:highlight>
                  <a:srgbClr val="FFFFFF"/>
                </a:highlight>
                <a:latin typeface="Roboto"/>
                <a:ea typeface="Roboto"/>
                <a:cs typeface="Roboto"/>
                <a:sym typeface="Roboto"/>
              </a:rPr>
              <a:t>Escena película: El fundador </a:t>
            </a:r>
            <a:r>
              <a:rPr lang="es" sz="900">
                <a:solidFill>
                  <a:schemeClr val="dk1"/>
                </a:solidFill>
              </a:rPr>
              <a:t> </a:t>
            </a: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grpSp>
        <p:nvGrpSpPr>
          <p:cNvPr id="107" name="Google Shape;107;p30"/>
          <p:cNvGrpSpPr/>
          <p:nvPr/>
        </p:nvGrpSpPr>
        <p:grpSpPr>
          <a:xfrm>
            <a:off x="278975" y="1413029"/>
            <a:ext cx="8541005" cy="2317443"/>
            <a:chOff x="113223" y="2691"/>
            <a:chExt cx="8541005" cy="2317443"/>
          </a:xfrm>
        </p:grpSpPr>
        <p:sp>
          <p:nvSpPr>
            <p:cNvPr id="108" name="Google Shape;108;p30"/>
            <p:cNvSpPr txBox="1"/>
            <p:nvPr/>
          </p:nvSpPr>
          <p:spPr>
            <a:xfrm>
              <a:off x="113227" y="2691"/>
              <a:ext cx="8541000" cy="7827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Clr>
                  <a:schemeClr val="dk1"/>
                </a:buClr>
                <a:buSzPts val="1100"/>
                <a:buFont typeface="Arial"/>
                <a:buNone/>
              </a:pPr>
              <a:r>
                <a:rPr lang="es" sz="5800" b="1">
                  <a:solidFill>
                    <a:srgbClr val="1F2937"/>
                  </a:solidFill>
                  <a:latin typeface="Inter"/>
                  <a:ea typeface="Inter"/>
                  <a:cs typeface="Inter"/>
                  <a:sym typeface="Inter"/>
                </a:rPr>
                <a:t>De chat a </a:t>
              </a:r>
              <a:r>
                <a:rPr lang="es" sz="5800" b="1">
                  <a:solidFill>
                    <a:schemeClr val="lt1"/>
                  </a:solidFill>
                  <a:highlight>
                    <a:srgbClr val="FD6534"/>
                  </a:highlight>
                  <a:latin typeface="Inter"/>
                  <a:ea typeface="Inter"/>
                  <a:cs typeface="Inter"/>
                  <a:sym typeface="Inter"/>
                </a:rPr>
                <a:t>sistemas</a:t>
              </a:r>
              <a:r>
                <a:rPr lang="es" sz="5800" b="1">
                  <a:solidFill>
                    <a:srgbClr val="1F2937"/>
                  </a:solidFill>
                  <a:latin typeface="Inter"/>
                  <a:ea typeface="Inter"/>
                  <a:cs typeface="Inter"/>
                  <a:sym typeface="Inter"/>
                </a:rPr>
                <a:t> </a:t>
              </a:r>
              <a:endParaRPr sz="5800" b="1" i="0" u="none" strike="noStrike" cap="none">
                <a:solidFill>
                  <a:srgbClr val="1F2937"/>
                </a:solidFill>
                <a:latin typeface="Inter"/>
                <a:ea typeface="Inter"/>
                <a:cs typeface="Inter"/>
                <a:sym typeface="Inter"/>
              </a:endParaRPr>
            </a:p>
          </p:txBody>
        </p:sp>
        <p:sp>
          <p:nvSpPr>
            <p:cNvPr id="109" name="Google Shape;109;p30"/>
            <p:cNvSpPr txBox="1"/>
            <p:nvPr/>
          </p:nvSpPr>
          <p:spPr>
            <a:xfrm>
              <a:off x="113223" y="977034"/>
              <a:ext cx="8541000" cy="1343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s" sz="3500">
                  <a:solidFill>
                    <a:srgbClr val="1F2937"/>
                  </a:solidFill>
                  <a:latin typeface="Inter"/>
                  <a:ea typeface="Inter"/>
                  <a:cs typeface="Inter"/>
                  <a:sym typeface="Inter"/>
                </a:rPr>
                <a:t>Las skills convierten la </a:t>
              </a:r>
              <a:r>
                <a:rPr lang="es" sz="3500" b="1">
                  <a:solidFill>
                    <a:srgbClr val="1F2937"/>
                  </a:solidFill>
                  <a:latin typeface="Inter"/>
                  <a:ea typeface="Inter"/>
                  <a:cs typeface="Inter"/>
                  <a:sym typeface="Inter"/>
                </a:rPr>
                <a:t>IA</a:t>
              </a:r>
              <a:r>
                <a:rPr lang="es" sz="3500">
                  <a:solidFill>
                    <a:srgbClr val="1F2937"/>
                  </a:solidFill>
                  <a:latin typeface="Inter"/>
                  <a:ea typeface="Inter"/>
                  <a:cs typeface="Inter"/>
                  <a:sym typeface="Inter"/>
                </a:rPr>
                <a:t> en tu equipo de marketing</a:t>
              </a:r>
              <a:endParaRPr sz="1200">
                <a:solidFill>
                  <a:srgbClr val="1F2937"/>
                </a:solidFill>
                <a:latin typeface="Inter"/>
                <a:ea typeface="Inter"/>
                <a:cs typeface="Inter"/>
                <a:sym typeface="Inte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13"/>
        <p:cNvGrpSpPr/>
        <p:nvPr/>
      </p:nvGrpSpPr>
      <p:grpSpPr>
        <a:xfrm>
          <a:off x="0" y="0"/>
          <a:ext cx="0" cy="0"/>
          <a:chOff x="0" y="0"/>
          <a:chExt cx="0" cy="0"/>
        </a:xfrm>
      </p:grpSpPr>
      <p:sp>
        <p:nvSpPr>
          <p:cNvPr id="114" name="Google Shape;114;p31"/>
          <p:cNvSpPr txBox="1"/>
          <p:nvPr/>
        </p:nvSpPr>
        <p:spPr>
          <a:xfrm>
            <a:off x="257050" y="361975"/>
            <a:ext cx="8562900" cy="889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200"/>
              <a:buFont typeface="Arial"/>
              <a:buNone/>
            </a:pPr>
            <a:r>
              <a:rPr lang="es" sz="5700" b="1">
                <a:solidFill>
                  <a:srgbClr val="1F2937"/>
                </a:solidFill>
                <a:latin typeface="Inter"/>
                <a:ea typeface="Inter"/>
                <a:cs typeface="Inter"/>
                <a:sym typeface="Inter"/>
              </a:rPr>
              <a:t>El método Think&amp;Hack</a:t>
            </a:r>
            <a:endParaRPr sz="5700" b="1">
              <a:solidFill>
                <a:srgbClr val="1F2937"/>
              </a:solidFill>
              <a:latin typeface="Inter"/>
              <a:ea typeface="Inter"/>
              <a:cs typeface="Inter"/>
              <a:sym typeface="Inter"/>
            </a:endParaRPr>
          </a:p>
        </p:txBody>
      </p:sp>
      <p:sp>
        <p:nvSpPr>
          <p:cNvPr id="2" name="method_n_0">
            <a:extLst>
              <a:ext uri="{FF2B5EF4-FFF2-40B4-BE49-F238E27FC236}">
                <a16:creationId xmlns:a16="http://schemas.microsoft.com/office/drawing/2014/main" id="{84E980A0-AE80-4AD2-7722-F4F8B18E5FA7}"/>
              </a:ext>
            </a:extLst>
          </p:cNvPr>
          <p:cNvSpPr txBox="1"/>
          <p:nvPr/>
        </p:nvSpPr>
        <p:spPr>
          <a:xfrm>
            <a:off x="304800" y="1689099"/>
            <a:ext cx="2489200" cy="533400"/>
          </a:xfrm>
          <a:prstGeom prst="rect">
            <a:avLst/>
          </a:prstGeom>
          <a:noFill/>
        </p:spPr>
        <p:txBody>
          <a:bodyPr vert="horz" lIns="0" tIns="0" rIns="0" bIns="0" rtlCol="0">
            <a:noAutofit/>
          </a:bodyPr>
          <a:lstStyle/>
          <a:p>
            <a:pPr>
              <a:lnSpc>
                <a:spcPct val="110000"/>
              </a:lnSpc>
            </a:pPr>
            <a:r>
              <a:rPr lang="es-ES" sz="2800" b="1">
                <a:solidFill>
                  <a:srgbClr val="FD6534"/>
                </a:solidFill>
                <a:latin typeface="Inter" panose="02000503000000020004" pitchFamily="2" charset="0"/>
              </a:rPr>
              <a:t>01</a:t>
            </a:r>
          </a:p>
        </p:txBody>
      </p:sp>
      <p:sp>
        <p:nvSpPr>
          <p:cNvPr id="3" name="method_h_0">
            <a:extLst>
              <a:ext uri="{FF2B5EF4-FFF2-40B4-BE49-F238E27FC236}">
                <a16:creationId xmlns:a16="http://schemas.microsoft.com/office/drawing/2014/main" id="{79A23F9F-AAD5-4861-58AD-D5BFDF1772E8}"/>
              </a:ext>
            </a:extLst>
          </p:cNvPr>
          <p:cNvSpPr txBox="1"/>
          <p:nvPr/>
        </p:nvSpPr>
        <p:spPr>
          <a:xfrm>
            <a:off x="304800" y="2413000"/>
            <a:ext cx="2489200" cy="546100"/>
          </a:xfrm>
          <a:prstGeom prst="rect">
            <a:avLst/>
          </a:prstGeom>
          <a:noFill/>
        </p:spPr>
        <p:txBody>
          <a:bodyPr vert="horz" lIns="0" tIns="0" rIns="0" bIns="0" rtlCol="0">
            <a:noAutofit/>
          </a:bodyPr>
          <a:lstStyle/>
          <a:p>
            <a:pPr>
              <a:lnSpc>
                <a:spcPct val="110000"/>
              </a:lnSpc>
            </a:pPr>
            <a:r>
              <a:rPr lang="es-ES" sz="2600" b="1">
                <a:solidFill>
                  <a:srgbClr val="1F2937"/>
                </a:solidFill>
                <a:latin typeface="Inter" panose="02000503000000020004" pitchFamily="2" charset="0"/>
              </a:rPr>
              <a:t>Objetivo</a:t>
            </a:r>
          </a:p>
        </p:txBody>
      </p:sp>
      <p:sp>
        <p:nvSpPr>
          <p:cNvPr id="4" name="method_b_0">
            <a:extLst>
              <a:ext uri="{FF2B5EF4-FFF2-40B4-BE49-F238E27FC236}">
                <a16:creationId xmlns:a16="http://schemas.microsoft.com/office/drawing/2014/main" id="{721196B9-3104-76F9-7452-62D40A79ABBA}"/>
              </a:ext>
            </a:extLst>
          </p:cNvPr>
          <p:cNvSpPr txBox="1"/>
          <p:nvPr/>
        </p:nvSpPr>
        <p:spPr>
          <a:xfrm>
            <a:off x="304800" y="3162299"/>
            <a:ext cx="2489200" cy="1143000"/>
          </a:xfrm>
          <a:prstGeom prst="rect">
            <a:avLst/>
          </a:prstGeom>
          <a:noFill/>
        </p:spPr>
        <p:txBody>
          <a:bodyPr vert="horz" lIns="0" tIns="0" rIns="0" bIns="0" rtlCol="0">
            <a:noAutofit/>
          </a:bodyPr>
          <a:lstStyle/>
          <a:p>
            <a:pPr>
              <a:lnSpc>
                <a:spcPct val="110000"/>
              </a:lnSpc>
            </a:pPr>
            <a:r>
              <a:rPr lang="es-ES" sz="2000">
                <a:solidFill>
                  <a:srgbClr val="1F2937"/>
                </a:solidFill>
                <a:latin typeface="Inter" panose="02000503000000020004" pitchFamily="2" charset="0"/>
              </a:rPr>
              <a:t>Qué queremos conseguir.</a:t>
            </a:r>
          </a:p>
        </p:txBody>
      </p:sp>
      <p:cxnSp>
        <p:nvCxnSpPr>
          <p:cNvPr id="5" name="Straight Connector 4">
            <a:extLst>
              <a:ext uri="{FF2B5EF4-FFF2-40B4-BE49-F238E27FC236}">
                <a16:creationId xmlns:a16="http://schemas.microsoft.com/office/drawing/2014/main" id="{889F1BB5-013A-DD95-AB3F-9BA036617CD9}"/>
              </a:ext>
            </a:extLst>
          </p:cNvPr>
          <p:cNvCxnSpPr/>
          <p:nvPr/>
        </p:nvCxnSpPr>
        <p:spPr>
          <a:xfrm>
            <a:off x="2794000" y="2616200"/>
            <a:ext cx="406400" cy="0"/>
          </a:xfrm>
          <a:prstGeom prst="line">
            <a:avLst/>
          </a:prstGeom>
          <a:ln w="19050">
            <a:solidFill>
              <a:srgbClr val="FD6534"/>
            </a:solidFill>
            <a:tailEnd type="triangle"/>
          </a:ln>
        </p:spPr>
        <p:style>
          <a:lnRef idx="1">
            <a:schemeClr val="accent1"/>
          </a:lnRef>
          <a:fillRef idx="0">
            <a:schemeClr val="accent1"/>
          </a:fillRef>
          <a:effectRef idx="0">
            <a:schemeClr val="accent1"/>
          </a:effectRef>
          <a:fontRef idx="minor">
            <a:schemeClr val="tx1"/>
          </a:fontRef>
        </p:style>
      </p:cxnSp>
      <p:sp>
        <p:nvSpPr>
          <p:cNvPr id="6" name="method_n_1">
            <a:extLst>
              <a:ext uri="{FF2B5EF4-FFF2-40B4-BE49-F238E27FC236}">
                <a16:creationId xmlns:a16="http://schemas.microsoft.com/office/drawing/2014/main" id="{01F3CDDD-26F8-2C84-3A31-B173B83044EF}"/>
              </a:ext>
            </a:extLst>
          </p:cNvPr>
          <p:cNvSpPr txBox="1"/>
          <p:nvPr/>
        </p:nvSpPr>
        <p:spPr>
          <a:xfrm>
            <a:off x="3352800" y="1689099"/>
            <a:ext cx="2489200" cy="533400"/>
          </a:xfrm>
          <a:prstGeom prst="rect">
            <a:avLst/>
          </a:prstGeom>
          <a:noFill/>
        </p:spPr>
        <p:txBody>
          <a:bodyPr vert="horz" lIns="0" tIns="0" rIns="0" bIns="0" rtlCol="0">
            <a:noAutofit/>
          </a:bodyPr>
          <a:lstStyle/>
          <a:p>
            <a:pPr>
              <a:lnSpc>
                <a:spcPct val="110000"/>
              </a:lnSpc>
            </a:pPr>
            <a:r>
              <a:rPr lang="es-ES" sz="2800" b="1">
                <a:solidFill>
                  <a:srgbClr val="FD6534"/>
                </a:solidFill>
                <a:latin typeface="Inter" panose="02000503000000020004" pitchFamily="2" charset="0"/>
              </a:rPr>
              <a:t>02</a:t>
            </a:r>
          </a:p>
        </p:txBody>
      </p:sp>
      <p:sp>
        <p:nvSpPr>
          <p:cNvPr id="7" name="method_h_1">
            <a:extLst>
              <a:ext uri="{FF2B5EF4-FFF2-40B4-BE49-F238E27FC236}">
                <a16:creationId xmlns:a16="http://schemas.microsoft.com/office/drawing/2014/main" id="{52F65F7D-7A22-61A7-E942-82D7F2FAF186}"/>
              </a:ext>
            </a:extLst>
          </p:cNvPr>
          <p:cNvSpPr txBox="1"/>
          <p:nvPr/>
        </p:nvSpPr>
        <p:spPr>
          <a:xfrm>
            <a:off x="3352800" y="2413000"/>
            <a:ext cx="2489200" cy="546100"/>
          </a:xfrm>
          <a:prstGeom prst="rect">
            <a:avLst/>
          </a:prstGeom>
          <a:noFill/>
        </p:spPr>
        <p:txBody>
          <a:bodyPr vert="horz" lIns="0" tIns="0" rIns="0" bIns="0" rtlCol="0">
            <a:noAutofit/>
          </a:bodyPr>
          <a:lstStyle/>
          <a:p>
            <a:pPr>
              <a:lnSpc>
                <a:spcPct val="110000"/>
              </a:lnSpc>
            </a:pPr>
            <a:r>
              <a:rPr lang="es-ES" sz="2600" b="1">
                <a:solidFill>
                  <a:srgbClr val="1F2937"/>
                </a:solidFill>
                <a:latin typeface="Inter" panose="02000503000000020004" pitchFamily="2" charset="0"/>
              </a:rPr>
              <a:t>Proceso</a:t>
            </a:r>
          </a:p>
        </p:txBody>
      </p:sp>
      <p:sp>
        <p:nvSpPr>
          <p:cNvPr id="8" name="method_b_1">
            <a:extLst>
              <a:ext uri="{FF2B5EF4-FFF2-40B4-BE49-F238E27FC236}">
                <a16:creationId xmlns:a16="http://schemas.microsoft.com/office/drawing/2014/main" id="{1FABADF1-3B53-3BC8-D1A3-2F843B9DC6CA}"/>
              </a:ext>
            </a:extLst>
          </p:cNvPr>
          <p:cNvSpPr txBox="1"/>
          <p:nvPr/>
        </p:nvSpPr>
        <p:spPr>
          <a:xfrm>
            <a:off x="3352800" y="3162300"/>
            <a:ext cx="2489200" cy="1143000"/>
          </a:xfrm>
          <a:prstGeom prst="rect">
            <a:avLst/>
          </a:prstGeom>
          <a:noFill/>
        </p:spPr>
        <p:txBody>
          <a:bodyPr vert="horz" lIns="0" tIns="0" rIns="0" bIns="0" rtlCol="0">
            <a:noAutofit/>
          </a:bodyPr>
          <a:lstStyle/>
          <a:p>
            <a:pPr>
              <a:lnSpc>
                <a:spcPct val="110000"/>
              </a:lnSpc>
            </a:pPr>
            <a:r>
              <a:rPr lang="es-ES" sz="2000">
                <a:solidFill>
                  <a:srgbClr val="1F2937"/>
                </a:solidFill>
                <a:latin typeface="Inter" panose="02000503000000020004" pitchFamily="2" charset="0"/>
              </a:rPr>
              <a:t>Qué pasos y decisiones hacen falta.</a:t>
            </a:r>
          </a:p>
        </p:txBody>
      </p:sp>
      <p:cxnSp>
        <p:nvCxnSpPr>
          <p:cNvPr id="9" name="Straight Connector 8">
            <a:extLst>
              <a:ext uri="{FF2B5EF4-FFF2-40B4-BE49-F238E27FC236}">
                <a16:creationId xmlns:a16="http://schemas.microsoft.com/office/drawing/2014/main" id="{528AC2D7-A7A0-2480-60ED-94DD053024A2}"/>
              </a:ext>
            </a:extLst>
          </p:cNvPr>
          <p:cNvCxnSpPr/>
          <p:nvPr/>
        </p:nvCxnSpPr>
        <p:spPr>
          <a:xfrm>
            <a:off x="5842000" y="2616200"/>
            <a:ext cx="406400" cy="0"/>
          </a:xfrm>
          <a:prstGeom prst="line">
            <a:avLst/>
          </a:prstGeom>
          <a:ln w="19050">
            <a:solidFill>
              <a:srgbClr val="FD6534"/>
            </a:solidFill>
            <a:tailEnd type="triangle"/>
          </a:ln>
        </p:spPr>
        <p:style>
          <a:lnRef idx="1">
            <a:schemeClr val="accent1"/>
          </a:lnRef>
          <a:fillRef idx="0">
            <a:schemeClr val="accent1"/>
          </a:fillRef>
          <a:effectRef idx="0">
            <a:schemeClr val="accent1"/>
          </a:effectRef>
          <a:fontRef idx="minor">
            <a:schemeClr val="tx1"/>
          </a:fontRef>
        </p:style>
      </p:cxnSp>
      <p:sp>
        <p:nvSpPr>
          <p:cNvPr id="10" name="method_n_2">
            <a:extLst>
              <a:ext uri="{FF2B5EF4-FFF2-40B4-BE49-F238E27FC236}">
                <a16:creationId xmlns:a16="http://schemas.microsoft.com/office/drawing/2014/main" id="{FCB6DD2C-CFA7-C6B2-4203-D14D419CC992}"/>
              </a:ext>
            </a:extLst>
          </p:cNvPr>
          <p:cNvSpPr txBox="1"/>
          <p:nvPr/>
        </p:nvSpPr>
        <p:spPr>
          <a:xfrm>
            <a:off x="6400800" y="1689099"/>
            <a:ext cx="2489200" cy="533400"/>
          </a:xfrm>
          <a:prstGeom prst="rect">
            <a:avLst/>
          </a:prstGeom>
          <a:noFill/>
        </p:spPr>
        <p:txBody>
          <a:bodyPr vert="horz" lIns="0" tIns="0" rIns="0" bIns="0" rtlCol="0">
            <a:noAutofit/>
          </a:bodyPr>
          <a:lstStyle/>
          <a:p>
            <a:pPr>
              <a:lnSpc>
                <a:spcPct val="110000"/>
              </a:lnSpc>
            </a:pPr>
            <a:r>
              <a:rPr lang="es-ES" sz="2800" b="1">
                <a:solidFill>
                  <a:srgbClr val="FD6534"/>
                </a:solidFill>
                <a:latin typeface="Inter" panose="02000503000000020004" pitchFamily="2" charset="0"/>
              </a:rPr>
              <a:t>03</a:t>
            </a:r>
          </a:p>
        </p:txBody>
      </p:sp>
      <p:sp>
        <p:nvSpPr>
          <p:cNvPr id="11" name="method_h_2">
            <a:extLst>
              <a:ext uri="{FF2B5EF4-FFF2-40B4-BE49-F238E27FC236}">
                <a16:creationId xmlns:a16="http://schemas.microsoft.com/office/drawing/2014/main" id="{0272FDAB-FF0B-6F1B-2391-DD3634B7137A}"/>
              </a:ext>
            </a:extLst>
          </p:cNvPr>
          <p:cNvSpPr txBox="1"/>
          <p:nvPr/>
        </p:nvSpPr>
        <p:spPr>
          <a:xfrm>
            <a:off x="6400800" y="2413000"/>
            <a:ext cx="2489200" cy="546100"/>
          </a:xfrm>
          <a:prstGeom prst="rect">
            <a:avLst/>
          </a:prstGeom>
          <a:noFill/>
        </p:spPr>
        <p:txBody>
          <a:bodyPr vert="horz" lIns="0" tIns="0" rIns="0" bIns="0" rtlCol="0">
            <a:noAutofit/>
          </a:bodyPr>
          <a:lstStyle/>
          <a:p>
            <a:pPr>
              <a:lnSpc>
                <a:spcPct val="110000"/>
              </a:lnSpc>
            </a:pPr>
            <a:r>
              <a:rPr lang="es-ES" sz="2600" b="1">
                <a:solidFill>
                  <a:srgbClr val="1F2937"/>
                </a:solidFill>
                <a:latin typeface="Inter" panose="02000503000000020004" pitchFamily="2" charset="0"/>
              </a:rPr>
              <a:t>Tecnología</a:t>
            </a:r>
          </a:p>
        </p:txBody>
      </p:sp>
      <p:sp>
        <p:nvSpPr>
          <p:cNvPr id="12" name="method_b_2">
            <a:extLst>
              <a:ext uri="{FF2B5EF4-FFF2-40B4-BE49-F238E27FC236}">
                <a16:creationId xmlns:a16="http://schemas.microsoft.com/office/drawing/2014/main" id="{611C0FBA-7007-D5D6-9E15-5FA55739F21D}"/>
              </a:ext>
            </a:extLst>
          </p:cNvPr>
          <p:cNvSpPr txBox="1"/>
          <p:nvPr/>
        </p:nvSpPr>
        <p:spPr>
          <a:xfrm>
            <a:off x="6400800" y="3162300"/>
            <a:ext cx="2489200" cy="1143000"/>
          </a:xfrm>
          <a:prstGeom prst="rect">
            <a:avLst/>
          </a:prstGeom>
          <a:noFill/>
        </p:spPr>
        <p:txBody>
          <a:bodyPr vert="horz" lIns="0" tIns="0" rIns="0" bIns="0" rtlCol="0">
            <a:noAutofit/>
          </a:bodyPr>
          <a:lstStyle/>
          <a:p>
            <a:pPr>
              <a:lnSpc>
                <a:spcPct val="110000"/>
              </a:lnSpc>
            </a:pPr>
            <a:r>
              <a:rPr lang="es-ES" sz="2000">
                <a:solidFill>
                  <a:srgbClr val="1F2937"/>
                </a:solidFill>
                <a:latin typeface="Inter" panose="02000503000000020004" pitchFamily="2" charset="0"/>
              </a:rPr>
              <a:t>Con qué ejecutamos y comprobamos cada paso.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2"/>
          <p:cNvSpPr txBox="1"/>
          <p:nvPr/>
        </p:nvSpPr>
        <p:spPr>
          <a:xfrm>
            <a:off x="304800" y="914399"/>
            <a:ext cx="8534400" cy="1066292"/>
          </a:xfrm>
          <a:prstGeom prst="rect">
            <a:avLst/>
          </a:prstGeom>
          <a:noFill/>
          <a:ln>
            <a:noFill/>
          </a:ln>
        </p:spPr>
        <p:txBody>
          <a:bodyPr spcFirstLastPara="1" wrap="square" lIns="0" tIns="0" rIns="0" bIns="0" anchor="t" anchorCtr="0">
            <a:noAutofit/>
          </a:bodyPr>
          <a:lstStyle/>
          <a:p>
            <a:pPr marL="0" lvl="0" indent="0" algn="l" rtl="0">
              <a:lnSpc>
                <a:spcPct val="105000"/>
              </a:lnSpc>
              <a:spcBef>
                <a:spcPts val="2400"/>
              </a:spcBef>
              <a:buNone/>
            </a:pPr>
            <a:r>
              <a:rPr lang="es" sz="2300" b="1">
                <a:solidFill>
                  <a:schemeClr val="dk1"/>
                </a:solidFill>
              </a:rPr>
              <a:t>Crear contenido para Think&amp;Hack a partir de oportunidades reales</a:t>
            </a:r>
            <a:endParaRPr sz="3000" b="1">
              <a:solidFill>
                <a:schemeClr val="dk1"/>
              </a:solidFill>
            </a:endParaRPr>
          </a:p>
        </p:txBody>
      </p:sp>
      <p:graphicFrame>
        <p:nvGraphicFramePr>
          <p:cNvPr id="121" name="Google Shape;121;p32"/>
          <p:cNvGraphicFramePr/>
          <p:nvPr/>
        </p:nvGraphicFramePr>
        <p:xfrm>
          <a:off x="270000" y="378950"/>
          <a:ext cx="3000000" cy="3000000"/>
        </p:xfrm>
        <a:graphic>
          <a:graphicData uri="http://schemas.openxmlformats.org/drawingml/2006/table">
            <a:tbl>
              <a:tblPr>
                <a:noFill/>
                <a:tableStyleId>{62EE3193-8D45-4A5B-88C0-FDBB99C5EF04}</a:tableStyleId>
              </a:tblPr>
              <a:tblGrid>
                <a:gridCol w="8550000">
                  <a:extLst>
                    <a:ext uri="{9D8B030D-6E8A-4147-A177-3AD203B41FA5}">
                      <a16:colId xmlns:a16="http://schemas.microsoft.com/office/drawing/2014/main" val="20000"/>
                    </a:ext>
                  </a:extLst>
                </a:gridCol>
              </a:tblGrid>
              <a:tr h="444325">
                <a:tc>
                  <a:txBody>
                    <a:bodyPr/>
                    <a:lstStyle/>
                    <a:p>
                      <a:pPr marL="0" lvl="0" indent="0" algn="l" rtl="0">
                        <a:spcBef>
                          <a:spcPts val="0"/>
                        </a:spcBef>
                        <a:spcAft>
                          <a:spcPts val="0"/>
                        </a:spcAft>
                        <a:buNone/>
                      </a:pPr>
                      <a:r>
                        <a:rPr lang="es">
                          <a:solidFill>
                            <a:srgbClr val="FD6534"/>
                          </a:solidFill>
                          <a:latin typeface="Inter"/>
                          <a:ea typeface="Inter"/>
                          <a:cs typeface="Inter"/>
                          <a:sym typeface="Inter"/>
                        </a:rPr>
                        <a:t>01. Definir el objetivo</a:t>
                      </a:r>
                      <a:endParaRPr>
                        <a:solidFill>
                          <a:srgbClr val="FD6534"/>
                        </a:solidFill>
                        <a:latin typeface="Inter"/>
                        <a:ea typeface="Inter"/>
                        <a:cs typeface="Inter"/>
                        <a:sym typeface="Inter"/>
                      </a:endParaRPr>
                    </a:p>
                  </a:txBody>
                  <a:tcPr marL="91425" marR="91425" marT="91425" marB="91425">
                    <a:lnL w="19050" cap="flat" cmpd="sng">
                      <a:solidFill>
                        <a:srgbClr val="1F2937">
                          <a:alpha val="0"/>
                        </a:srgbClr>
                      </a:solidFill>
                      <a:prstDash val="solid"/>
                      <a:round/>
                      <a:headEnd type="none" w="sm" len="sm"/>
                      <a:tailEnd type="none" w="sm" len="sm"/>
                    </a:lnL>
                    <a:lnR w="19050" cap="flat" cmpd="sng">
                      <a:solidFill>
                        <a:srgbClr val="1F2937">
                          <a:alpha val="0"/>
                        </a:srgbClr>
                      </a:solidFill>
                      <a:prstDash val="solid"/>
                      <a:round/>
                      <a:headEnd type="none" w="sm" len="sm"/>
                      <a:tailEnd type="none" w="sm" len="sm"/>
                    </a:lnR>
                    <a:lnT w="19050" cap="flat" cmpd="sng">
                      <a:solidFill>
                        <a:srgbClr val="1F2937">
                          <a:alpha val="0"/>
                        </a:srgbClr>
                      </a:solidFill>
                      <a:prstDash val="solid"/>
                      <a:round/>
                      <a:headEnd type="none" w="sm" len="sm"/>
                      <a:tailEnd type="none" w="sm" len="sm"/>
                    </a:lnT>
                    <a:lnB w="9525" cap="flat" cmpd="sng">
                      <a:solidFill>
                        <a:srgbClr val="1F2937"/>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22" name="Google Shape;122;p32"/>
          <p:cNvSpPr txBox="1">
            <a:spLocks/>
          </p:cNvSpPr>
          <p:nvPr/>
        </p:nvSpPr>
        <p:spPr>
          <a:xfrm>
            <a:off x="304800" y="2057400"/>
            <a:ext cx="8255000" cy="2439099"/>
          </a:xfrm>
          <a:prstGeom prst="rect">
            <a:avLst/>
          </a:prstGeom>
          <a:noFill/>
          <a:ln>
            <a:noFill/>
          </a:ln>
        </p:spPr>
        <p:txBody>
          <a:bodyPr spcFirstLastPara="1" wrap="square" lIns="0" tIns="0" rIns="0" bIns="0" anchor="t" anchorCtr="0">
            <a:noAutofit/>
          </a:bodyPr>
          <a:lstStyle/>
          <a:p>
            <a:pPr lvl="0" rtl="0">
              <a:lnSpc>
                <a:spcPct val="115000"/>
              </a:lnSpc>
              <a:spcAft>
                <a:spcPts val="800"/>
              </a:spcAft>
            </a:pPr>
            <a:r>
              <a:rPr lang="es-ES" sz="2200">
                <a:solidFill>
                  <a:srgbClr val="1F2937"/>
                </a:solidFill>
                <a:latin typeface="Arial" panose="020B0604020202020204" pitchFamily="34" charset="0"/>
              </a:rPr>
              <a:t>Analizar lo que ya hemos publicado, descubrir temas interesantes que todavía no hemos tratado, investigar con fuentes fiables y preparar contenidos para nuestros canales.</a:t>
            </a:r>
          </a:p>
          <a:p>
            <a:pPr lvl="0" rtl="0">
              <a:lnSpc>
                <a:spcPct val="115000"/>
              </a:lnSpc>
              <a:spcAft>
                <a:spcPts val="800"/>
              </a:spcAft>
            </a:pPr>
            <a:endParaRPr lang="es-ES" sz="2200">
              <a:solidFill>
                <a:srgbClr val="1F2937"/>
              </a:solidFill>
              <a:latin typeface="Arial" panose="020B0604020202020204" pitchFamily="34" charset="0"/>
            </a:endParaRPr>
          </a:p>
          <a:p>
            <a:pPr lvl="0" rtl="0">
              <a:lnSpc>
                <a:spcPct val="115000"/>
              </a:lnSpc>
              <a:spcAft>
                <a:spcPts val="800"/>
              </a:spcAft>
            </a:pPr>
            <a:r>
              <a:rPr lang="es-ES" sz="2200" b="1">
                <a:solidFill>
                  <a:srgbClr val="1F2937"/>
                </a:solidFill>
                <a:latin typeface="Arial" panose="020B0604020202020204" pitchFamily="34" charset="0"/>
              </a:rPr>
              <a:t>Y que cada nuevo contenido aproveche lo que ya sabemos.</a:t>
            </a:r>
            <a:endParaRPr sz="2200" b="1">
              <a:solidFill>
                <a:srgbClr val="1F2937"/>
              </a:solidFill>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20" name="v3_11_text_1">
            <a:extLst>
              <a:ext uri="{FF2B5EF4-FFF2-40B4-BE49-F238E27FC236}">
                <a16:creationId xmlns:a16="http://schemas.microsoft.com/office/drawing/2014/main" id="{1D09E2D3-088D-A96D-FEEC-4E79114370B9}"/>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Antes del código, diseñamos el trabajo</a:t>
            </a:r>
          </a:p>
        </p:txBody>
      </p:sp>
      <p:sp>
        <p:nvSpPr>
          <p:cNvPr id="21" name="v3_11_text_2">
            <a:extLst>
              <a:ext uri="{FF2B5EF4-FFF2-40B4-BE49-F238E27FC236}">
                <a16:creationId xmlns:a16="http://schemas.microsoft.com/office/drawing/2014/main" id="{D1C5106B-2AC9-07BE-0044-6EAB3AE0E605}"/>
              </a:ext>
            </a:extLst>
          </p:cNvPr>
          <p:cNvSpPr txBox="1"/>
          <p:nvPr/>
        </p:nvSpPr>
        <p:spPr>
          <a:xfrm>
            <a:off x="330200" y="1358900"/>
            <a:ext cx="8458200" cy="2895600"/>
          </a:xfrm>
          <a:prstGeom prst="rect">
            <a:avLst/>
          </a:prstGeom>
          <a:noFill/>
        </p:spPr>
        <p:txBody>
          <a:bodyPr vert="horz" wrap="square" lIns="0" tIns="0" rIns="0" bIns="0" rtlCol="0" anchor="t">
            <a:noAutofit/>
          </a:bodyPr>
          <a:lstStyle/>
          <a:p>
            <a:pPr>
              <a:lnSpc>
                <a:spcPct val="106000"/>
              </a:lnSpc>
            </a:pPr>
            <a:r>
              <a:rPr lang="es-ES" sz="2300">
                <a:solidFill>
                  <a:srgbClr val="1F2937"/>
                </a:solidFill>
                <a:latin typeface="Inter" panose="02000503000000020004" pitchFamily="2" charset="0"/>
              </a:rPr>
              <a:t>“Ayúdame a convertir este objetivo en un proceso.</a:t>
            </a:r>
          </a:p>
          <a:p>
            <a:pPr>
              <a:lnSpc>
                <a:spcPct val="106000"/>
              </a:lnSpc>
            </a:pPr>
            <a:endParaRPr lang="es-ES" sz="2300">
              <a:solidFill>
                <a:srgbClr val="1F2937"/>
              </a:solidFill>
              <a:latin typeface="Inter" panose="02000503000000020004" pitchFamily="2" charset="0"/>
            </a:endParaRPr>
          </a:p>
          <a:p>
            <a:pPr>
              <a:lnSpc>
                <a:spcPct val="106000"/>
              </a:lnSpc>
            </a:pPr>
            <a:r>
              <a:rPr lang="es-ES" sz="2300">
                <a:solidFill>
                  <a:srgbClr val="1F2937"/>
                </a:solidFill>
                <a:latin typeface="Inter" panose="02000503000000020004" pitchFamily="2" charset="0"/>
              </a:rPr>
              <a:t>Para cada fase, indica qué necesita, qué hace,</a:t>
            </a:r>
          </a:p>
          <a:p>
            <a:pPr>
              <a:lnSpc>
                <a:spcPct val="106000"/>
              </a:lnSpc>
            </a:pPr>
            <a:r>
              <a:rPr lang="es-ES" sz="2300">
                <a:solidFill>
                  <a:srgbClr val="1F2937"/>
                </a:solidFill>
                <a:latin typeface="Inter" panose="02000503000000020004" pitchFamily="2" charset="0"/>
              </a:rPr>
              <a:t>qué entrega y cómo comprobar el resultado.</a:t>
            </a:r>
          </a:p>
          <a:p>
            <a:pPr>
              <a:lnSpc>
                <a:spcPct val="106000"/>
              </a:lnSpc>
            </a:pPr>
            <a:endParaRPr lang="es-ES" sz="2300">
              <a:solidFill>
                <a:srgbClr val="1F2937"/>
              </a:solidFill>
              <a:latin typeface="Inter" panose="02000503000000020004" pitchFamily="2" charset="0"/>
            </a:endParaRPr>
          </a:p>
          <a:p>
            <a:pPr>
              <a:lnSpc>
                <a:spcPct val="106000"/>
              </a:lnSpc>
            </a:pPr>
            <a:r>
              <a:rPr lang="es-ES" sz="2300">
                <a:solidFill>
                  <a:srgbClr val="1F2937"/>
                </a:solidFill>
                <a:latin typeface="Inter" panose="02000503000000020004" pitchFamily="2" charset="0"/>
              </a:rPr>
              <a:t>Señala qué decisiones debo tomar yo.</a:t>
            </a:r>
          </a:p>
          <a:p>
            <a:pPr>
              <a:lnSpc>
                <a:spcPct val="106000"/>
              </a:lnSpc>
            </a:pPr>
            <a:r>
              <a:rPr lang="es-ES" sz="2300">
                <a:solidFill>
                  <a:srgbClr val="1F2937"/>
                </a:solidFill>
                <a:latin typeface="Inter" panose="02000503000000020004" pitchFamily="2" charset="0"/>
              </a:rPr>
              <a:t>Pregúntame lo que falte antes de elegir herramientas.”</a:t>
            </a:r>
          </a:p>
        </p:txBody>
      </p:sp>
      <p:sp>
        <p:nvSpPr>
          <p:cNvPr id="22" name="v3_11_text_3">
            <a:extLst>
              <a:ext uri="{FF2B5EF4-FFF2-40B4-BE49-F238E27FC236}">
                <a16:creationId xmlns:a16="http://schemas.microsoft.com/office/drawing/2014/main" id="{BCB44A4C-D469-E206-169A-AE9BDD8CF87A}"/>
              </a:ext>
            </a:extLst>
          </p:cNvPr>
          <p:cNvSpPr txBox="1"/>
          <p:nvPr/>
        </p:nvSpPr>
        <p:spPr>
          <a:xfrm>
            <a:off x="330200" y="4394200"/>
            <a:ext cx="8382000" cy="279400"/>
          </a:xfrm>
          <a:prstGeom prst="rect">
            <a:avLst/>
          </a:prstGeom>
          <a:noFill/>
        </p:spPr>
        <p:txBody>
          <a:bodyPr vert="horz" wrap="square" lIns="0" tIns="0" rIns="0" bIns="0" rtlCol="0" anchor="t">
            <a:noAutofit/>
          </a:bodyPr>
          <a:lstStyle/>
          <a:p>
            <a:pPr>
              <a:lnSpc>
                <a:spcPct val="106000"/>
              </a:lnSpc>
            </a:pPr>
            <a:r>
              <a:rPr lang="es-ES" sz="1130">
                <a:solidFill>
                  <a:srgbClr val="62666A"/>
                </a:solidFill>
                <a:latin typeface="Inter" panose="02000503000000020004" pitchFamily="2" charset="0"/>
              </a:rPr>
              <a:t>Una petición para diseñar el proceso. La propuesta de la IA se revisa antes de construir.</a:t>
            </a:r>
          </a:p>
        </p:txBody>
      </p:sp>
      <p:sp>
        <p:nvSpPr>
          <p:cNvPr id="23" name="TextBox 22">
            <a:extLst>
              <a:ext uri="{FF2B5EF4-FFF2-40B4-BE49-F238E27FC236}">
                <a16:creationId xmlns:a16="http://schemas.microsoft.com/office/drawing/2014/main" id="{FC021823-5AF3-A041-17A8-26FBF86C15AC}"/>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11</a:t>
            </a:r>
          </a:p>
        </p:txBody>
      </p:sp>
    </p:spTree>
    <p:extLst>
      <p:ext uri="{BB962C8B-B14F-4D97-AF65-F5344CB8AC3E}">
        <p14:creationId xmlns:p14="http://schemas.microsoft.com/office/powerpoint/2010/main" val="2471037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146" name="Google Shape;146;p35"/>
          <p:cNvSpPr txBox="1">
            <a:spLocks noGrp="1"/>
          </p:cNvSpPr>
          <p:nvPr>
            <p:ph type="title"/>
          </p:nvPr>
        </p:nvSpPr>
        <p:spPr>
          <a:xfrm>
            <a:off x="304800" y="279400"/>
            <a:ext cx="8534400" cy="965200"/>
          </a:xfrm>
          <a:prstGeom prst="rect">
            <a:avLst/>
          </a:prstGeom>
          <a:noFill/>
          <a:ln>
            <a:noFill/>
          </a:ln>
        </p:spPr>
        <p:txBody>
          <a:bodyPr spcFirstLastPara="1" wrap="square" lIns="0" tIns="0" rIns="0" bIns="0" anchor="t" anchorCtr="0">
            <a:noAutofit/>
          </a:bodyPr>
          <a:lstStyle/>
          <a:p>
            <a:pPr lvl="0" rtl="0">
              <a:lnSpc>
                <a:spcPct val="115000"/>
              </a:lnSpc>
              <a:spcAft>
                <a:spcPts val="800"/>
              </a:spcAft>
            </a:pPr>
            <a:r>
              <a:rPr lang="es-ES" sz="4400" b="1">
                <a:solidFill>
                  <a:srgbClr val="1F2937"/>
                </a:solidFill>
                <a:latin typeface="Inter" panose="02000503000000020004" pitchFamily="2" charset="0"/>
              </a:rPr>
              <a:t>El proceso editorial</a:t>
            </a:r>
            <a:endParaRPr sz="4400" b="1">
              <a:solidFill>
                <a:srgbClr val="1F2937"/>
              </a:solidFill>
              <a:latin typeface="Inter" panose="02000503000000020004" pitchFamily="2" charset="0"/>
            </a:endParaRPr>
          </a:p>
        </p:txBody>
      </p:sp>
      <p:sp>
        <p:nvSpPr>
          <p:cNvPr id="2" name="c26_proc_num_0">
            <a:extLst>
              <a:ext uri="{FF2B5EF4-FFF2-40B4-BE49-F238E27FC236}">
                <a16:creationId xmlns:a16="http://schemas.microsoft.com/office/drawing/2014/main" id="{AAAD21FE-20DC-8DB7-6EA3-1674BAB846FE}"/>
              </a:ext>
            </a:extLst>
          </p:cNvPr>
          <p:cNvSpPr txBox="1">
            <a:spLocks/>
          </p:cNvSpPr>
          <p:nvPr/>
        </p:nvSpPr>
        <p:spPr>
          <a:xfrm>
            <a:off x="304800" y="1574800"/>
            <a:ext cx="1422400" cy="524955"/>
          </a:xfrm>
          <a:prstGeom prst="rect">
            <a:avLst/>
          </a:prstGeom>
          <a:noFill/>
        </p:spPr>
        <p:txBody>
          <a:bodyPr vert="horz" wrap="square" lIns="0" tIns="0" rIns="0" bIns="0" rtlCol="0" anchor="t">
            <a:noAutofit/>
          </a:bodyPr>
          <a:lstStyle/>
          <a:p>
            <a:pPr>
              <a:lnSpc>
                <a:spcPct val="110000"/>
              </a:lnSpc>
              <a:spcAft>
                <a:spcPts val="800"/>
              </a:spcAft>
            </a:pPr>
            <a:r>
              <a:rPr lang="es-ES" sz="3200" b="1">
                <a:solidFill>
                  <a:srgbClr val="FD6534"/>
                </a:solidFill>
                <a:latin typeface="Inter" panose="02000503000000020004" pitchFamily="2" charset="0"/>
              </a:rPr>
              <a:t>01</a:t>
            </a:r>
          </a:p>
        </p:txBody>
      </p:sp>
      <p:sp>
        <p:nvSpPr>
          <p:cNvPr id="3" name="c26_proc_label_0">
            <a:extLst>
              <a:ext uri="{FF2B5EF4-FFF2-40B4-BE49-F238E27FC236}">
                <a16:creationId xmlns:a16="http://schemas.microsoft.com/office/drawing/2014/main" id="{73C58224-9429-3EA4-64E7-78C2D7DBA301}"/>
              </a:ext>
            </a:extLst>
          </p:cNvPr>
          <p:cNvSpPr txBox="1">
            <a:spLocks/>
          </p:cNvSpPr>
          <p:nvPr/>
        </p:nvSpPr>
        <p:spPr>
          <a:xfrm>
            <a:off x="304800" y="2298700"/>
            <a:ext cx="1676400" cy="812800"/>
          </a:xfrm>
          <a:prstGeom prst="rect">
            <a:avLst/>
          </a:prstGeom>
          <a:noFill/>
        </p:spPr>
        <p:txBody>
          <a:bodyPr vert="horz" wrap="square" lIns="0" tIns="0" rIns="0" bIns="0" rtlCol="0" anchor="t">
            <a:noAutofit/>
          </a:bodyPr>
          <a:lstStyle/>
          <a:p>
            <a:pPr>
              <a:lnSpc>
                <a:spcPct val="110000"/>
              </a:lnSpc>
            </a:pPr>
            <a:r>
              <a:rPr lang="es-ES" sz="1750" b="1">
                <a:solidFill>
                  <a:srgbClr val="1F2937"/>
                </a:solidFill>
                <a:latin typeface="Inter" panose="02000503000000020004" pitchFamily="2" charset="0"/>
              </a:rPr>
              <a:t>Revisar</a:t>
            </a:r>
          </a:p>
          <a:p>
            <a:pPr>
              <a:lnSpc>
                <a:spcPct val="110000"/>
              </a:lnSpc>
            </a:pPr>
            <a:r>
              <a:rPr lang="es-ES" sz="1750" b="1">
                <a:solidFill>
                  <a:srgbClr val="1F2937"/>
                </a:solidFill>
                <a:latin typeface="Inter" panose="02000503000000020004" pitchFamily="2" charset="0"/>
              </a:rPr>
              <a:t>lo publicado</a:t>
            </a:r>
          </a:p>
        </p:txBody>
      </p:sp>
      <p:cxnSp>
        <p:nvCxnSpPr>
          <p:cNvPr id="4" name="c26_line_1">
            <a:extLst>
              <a:ext uri="{FF2B5EF4-FFF2-40B4-BE49-F238E27FC236}">
                <a16:creationId xmlns:a16="http://schemas.microsoft.com/office/drawing/2014/main" id="{535D0BD5-4778-45A6-D2DD-015F94D59BC5}"/>
              </a:ext>
            </a:extLst>
          </p:cNvPr>
          <p:cNvCxnSpPr/>
          <p:nvPr/>
        </p:nvCxnSpPr>
        <p:spPr>
          <a:xfrm>
            <a:off x="1803400" y="1905000"/>
            <a:ext cx="241300" cy="127"/>
          </a:xfrm>
          <a:prstGeom prst="line">
            <a:avLst/>
          </a:prstGeom>
          <a:ln w="19050">
            <a:solidFill>
              <a:srgbClr val="FD6534"/>
            </a:solidFill>
            <a:tailEnd type="triangle"/>
          </a:ln>
        </p:spPr>
        <p:style>
          <a:lnRef idx="1">
            <a:schemeClr val="accent1"/>
          </a:lnRef>
          <a:fillRef idx="0">
            <a:schemeClr val="accent1"/>
          </a:fillRef>
          <a:effectRef idx="0">
            <a:schemeClr val="accent1"/>
          </a:effectRef>
          <a:fontRef idx="minor">
            <a:schemeClr val="tx1"/>
          </a:fontRef>
        </p:style>
      </p:cxnSp>
      <p:sp>
        <p:nvSpPr>
          <p:cNvPr id="5" name="c26_proc_num_1">
            <a:extLst>
              <a:ext uri="{FF2B5EF4-FFF2-40B4-BE49-F238E27FC236}">
                <a16:creationId xmlns:a16="http://schemas.microsoft.com/office/drawing/2014/main" id="{668CC8C7-87FD-F498-38DD-04332C616A44}"/>
              </a:ext>
            </a:extLst>
          </p:cNvPr>
          <p:cNvSpPr txBox="1">
            <a:spLocks/>
          </p:cNvSpPr>
          <p:nvPr/>
        </p:nvSpPr>
        <p:spPr>
          <a:xfrm>
            <a:off x="2082800" y="1574800"/>
            <a:ext cx="1422400" cy="524955"/>
          </a:xfrm>
          <a:prstGeom prst="rect">
            <a:avLst/>
          </a:prstGeom>
          <a:noFill/>
        </p:spPr>
        <p:txBody>
          <a:bodyPr vert="horz" wrap="square" lIns="0" tIns="0" rIns="0" bIns="0" rtlCol="0" anchor="t">
            <a:noAutofit/>
          </a:bodyPr>
          <a:lstStyle/>
          <a:p>
            <a:pPr>
              <a:lnSpc>
                <a:spcPct val="110000"/>
              </a:lnSpc>
              <a:spcAft>
                <a:spcPts val="800"/>
              </a:spcAft>
            </a:pPr>
            <a:r>
              <a:rPr lang="es-ES" sz="3200" b="1">
                <a:solidFill>
                  <a:srgbClr val="FD6534"/>
                </a:solidFill>
                <a:latin typeface="Inter" panose="02000503000000020004" pitchFamily="2" charset="0"/>
              </a:rPr>
              <a:t>02</a:t>
            </a:r>
          </a:p>
        </p:txBody>
      </p:sp>
      <p:sp>
        <p:nvSpPr>
          <p:cNvPr id="6" name="c26_proc_label_1">
            <a:extLst>
              <a:ext uri="{FF2B5EF4-FFF2-40B4-BE49-F238E27FC236}">
                <a16:creationId xmlns:a16="http://schemas.microsoft.com/office/drawing/2014/main" id="{1E0AA6E8-AFA3-6F25-B4A8-8AD5640139BC}"/>
              </a:ext>
            </a:extLst>
          </p:cNvPr>
          <p:cNvSpPr txBox="1">
            <a:spLocks/>
          </p:cNvSpPr>
          <p:nvPr/>
        </p:nvSpPr>
        <p:spPr>
          <a:xfrm>
            <a:off x="2082800" y="2298700"/>
            <a:ext cx="1676400" cy="812800"/>
          </a:xfrm>
          <a:prstGeom prst="rect">
            <a:avLst/>
          </a:prstGeom>
          <a:noFill/>
        </p:spPr>
        <p:txBody>
          <a:bodyPr vert="horz" wrap="square" lIns="0" tIns="0" rIns="0" bIns="0" rtlCol="0" anchor="t">
            <a:noAutofit/>
          </a:bodyPr>
          <a:lstStyle/>
          <a:p>
            <a:pPr>
              <a:lnSpc>
                <a:spcPct val="110000"/>
              </a:lnSpc>
            </a:pPr>
            <a:r>
              <a:rPr lang="es-ES" sz="1750" b="1">
                <a:solidFill>
                  <a:srgbClr val="1F2937"/>
                </a:solidFill>
                <a:latin typeface="Inter" panose="02000503000000020004" pitchFamily="2" charset="0"/>
              </a:rPr>
              <a:t>Encontrar</a:t>
            </a:r>
          </a:p>
          <a:p>
            <a:pPr>
              <a:lnSpc>
                <a:spcPct val="110000"/>
              </a:lnSpc>
            </a:pPr>
            <a:r>
              <a:rPr lang="es-ES" sz="1750" b="1">
                <a:solidFill>
                  <a:srgbClr val="1F2937"/>
                </a:solidFill>
                <a:latin typeface="Inter" panose="02000503000000020004" pitchFamily="2" charset="0"/>
              </a:rPr>
              <a:t>oportunidades</a:t>
            </a:r>
          </a:p>
        </p:txBody>
      </p:sp>
      <p:cxnSp>
        <p:nvCxnSpPr>
          <p:cNvPr id="7" name="c26_line_2">
            <a:extLst>
              <a:ext uri="{FF2B5EF4-FFF2-40B4-BE49-F238E27FC236}">
                <a16:creationId xmlns:a16="http://schemas.microsoft.com/office/drawing/2014/main" id="{BEE4C99D-F426-7289-0C5A-E02609122007}"/>
              </a:ext>
            </a:extLst>
          </p:cNvPr>
          <p:cNvCxnSpPr/>
          <p:nvPr/>
        </p:nvCxnSpPr>
        <p:spPr>
          <a:xfrm>
            <a:off x="3581400" y="1905000"/>
            <a:ext cx="241300" cy="127"/>
          </a:xfrm>
          <a:prstGeom prst="line">
            <a:avLst/>
          </a:prstGeom>
          <a:ln w="19050">
            <a:solidFill>
              <a:srgbClr val="FD6534"/>
            </a:solidFill>
            <a:tailEnd type="triangle"/>
          </a:ln>
        </p:spPr>
        <p:style>
          <a:lnRef idx="1">
            <a:schemeClr val="accent1"/>
          </a:lnRef>
          <a:fillRef idx="0">
            <a:schemeClr val="accent1"/>
          </a:fillRef>
          <a:effectRef idx="0">
            <a:schemeClr val="accent1"/>
          </a:effectRef>
          <a:fontRef idx="minor">
            <a:schemeClr val="tx1"/>
          </a:fontRef>
        </p:style>
      </p:cxnSp>
      <p:sp>
        <p:nvSpPr>
          <p:cNvPr id="8" name="c26_proc_num_2">
            <a:extLst>
              <a:ext uri="{FF2B5EF4-FFF2-40B4-BE49-F238E27FC236}">
                <a16:creationId xmlns:a16="http://schemas.microsoft.com/office/drawing/2014/main" id="{D0EC79CD-3618-9CE7-753E-8E31057E275A}"/>
              </a:ext>
            </a:extLst>
          </p:cNvPr>
          <p:cNvSpPr txBox="1">
            <a:spLocks/>
          </p:cNvSpPr>
          <p:nvPr/>
        </p:nvSpPr>
        <p:spPr>
          <a:xfrm>
            <a:off x="3860800" y="1574800"/>
            <a:ext cx="1422400" cy="524955"/>
          </a:xfrm>
          <a:prstGeom prst="rect">
            <a:avLst/>
          </a:prstGeom>
          <a:noFill/>
        </p:spPr>
        <p:txBody>
          <a:bodyPr vert="horz" wrap="square" lIns="0" tIns="0" rIns="0" bIns="0" rtlCol="0" anchor="t">
            <a:noAutofit/>
          </a:bodyPr>
          <a:lstStyle/>
          <a:p>
            <a:pPr>
              <a:lnSpc>
                <a:spcPct val="110000"/>
              </a:lnSpc>
              <a:spcAft>
                <a:spcPts val="800"/>
              </a:spcAft>
            </a:pPr>
            <a:r>
              <a:rPr lang="es-ES" sz="3200" b="1">
                <a:solidFill>
                  <a:srgbClr val="FD6534"/>
                </a:solidFill>
                <a:latin typeface="Inter" panose="02000503000000020004" pitchFamily="2" charset="0"/>
              </a:rPr>
              <a:t>03</a:t>
            </a:r>
          </a:p>
        </p:txBody>
      </p:sp>
      <p:sp>
        <p:nvSpPr>
          <p:cNvPr id="9" name="c26_proc_label_2">
            <a:extLst>
              <a:ext uri="{FF2B5EF4-FFF2-40B4-BE49-F238E27FC236}">
                <a16:creationId xmlns:a16="http://schemas.microsoft.com/office/drawing/2014/main" id="{57BF0028-DBBE-1417-B05E-853A7B2E8DF8}"/>
              </a:ext>
            </a:extLst>
          </p:cNvPr>
          <p:cNvSpPr txBox="1">
            <a:spLocks/>
          </p:cNvSpPr>
          <p:nvPr/>
        </p:nvSpPr>
        <p:spPr>
          <a:xfrm>
            <a:off x="3860800" y="2298700"/>
            <a:ext cx="1676400" cy="812800"/>
          </a:xfrm>
          <a:prstGeom prst="rect">
            <a:avLst/>
          </a:prstGeom>
          <a:noFill/>
        </p:spPr>
        <p:txBody>
          <a:bodyPr vert="horz" wrap="square" lIns="0" tIns="0" rIns="0" bIns="0" rtlCol="0" anchor="t">
            <a:noAutofit/>
          </a:bodyPr>
          <a:lstStyle/>
          <a:p>
            <a:pPr>
              <a:lnSpc>
                <a:spcPct val="110000"/>
              </a:lnSpc>
            </a:pPr>
            <a:r>
              <a:rPr lang="es-ES" sz="1750" b="1">
                <a:solidFill>
                  <a:srgbClr val="1F2937"/>
                </a:solidFill>
                <a:latin typeface="Inter" panose="02000503000000020004" pitchFamily="2" charset="0"/>
              </a:rPr>
              <a:t>Investigar y</a:t>
            </a:r>
          </a:p>
          <a:p>
            <a:pPr>
              <a:lnSpc>
                <a:spcPct val="110000"/>
              </a:lnSpc>
            </a:pPr>
            <a:r>
              <a:rPr lang="es-ES" sz="1750" b="1">
                <a:solidFill>
                  <a:srgbClr val="1F2937"/>
                </a:solidFill>
                <a:latin typeface="Inter" panose="02000503000000020004" pitchFamily="2" charset="0"/>
              </a:rPr>
              <a:t>desarrollar</a:t>
            </a:r>
          </a:p>
        </p:txBody>
      </p:sp>
      <p:cxnSp>
        <p:nvCxnSpPr>
          <p:cNvPr id="10" name="c26_line_3">
            <a:extLst>
              <a:ext uri="{FF2B5EF4-FFF2-40B4-BE49-F238E27FC236}">
                <a16:creationId xmlns:a16="http://schemas.microsoft.com/office/drawing/2014/main" id="{1436E7B0-AD96-E64B-CACD-C28CA13B4D12}"/>
              </a:ext>
            </a:extLst>
          </p:cNvPr>
          <p:cNvCxnSpPr/>
          <p:nvPr/>
        </p:nvCxnSpPr>
        <p:spPr>
          <a:xfrm>
            <a:off x="5359400" y="1905000"/>
            <a:ext cx="241300" cy="127"/>
          </a:xfrm>
          <a:prstGeom prst="line">
            <a:avLst/>
          </a:prstGeom>
          <a:ln w="19050">
            <a:solidFill>
              <a:srgbClr val="FD6534"/>
            </a:solidFill>
            <a:tailEnd type="triangle"/>
          </a:ln>
        </p:spPr>
        <p:style>
          <a:lnRef idx="1">
            <a:schemeClr val="accent1"/>
          </a:lnRef>
          <a:fillRef idx="0">
            <a:schemeClr val="accent1"/>
          </a:fillRef>
          <a:effectRef idx="0">
            <a:schemeClr val="accent1"/>
          </a:effectRef>
          <a:fontRef idx="minor">
            <a:schemeClr val="tx1"/>
          </a:fontRef>
        </p:style>
      </p:cxnSp>
      <p:sp>
        <p:nvSpPr>
          <p:cNvPr id="11" name="c26_proc_num_3">
            <a:extLst>
              <a:ext uri="{FF2B5EF4-FFF2-40B4-BE49-F238E27FC236}">
                <a16:creationId xmlns:a16="http://schemas.microsoft.com/office/drawing/2014/main" id="{F674F3DC-0818-D752-07F9-D8A84C52CA7E}"/>
              </a:ext>
            </a:extLst>
          </p:cNvPr>
          <p:cNvSpPr txBox="1">
            <a:spLocks/>
          </p:cNvSpPr>
          <p:nvPr/>
        </p:nvSpPr>
        <p:spPr>
          <a:xfrm>
            <a:off x="5638800" y="1574800"/>
            <a:ext cx="1422400" cy="524955"/>
          </a:xfrm>
          <a:prstGeom prst="rect">
            <a:avLst/>
          </a:prstGeom>
          <a:noFill/>
        </p:spPr>
        <p:txBody>
          <a:bodyPr vert="horz" wrap="square" lIns="0" tIns="0" rIns="0" bIns="0" rtlCol="0" anchor="t">
            <a:noAutofit/>
          </a:bodyPr>
          <a:lstStyle/>
          <a:p>
            <a:pPr>
              <a:lnSpc>
                <a:spcPct val="110000"/>
              </a:lnSpc>
              <a:spcAft>
                <a:spcPts val="800"/>
              </a:spcAft>
            </a:pPr>
            <a:r>
              <a:rPr lang="es-ES" sz="3200" b="1">
                <a:solidFill>
                  <a:srgbClr val="FD6534"/>
                </a:solidFill>
                <a:latin typeface="Inter" panose="02000503000000020004" pitchFamily="2" charset="0"/>
              </a:rPr>
              <a:t>04</a:t>
            </a:r>
          </a:p>
        </p:txBody>
      </p:sp>
      <p:sp>
        <p:nvSpPr>
          <p:cNvPr id="12" name="c26_proc_label_3">
            <a:extLst>
              <a:ext uri="{FF2B5EF4-FFF2-40B4-BE49-F238E27FC236}">
                <a16:creationId xmlns:a16="http://schemas.microsoft.com/office/drawing/2014/main" id="{EBE8DF50-88E9-2EA2-75A2-DF9B436E0C9B}"/>
              </a:ext>
            </a:extLst>
          </p:cNvPr>
          <p:cNvSpPr txBox="1">
            <a:spLocks/>
          </p:cNvSpPr>
          <p:nvPr/>
        </p:nvSpPr>
        <p:spPr>
          <a:xfrm>
            <a:off x="5638800" y="2298700"/>
            <a:ext cx="1676400" cy="812800"/>
          </a:xfrm>
          <a:prstGeom prst="rect">
            <a:avLst/>
          </a:prstGeom>
          <a:noFill/>
        </p:spPr>
        <p:txBody>
          <a:bodyPr vert="horz" wrap="square" lIns="0" tIns="0" rIns="0" bIns="0" rtlCol="0" anchor="t">
            <a:noAutofit/>
          </a:bodyPr>
          <a:lstStyle/>
          <a:p>
            <a:pPr>
              <a:lnSpc>
                <a:spcPct val="110000"/>
              </a:lnSpc>
            </a:pPr>
            <a:r>
              <a:rPr lang="es-ES" sz="1750" b="1">
                <a:solidFill>
                  <a:srgbClr val="1F2937"/>
                </a:solidFill>
                <a:latin typeface="Inter" panose="02000503000000020004" pitchFamily="2" charset="0"/>
              </a:rPr>
              <a:t>Adaptar a</a:t>
            </a:r>
          </a:p>
          <a:p>
            <a:pPr>
              <a:lnSpc>
                <a:spcPct val="110000"/>
              </a:lnSpc>
            </a:pPr>
            <a:r>
              <a:rPr lang="es-ES" sz="1750" b="1">
                <a:solidFill>
                  <a:srgbClr val="1F2937"/>
                </a:solidFill>
                <a:latin typeface="Inter" panose="02000503000000020004" pitchFamily="2" charset="0"/>
              </a:rPr>
              <a:t>cada canal</a:t>
            </a:r>
          </a:p>
        </p:txBody>
      </p:sp>
      <p:cxnSp>
        <p:nvCxnSpPr>
          <p:cNvPr id="13" name="c26_line_4">
            <a:extLst>
              <a:ext uri="{FF2B5EF4-FFF2-40B4-BE49-F238E27FC236}">
                <a16:creationId xmlns:a16="http://schemas.microsoft.com/office/drawing/2014/main" id="{076FE10A-5383-B615-41C9-178AD5CC76FF}"/>
              </a:ext>
            </a:extLst>
          </p:cNvPr>
          <p:cNvCxnSpPr/>
          <p:nvPr/>
        </p:nvCxnSpPr>
        <p:spPr>
          <a:xfrm>
            <a:off x="7137400" y="1905000"/>
            <a:ext cx="241300" cy="127"/>
          </a:xfrm>
          <a:prstGeom prst="line">
            <a:avLst/>
          </a:prstGeom>
          <a:ln w="19050">
            <a:solidFill>
              <a:srgbClr val="FD6534"/>
            </a:solidFill>
            <a:tailEnd type="triangle"/>
          </a:ln>
        </p:spPr>
        <p:style>
          <a:lnRef idx="1">
            <a:schemeClr val="accent1"/>
          </a:lnRef>
          <a:fillRef idx="0">
            <a:schemeClr val="accent1"/>
          </a:fillRef>
          <a:effectRef idx="0">
            <a:schemeClr val="accent1"/>
          </a:effectRef>
          <a:fontRef idx="minor">
            <a:schemeClr val="tx1"/>
          </a:fontRef>
        </p:style>
      </p:cxnSp>
      <p:sp>
        <p:nvSpPr>
          <p:cNvPr id="14" name="c26_proc_num_4">
            <a:extLst>
              <a:ext uri="{FF2B5EF4-FFF2-40B4-BE49-F238E27FC236}">
                <a16:creationId xmlns:a16="http://schemas.microsoft.com/office/drawing/2014/main" id="{14431FDD-B3AA-5451-6AB3-DA5DF911EB30}"/>
              </a:ext>
            </a:extLst>
          </p:cNvPr>
          <p:cNvSpPr txBox="1">
            <a:spLocks/>
          </p:cNvSpPr>
          <p:nvPr/>
        </p:nvSpPr>
        <p:spPr>
          <a:xfrm>
            <a:off x="7416800" y="1574800"/>
            <a:ext cx="1422400" cy="524955"/>
          </a:xfrm>
          <a:prstGeom prst="rect">
            <a:avLst/>
          </a:prstGeom>
          <a:noFill/>
        </p:spPr>
        <p:txBody>
          <a:bodyPr vert="horz" wrap="square" lIns="0" tIns="0" rIns="0" bIns="0" rtlCol="0" anchor="t">
            <a:noAutofit/>
          </a:bodyPr>
          <a:lstStyle/>
          <a:p>
            <a:pPr>
              <a:lnSpc>
                <a:spcPct val="110000"/>
              </a:lnSpc>
              <a:spcAft>
                <a:spcPts val="800"/>
              </a:spcAft>
            </a:pPr>
            <a:r>
              <a:rPr lang="es-ES" sz="3200" b="1">
                <a:solidFill>
                  <a:srgbClr val="FD6534"/>
                </a:solidFill>
                <a:latin typeface="Inter" panose="02000503000000020004" pitchFamily="2" charset="0"/>
              </a:rPr>
              <a:t>05</a:t>
            </a:r>
          </a:p>
        </p:txBody>
      </p:sp>
      <p:sp>
        <p:nvSpPr>
          <p:cNvPr id="15" name="c26_proc_label_4">
            <a:extLst>
              <a:ext uri="{FF2B5EF4-FFF2-40B4-BE49-F238E27FC236}">
                <a16:creationId xmlns:a16="http://schemas.microsoft.com/office/drawing/2014/main" id="{BBE41529-6317-8051-D0D5-75AD6912F543}"/>
              </a:ext>
            </a:extLst>
          </p:cNvPr>
          <p:cNvSpPr txBox="1">
            <a:spLocks/>
          </p:cNvSpPr>
          <p:nvPr/>
        </p:nvSpPr>
        <p:spPr>
          <a:xfrm>
            <a:off x="7416800" y="2298700"/>
            <a:ext cx="1676400" cy="812800"/>
          </a:xfrm>
          <a:prstGeom prst="rect">
            <a:avLst/>
          </a:prstGeom>
          <a:noFill/>
        </p:spPr>
        <p:txBody>
          <a:bodyPr vert="horz" wrap="square" lIns="0" tIns="0" rIns="0" bIns="0" rtlCol="0" anchor="t">
            <a:noAutofit/>
          </a:bodyPr>
          <a:lstStyle/>
          <a:p>
            <a:pPr>
              <a:lnSpc>
                <a:spcPct val="110000"/>
              </a:lnSpc>
            </a:pPr>
            <a:r>
              <a:rPr lang="es-ES" sz="1750" b="1">
                <a:solidFill>
                  <a:srgbClr val="1F2937"/>
                </a:solidFill>
                <a:latin typeface="Inter" panose="02000503000000020004" pitchFamily="2" charset="0"/>
              </a:rPr>
              <a:t>Aprovechar</a:t>
            </a:r>
          </a:p>
          <a:p>
            <a:pPr>
              <a:lnSpc>
                <a:spcPct val="110000"/>
              </a:lnSpc>
            </a:pPr>
            <a:r>
              <a:rPr lang="es-ES" sz="1750" b="1">
                <a:solidFill>
                  <a:srgbClr val="1F2937"/>
                </a:solidFill>
                <a:latin typeface="Inter" panose="02000503000000020004" pitchFamily="2" charset="0"/>
              </a:rPr>
              <a:t>lo aprendido</a:t>
            </a:r>
          </a:p>
        </p:txBody>
      </p:sp>
      <p:cxnSp>
        <p:nvCxnSpPr>
          <p:cNvPr id="16" name="c26_line_5">
            <a:extLst>
              <a:ext uri="{FF2B5EF4-FFF2-40B4-BE49-F238E27FC236}">
                <a16:creationId xmlns:a16="http://schemas.microsoft.com/office/drawing/2014/main" id="{A4282598-9DCA-AEE0-8C7A-05582B29CA46}"/>
              </a:ext>
            </a:extLst>
          </p:cNvPr>
          <p:cNvCxnSpPr/>
          <p:nvPr/>
        </p:nvCxnSpPr>
        <p:spPr>
          <a:xfrm>
            <a:off x="8153400" y="3213100"/>
            <a:ext cx="127" cy="495300"/>
          </a:xfrm>
          <a:prstGeom prst="line">
            <a:avLst/>
          </a:prstGeom>
          <a:ln w="19050">
            <a:solidFill>
              <a:srgbClr val="FD6534"/>
            </a:solidFill>
            <a:tailEnd type="none"/>
          </a:ln>
        </p:spPr>
        <p:style>
          <a:lnRef idx="1">
            <a:schemeClr val="accent1"/>
          </a:lnRef>
          <a:fillRef idx="0">
            <a:schemeClr val="accent1"/>
          </a:fillRef>
          <a:effectRef idx="0">
            <a:schemeClr val="accent1"/>
          </a:effectRef>
          <a:fontRef idx="minor">
            <a:schemeClr val="tx1"/>
          </a:fontRef>
        </p:style>
      </p:cxnSp>
      <p:cxnSp>
        <p:nvCxnSpPr>
          <p:cNvPr id="17" name="c26_line_6">
            <a:extLst>
              <a:ext uri="{FF2B5EF4-FFF2-40B4-BE49-F238E27FC236}">
                <a16:creationId xmlns:a16="http://schemas.microsoft.com/office/drawing/2014/main" id="{8EEDFC1A-DADB-C1FC-61F0-B2410204FBE2}"/>
              </a:ext>
            </a:extLst>
          </p:cNvPr>
          <p:cNvCxnSpPr/>
          <p:nvPr/>
        </p:nvCxnSpPr>
        <p:spPr>
          <a:xfrm flipH="1">
            <a:off x="1016000" y="3708400"/>
            <a:ext cx="7137400" cy="127"/>
          </a:xfrm>
          <a:prstGeom prst="line">
            <a:avLst/>
          </a:prstGeom>
          <a:ln w="19050">
            <a:solidFill>
              <a:srgbClr val="FD6534"/>
            </a:solidFill>
            <a:tailEnd type="none"/>
          </a:ln>
        </p:spPr>
        <p:style>
          <a:lnRef idx="1">
            <a:schemeClr val="accent1"/>
          </a:lnRef>
          <a:fillRef idx="0">
            <a:schemeClr val="accent1"/>
          </a:fillRef>
          <a:effectRef idx="0">
            <a:schemeClr val="accent1"/>
          </a:effectRef>
          <a:fontRef idx="minor">
            <a:schemeClr val="tx1"/>
          </a:fontRef>
        </p:style>
      </p:cxnSp>
      <p:cxnSp>
        <p:nvCxnSpPr>
          <p:cNvPr id="18" name="c26_line_7">
            <a:extLst>
              <a:ext uri="{FF2B5EF4-FFF2-40B4-BE49-F238E27FC236}">
                <a16:creationId xmlns:a16="http://schemas.microsoft.com/office/drawing/2014/main" id="{2AE6B627-2BC3-6FB5-4D90-93923F9B4317}"/>
              </a:ext>
            </a:extLst>
          </p:cNvPr>
          <p:cNvCxnSpPr/>
          <p:nvPr/>
        </p:nvCxnSpPr>
        <p:spPr>
          <a:xfrm flipV="1">
            <a:off x="1016000" y="3213100"/>
            <a:ext cx="127" cy="495300"/>
          </a:xfrm>
          <a:prstGeom prst="line">
            <a:avLst/>
          </a:prstGeom>
          <a:ln w="19050">
            <a:solidFill>
              <a:srgbClr val="FD6534"/>
            </a:solidFill>
            <a:tailEnd type="triangle"/>
          </a:ln>
        </p:spPr>
        <p:style>
          <a:lnRef idx="1">
            <a:schemeClr val="accent1"/>
          </a:lnRef>
          <a:fillRef idx="0">
            <a:schemeClr val="accent1"/>
          </a:fillRef>
          <a:effectRef idx="0">
            <a:schemeClr val="accent1"/>
          </a:effectRef>
          <a:fontRef idx="minor">
            <a:schemeClr val="tx1"/>
          </a:fontRef>
        </p:style>
      </p:cxnSp>
      <p:sp>
        <p:nvSpPr>
          <p:cNvPr id="19" name="c26_proc_return">
            <a:extLst>
              <a:ext uri="{FF2B5EF4-FFF2-40B4-BE49-F238E27FC236}">
                <a16:creationId xmlns:a16="http://schemas.microsoft.com/office/drawing/2014/main" id="{90B1A6C2-2EA2-2AA3-7BDB-C841D2CDBD91}"/>
              </a:ext>
            </a:extLst>
          </p:cNvPr>
          <p:cNvSpPr txBox="1">
            <a:spLocks/>
          </p:cNvSpPr>
          <p:nvPr/>
        </p:nvSpPr>
        <p:spPr>
          <a:xfrm>
            <a:off x="736600" y="3987800"/>
            <a:ext cx="7747000" cy="615553"/>
          </a:xfrm>
          <a:prstGeom prst="rect">
            <a:avLst/>
          </a:prstGeom>
          <a:noFill/>
        </p:spPr>
        <p:txBody>
          <a:bodyPr vert="horz" wrap="square" lIns="0" tIns="0" rIns="0" bIns="0" rtlCol="0" anchor="t">
            <a:noAutofit/>
          </a:bodyPr>
          <a:lstStyle/>
          <a:p>
            <a:pPr>
              <a:lnSpc>
                <a:spcPct val="110000"/>
              </a:lnSpc>
              <a:spcAft>
                <a:spcPts val="800"/>
              </a:spcAft>
            </a:pPr>
            <a:r>
              <a:rPr lang="es-ES" sz="2000">
                <a:solidFill>
                  <a:srgbClr val="1F2937"/>
                </a:solidFill>
                <a:latin typeface="Inter" panose="02000503000000020004" pitchFamily="2" charset="0"/>
              </a:rPr>
              <a:t>Lo publicado y las correcciones alimentan la siguiente revisión.</a:t>
            </a:r>
          </a:p>
        </p:txBody>
      </p:sp>
      <p:sp>
        <p:nvSpPr>
          <p:cNvPr id="20" name="TextBox 19">
            <a:extLst>
              <a:ext uri="{FF2B5EF4-FFF2-40B4-BE49-F238E27FC236}">
                <a16:creationId xmlns:a16="http://schemas.microsoft.com/office/drawing/2014/main" id="{9845A437-00AE-ECD1-1E1C-94D0823F1662}"/>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12</a:t>
            </a:r>
          </a:p>
        </p:txBody>
      </p:sp>
    </p:spTree>
    <p:extLst>
      <p:ext uri="{BB962C8B-B14F-4D97-AF65-F5344CB8AC3E}">
        <p14:creationId xmlns:p14="http://schemas.microsoft.com/office/powerpoint/2010/main" val="3107779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20" name="v3_13_text_1">
            <a:extLst>
              <a:ext uri="{FF2B5EF4-FFF2-40B4-BE49-F238E27FC236}">
                <a16:creationId xmlns:a16="http://schemas.microsoft.com/office/drawing/2014/main" id="{A6018306-8AC9-D0B7-EC82-58145CEB4BBB}"/>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Concretamos la primera fase</a:t>
            </a:r>
          </a:p>
        </p:txBody>
      </p:sp>
      <p:sp>
        <p:nvSpPr>
          <p:cNvPr id="21" name="v3_13_text_2">
            <a:extLst>
              <a:ext uri="{FF2B5EF4-FFF2-40B4-BE49-F238E27FC236}">
                <a16:creationId xmlns:a16="http://schemas.microsoft.com/office/drawing/2014/main" id="{5A7DA529-165A-0353-998B-1622BD3C6D1D}"/>
              </a:ext>
            </a:extLst>
          </p:cNvPr>
          <p:cNvSpPr txBox="1"/>
          <p:nvPr/>
        </p:nvSpPr>
        <p:spPr>
          <a:xfrm>
            <a:off x="330200" y="1409699"/>
            <a:ext cx="2349500" cy="406400"/>
          </a:xfrm>
          <a:prstGeom prst="rect">
            <a:avLst/>
          </a:prstGeom>
          <a:noFill/>
        </p:spPr>
        <p:txBody>
          <a:bodyPr vert="horz" wrap="square" lIns="0" tIns="0" rIns="0" bIns="0" rtlCol="0" anchor="t">
            <a:noAutofit/>
          </a:bodyPr>
          <a:lstStyle/>
          <a:p>
            <a:pPr>
              <a:lnSpc>
                <a:spcPct val="106000"/>
              </a:lnSpc>
            </a:pPr>
            <a:r>
              <a:rPr lang="es-ES" sz="2300" b="1">
                <a:solidFill>
                  <a:srgbClr val="FD6534"/>
                </a:solidFill>
                <a:latin typeface="Inter" panose="02000503000000020004" pitchFamily="2" charset="0"/>
              </a:rPr>
              <a:t>Necesita</a:t>
            </a:r>
          </a:p>
        </p:txBody>
      </p:sp>
      <p:sp>
        <p:nvSpPr>
          <p:cNvPr id="22" name="v3_13_text_3">
            <a:extLst>
              <a:ext uri="{FF2B5EF4-FFF2-40B4-BE49-F238E27FC236}">
                <a16:creationId xmlns:a16="http://schemas.microsoft.com/office/drawing/2014/main" id="{037163D2-1F3D-AF3A-1C7B-FC21E62A68B6}"/>
              </a:ext>
            </a:extLst>
          </p:cNvPr>
          <p:cNvSpPr txBox="1"/>
          <p:nvPr/>
        </p:nvSpPr>
        <p:spPr>
          <a:xfrm>
            <a:off x="2933700" y="1409699"/>
            <a:ext cx="5842000" cy="609600"/>
          </a:xfrm>
          <a:prstGeom prst="rect">
            <a:avLst/>
          </a:prstGeom>
          <a:noFill/>
        </p:spPr>
        <p:txBody>
          <a:bodyPr vert="horz" wrap="square" lIns="0" tIns="0" rIns="0" bIns="0" rtlCol="0" anchor="t">
            <a:noAutofit/>
          </a:bodyPr>
          <a:lstStyle/>
          <a:p>
            <a:pPr>
              <a:lnSpc>
                <a:spcPct val="106000"/>
              </a:lnSpc>
            </a:pPr>
            <a:r>
              <a:rPr lang="es-ES" sz="2300">
                <a:solidFill>
                  <a:srgbClr val="1F2937"/>
                </a:solidFill>
                <a:latin typeface="Inter" panose="02000503000000020004" pitchFamily="2" charset="0"/>
              </a:rPr>
              <a:t>Los artículos completos y sus datos.</a:t>
            </a:r>
          </a:p>
        </p:txBody>
      </p:sp>
      <p:sp>
        <p:nvSpPr>
          <p:cNvPr id="23" name="v3_13_text_4">
            <a:extLst>
              <a:ext uri="{FF2B5EF4-FFF2-40B4-BE49-F238E27FC236}">
                <a16:creationId xmlns:a16="http://schemas.microsoft.com/office/drawing/2014/main" id="{7EE831C7-247C-05C6-DBB6-4CD3BB5CBD44}"/>
              </a:ext>
            </a:extLst>
          </p:cNvPr>
          <p:cNvSpPr txBox="1"/>
          <p:nvPr/>
        </p:nvSpPr>
        <p:spPr>
          <a:xfrm>
            <a:off x="330200" y="2171699"/>
            <a:ext cx="2349500" cy="406400"/>
          </a:xfrm>
          <a:prstGeom prst="rect">
            <a:avLst/>
          </a:prstGeom>
          <a:noFill/>
        </p:spPr>
        <p:txBody>
          <a:bodyPr vert="horz" wrap="square" lIns="0" tIns="0" rIns="0" bIns="0" rtlCol="0" anchor="t">
            <a:noAutofit/>
          </a:bodyPr>
          <a:lstStyle/>
          <a:p>
            <a:pPr>
              <a:lnSpc>
                <a:spcPct val="106000"/>
              </a:lnSpc>
            </a:pPr>
            <a:r>
              <a:rPr lang="es-ES" sz="2300" b="1">
                <a:solidFill>
                  <a:srgbClr val="FD6534"/>
                </a:solidFill>
                <a:latin typeface="Inter" panose="02000503000000020004" pitchFamily="2" charset="0"/>
              </a:rPr>
              <a:t>Hace</a:t>
            </a:r>
          </a:p>
        </p:txBody>
      </p:sp>
      <p:sp>
        <p:nvSpPr>
          <p:cNvPr id="24" name="v3_13_text_5">
            <a:extLst>
              <a:ext uri="{FF2B5EF4-FFF2-40B4-BE49-F238E27FC236}">
                <a16:creationId xmlns:a16="http://schemas.microsoft.com/office/drawing/2014/main" id="{0360DB28-E524-3A4E-62B2-29F93D9A2B56}"/>
              </a:ext>
            </a:extLst>
          </p:cNvPr>
          <p:cNvSpPr txBox="1"/>
          <p:nvPr/>
        </p:nvSpPr>
        <p:spPr>
          <a:xfrm>
            <a:off x="2933700" y="2171699"/>
            <a:ext cx="5842000" cy="609600"/>
          </a:xfrm>
          <a:prstGeom prst="rect">
            <a:avLst/>
          </a:prstGeom>
          <a:noFill/>
        </p:spPr>
        <p:txBody>
          <a:bodyPr vert="horz" wrap="square" lIns="0" tIns="0" rIns="0" bIns="0" rtlCol="0" anchor="t">
            <a:noAutofit/>
          </a:bodyPr>
          <a:lstStyle/>
          <a:p>
            <a:pPr>
              <a:lnSpc>
                <a:spcPct val="106000"/>
              </a:lnSpc>
            </a:pPr>
            <a:r>
              <a:rPr lang="es-ES" sz="2300">
                <a:solidFill>
                  <a:srgbClr val="1F2937"/>
                </a:solidFill>
                <a:latin typeface="Inter" panose="02000503000000020004" pitchFamily="2" charset="0"/>
              </a:rPr>
              <a:t>Identifica tema, enfoque y tesis.</a:t>
            </a:r>
          </a:p>
        </p:txBody>
      </p:sp>
      <p:sp>
        <p:nvSpPr>
          <p:cNvPr id="25" name="v3_13_text_6">
            <a:extLst>
              <a:ext uri="{FF2B5EF4-FFF2-40B4-BE49-F238E27FC236}">
                <a16:creationId xmlns:a16="http://schemas.microsoft.com/office/drawing/2014/main" id="{06008EAA-0F38-7A6D-0262-47450CC2F1DB}"/>
              </a:ext>
            </a:extLst>
          </p:cNvPr>
          <p:cNvSpPr txBox="1"/>
          <p:nvPr/>
        </p:nvSpPr>
        <p:spPr>
          <a:xfrm>
            <a:off x="330200" y="2933699"/>
            <a:ext cx="2349500" cy="406400"/>
          </a:xfrm>
          <a:prstGeom prst="rect">
            <a:avLst/>
          </a:prstGeom>
          <a:noFill/>
        </p:spPr>
        <p:txBody>
          <a:bodyPr vert="horz" wrap="square" lIns="0" tIns="0" rIns="0" bIns="0" rtlCol="0" anchor="t">
            <a:noAutofit/>
          </a:bodyPr>
          <a:lstStyle/>
          <a:p>
            <a:pPr>
              <a:lnSpc>
                <a:spcPct val="106000"/>
              </a:lnSpc>
            </a:pPr>
            <a:r>
              <a:rPr lang="es-ES" sz="2300" b="1">
                <a:solidFill>
                  <a:srgbClr val="FD6534"/>
                </a:solidFill>
                <a:latin typeface="Inter" panose="02000503000000020004" pitchFamily="2" charset="0"/>
              </a:rPr>
              <a:t>Entrega</a:t>
            </a:r>
          </a:p>
        </p:txBody>
      </p:sp>
      <p:sp>
        <p:nvSpPr>
          <p:cNvPr id="26" name="v3_13_text_7">
            <a:extLst>
              <a:ext uri="{FF2B5EF4-FFF2-40B4-BE49-F238E27FC236}">
                <a16:creationId xmlns:a16="http://schemas.microsoft.com/office/drawing/2014/main" id="{BB3510DA-4875-2FBB-DFAE-EA6F14CDC62A}"/>
              </a:ext>
            </a:extLst>
          </p:cNvPr>
          <p:cNvSpPr txBox="1"/>
          <p:nvPr/>
        </p:nvSpPr>
        <p:spPr>
          <a:xfrm>
            <a:off x="2933700" y="2933700"/>
            <a:ext cx="5842000" cy="698500"/>
          </a:xfrm>
          <a:prstGeom prst="rect">
            <a:avLst/>
          </a:prstGeom>
          <a:noFill/>
        </p:spPr>
        <p:txBody>
          <a:bodyPr vert="horz" wrap="square" lIns="0" tIns="0" rIns="0" bIns="0" rtlCol="0" anchor="t">
            <a:noAutofit/>
          </a:bodyPr>
          <a:lstStyle/>
          <a:p>
            <a:pPr>
              <a:lnSpc>
                <a:spcPct val="106000"/>
              </a:lnSpc>
            </a:pPr>
            <a:r>
              <a:rPr lang="es-ES" sz="2300">
                <a:solidFill>
                  <a:srgbClr val="1F2937"/>
                </a:solidFill>
                <a:latin typeface="Inter" panose="02000503000000020004" pitchFamily="2" charset="0"/>
              </a:rPr>
              <a:t>Una ficha por artículo y un mapa de temas.</a:t>
            </a:r>
          </a:p>
        </p:txBody>
      </p:sp>
      <p:sp>
        <p:nvSpPr>
          <p:cNvPr id="27" name="v3_13_text_8">
            <a:extLst>
              <a:ext uri="{FF2B5EF4-FFF2-40B4-BE49-F238E27FC236}">
                <a16:creationId xmlns:a16="http://schemas.microsoft.com/office/drawing/2014/main" id="{8CFEBC38-5AD7-4354-D6A6-E72B805E1219}"/>
              </a:ext>
            </a:extLst>
          </p:cNvPr>
          <p:cNvSpPr txBox="1"/>
          <p:nvPr/>
        </p:nvSpPr>
        <p:spPr>
          <a:xfrm>
            <a:off x="330200" y="3771899"/>
            <a:ext cx="2476500" cy="698500"/>
          </a:xfrm>
          <a:prstGeom prst="rect">
            <a:avLst/>
          </a:prstGeom>
          <a:noFill/>
        </p:spPr>
        <p:txBody>
          <a:bodyPr vert="horz" wrap="square" lIns="0" tIns="0" rIns="0" bIns="0" rtlCol="0" anchor="t">
            <a:noAutofit/>
          </a:bodyPr>
          <a:lstStyle/>
          <a:p>
            <a:pPr>
              <a:lnSpc>
                <a:spcPct val="106000"/>
              </a:lnSpc>
            </a:pPr>
            <a:r>
              <a:rPr lang="es-ES" sz="2300" b="1">
                <a:solidFill>
                  <a:srgbClr val="FD6534"/>
                </a:solidFill>
                <a:latin typeface="Inter" panose="02000503000000020004" pitchFamily="2" charset="0"/>
              </a:rPr>
              <a:t>Se comprueba</a:t>
            </a:r>
          </a:p>
        </p:txBody>
      </p:sp>
      <p:sp>
        <p:nvSpPr>
          <p:cNvPr id="28" name="v3_13_text_9">
            <a:extLst>
              <a:ext uri="{FF2B5EF4-FFF2-40B4-BE49-F238E27FC236}">
                <a16:creationId xmlns:a16="http://schemas.microsoft.com/office/drawing/2014/main" id="{3A1BA59A-B110-476D-F83A-6B990D664A1C}"/>
              </a:ext>
            </a:extLst>
          </p:cNvPr>
          <p:cNvSpPr txBox="1"/>
          <p:nvPr/>
        </p:nvSpPr>
        <p:spPr>
          <a:xfrm>
            <a:off x="2933700" y="3771899"/>
            <a:ext cx="5842000" cy="698500"/>
          </a:xfrm>
          <a:prstGeom prst="rect">
            <a:avLst/>
          </a:prstGeom>
          <a:noFill/>
        </p:spPr>
        <p:txBody>
          <a:bodyPr vert="horz" wrap="square" lIns="0" tIns="0" rIns="0" bIns="0" rtlCol="0" anchor="t">
            <a:noAutofit/>
          </a:bodyPr>
          <a:lstStyle/>
          <a:p>
            <a:pPr>
              <a:lnSpc>
                <a:spcPct val="106000"/>
              </a:lnSpc>
            </a:pPr>
            <a:r>
              <a:rPr lang="es-ES" sz="2300">
                <a:solidFill>
                  <a:srgbClr val="1F2937"/>
                </a:solidFill>
                <a:latin typeface="Inter" panose="02000503000000020004" pitchFamily="2" charset="0"/>
              </a:rPr>
              <a:t>Que la ficha sea válida y fiel al artículo.</a:t>
            </a:r>
          </a:p>
        </p:txBody>
      </p:sp>
      <p:sp>
        <p:nvSpPr>
          <p:cNvPr id="29" name="TextBox 28">
            <a:extLst>
              <a:ext uri="{FF2B5EF4-FFF2-40B4-BE49-F238E27FC236}">
                <a16:creationId xmlns:a16="http://schemas.microsoft.com/office/drawing/2014/main" id="{F9905BB4-4C94-5638-C971-0FCF991E7FB3}"/>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13</a:t>
            </a:r>
          </a:p>
        </p:txBody>
      </p:sp>
    </p:spTree>
    <p:extLst>
      <p:ext uri="{BB962C8B-B14F-4D97-AF65-F5344CB8AC3E}">
        <p14:creationId xmlns:p14="http://schemas.microsoft.com/office/powerpoint/2010/main" val="4016957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cxnSp>
        <p:nvCxnSpPr>
          <p:cNvPr id="25" name="v3_14_line_6">
            <a:extLst>
              <a:ext uri="{FF2B5EF4-FFF2-40B4-BE49-F238E27FC236}">
                <a16:creationId xmlns:a16="http://schemas.microsoft.com/office/drawing/2014/main" id="{9C9D724C-85BA-DD2D-F367-82D1FD66C545}"/>
              </a:ext>
            </a:extLst>
          </p:cNvPr>
          <p:cNvCxnSpPr/>
          <p:nvPr/>
        </p:nvCxnSpPr>
        <p:spPr>
          <a:xfrm>
            <a:off x="4508500" y="1397000"/>
            <a:ext cx="0" cy="2565400"/>
          </a:xfrm>
          <a:prstGeom prst="line">
            <a:avLst/>
          </a:prstGeom>
          <a:ln w="19050">
            <a:solidFill>
              <a:srgbClr val="B9B8B2"/>
            </a:solidFill>
          </a:ln>
        </p:spPr>
        <p:style>
          <a:lnRef idx="1">
            <a:schemeClr val="accent1"/>
          </a:lnRef>
          <a:fillRef idx="0">
            <a:schemeClr val="accent1"/>
          </a:fillRef>
          <a:effectRef idx="0">
            <a:schemeClr val="accent1"/>
          </a:effectRef>
          <a:fontRef idx="minor">
            <a:schemeClr val="tx1"/>
          </a:fontRef>
        </p:style>
      </p:cxnSp>
      <p:sp>
        <p:nvSpPr>
          <p:cNvPr id="20" name="v3_14_text_1">
            <a:extLst>
              <a:ext uri="{FF2B5EF4-FFF2-40B4-BE49-F238E27FC236}">
                <a16:creationId xmlns:a16="http://schemas.microsoft.com/office/drawing/2014/main" id="{11F25495-4669-B299-89B9-A088020D69A9}"/>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pt-BR" sz="3200" b="1">
                <a:solidFill>
                  <a:srgbClr val="1F2937"/>
                </a:solidFill>
                <a:latin typeface="Inter" panose="02000503000000020004" pitchFamily="2" charset="0"/>
              </a:rPr>
              <a:t>Código para reglas; IA para criterio</a:t>
            </a:r>
            <a:endParaRPr lang="es-ES" sz="3200" b="1">
              <a:solidFill>
                <a:srgbClr val="1F2937"/>
              </a:solidFill>
              <a:latin typeface="Inter" panose="02000503000000020004" pitchFamily="2" charset="0"/>
            </a:endParaRPr>
          </a:p>
        </p:txBody>
      </p:sp>
      <p:sp>
        <p:nvSpPr>
          <p:cNvPr id="21" name="v3_14_text_2">
            <a:extLst>
              <a:ext uri="{FF2B5EF4-FFF2-40B4-BE49-F238E27FC236}">
                <a16:creationId xmlns:a16="http://schemas.microsoft.com/office/drawing/2014/main" id="{D687FF73-299D-9FC1-37C4-35CE8CF667E0}"/>
              </a:ext>
            </a:extLst>
          </p:cNvPr>
          <p:cNvSpPr txBox="1"/>
          <p:nvPr/>
        </p:nvSpPr>
        <p:spPr>
          <a:xfrm>
            <a:off x="330200" y="1371599"/>
            <a:ext cx="4064000" cy="825500"/>
          </a:xfrm>
          <a:prstGeom prst="rect">
            <a:avLst/>
          </a:prstGeom>
          <a:noFill/>
        </p:spPr>
        <p:txBody>
          <a:bodyPr vert="horz" wrap="square" lIns="0" tIns="0" rIns="0" bIns="0" rtlCol="0" anchor="t">
            <a:noAutofit/>
          </a:bodyPr>
          <a:lstStyle/>
          <a:p>
            <a:pPr>
              <a:lnSpc>
                <a:spcPct val="106000"/>
              </a:lnSpc>
            </a:pPr>
            <a:r>
              <a:rPr lang="es-ES" sz="2500" b="1">
                <a:solidFill>
                  <a:srgbClr val="1F2937"/>
                </a:solidFill>
                <a:latin typeface="Inter" panose="02000503000000020004" pitchFamily="2" charset="0"/>
              </a:rPr>
              <a:t>Reglas que ejecuta el código</a:t>
            </a:r>
          </a:p>
        </p:txBody>
      </p:sp>
      <p:sp>
        <p:nvSpPr>
          <p:cNvPr id="22" name="v3_14_text_3">
            <a:extLst>
              <a:ext uri="{FF2B5EF4-FFF2-40B4-BE49-F238E27FC236}">
                <a16:creationId xmlns:a16="http://schemas.microsoft.com/office/drawing/2014/main" id="{E3B6CC5F-8759-8B5B-46D0-6D6E103ED472}"/>
              </a:ext>
            </a:extLst>
          </p:cNvPr>
          <p:cNvSpPr txBox="1"/>
          <p:nvPr/>
        </p:nvSpPr>
        <p:spPr>
          <a:xfrm>
            <a:off x="330200" y="2336799"/>
            <a:ext cx="3937000" cy="1397000"/>
          </a:xfrm>
          <a:prstGeom prst="rect">
            <a:avLst/>
          </a:prstGeom>
          <a:noFill/>
        </p:spPr>
        <p:txBody>
          <a:bodyPr vert="horz" wrap="square" lIns="0" tIns="0" rIns="0" bIns="0" rtlCol="0" anchor="t">
            <a:noAutofit/>
          </a:bodyPr>
          <a:lstStyle/>
          <a:p>
            <a:pPr>
              <a:lnSpc>
                <a:spcPct val="106000"/>
              </a:lnSpc>
            </a:pPr>
            <a:r>
              <a:rPr lang="es-ES" sz="2300">
                <a:solidFill>
                  <a:srgbClr val="1F2937"/>
                </a:solidFill>
                <a:latin typeface="Inter" panose="02000503000000020004" pitchFamily="2" charset="0"/>
              </a:rPr>
              <a:t>Descargar el artículo.</a:t>
            </a:r>
          </a:p>
          <a:p>
            <a:pPr>
              <a:lnSpc>
                <a:spcPct val="106000"/>
              </a:lnSpc>
            </a:pPr>
            <a:r>
              <a:rPr lang="es-ES" sz="2300">
                <a:solidFill>
                  <a:srgbClr val="1F2937"/>
                </a:solidFill>
                <a:latin typeface="Inter" panose="02000503000000020004" pitchFamily="2" charset="0"/>
              </a:rPr>
              <a:t>Guardar su ID y fecha.</a:t>
            </a:r>
          </a:p>
          <a:p>
            <a:pPr>
              <a:lnSpc>
                <a:spcPct val="106000"/>
              </a:lnSpc>
            </a:pPr>
            <a:r>
              <a:rPr lang="es-ES" sz="2300">
                <a:solidFill>
                  <a:srgbClr val="1F2937"/>
                </a:solidFill>
                <a:latin typeface="Inter" panose="02000503000000020004" pitchFamily="2" charset="0"/>
              </a:rPr>
              <a:t>Detectar si ha cambiado.</a:t>
            </a:r>
          </a:p>
        </p:txBody>
      </p:sp>
      <p:sp>
        <p:nvSpPr>
          <p:cNvPr id="23" name="v3_14_text_4">
            <a:extLst>
              <a:ext uri="{FF2B5EF4-FFF2-40B4-BE49-F238E27FC236}">
                <a16:creationId xmlns:a16="http://schemas.microsoft.com/office/drawing/2014/main" id="{646037D8-1FBA-72A9-5360-B0617771AC9B}"/>
              </a:ext>
            </a:extLst>
          </p:cNvPr>
          <p:cNvSpPr txBox="1"/>
          <p:nvPr/>
        </p:nvSpPr>
        <p:spPr>
          <a:xfrm>
            <a:off x="4902200" y="1371599"/>
            <a:ext cx="3937000" cy="825500"/>
          </a:xfrm>
          <a:prstGeom prst="rect">
            <a:avLst/>
          </a:prstGeom>
          <a:noFill/>
        </p:spPr>
        <p:txBody>
          <a:bodyPr vert="horz" wrap="square" lIns="0" tIns="0" rIns="0" bIns="0" rtlCol="0" anchor="t">
            <a:noAutofit/>
          </a:bodyPr>
          <a:lstStyle/>
          <a:p>
            <a:pPr>
              <a:lnSpc>
                <a:spcPct val="106000"/>
              </a:lnSpc>
            </a:pPr>
            <a:r>
              <a:rPr lang="es-ES" sz="2500" b="1">
                <a:solidFill>
                  <a:srgbClr val="FD6534"/>
                </a:solidFill>
                <a:latin typeface="Inter" panose="02000503000000020004" pitchFamily="2" charset="0"/>
              </a:rPr>
              <a:t>Decisiones que toma el modelo</a:t>
            </a:r>
          </a:p>
        </p:txBody>
      </p:sp>
      <p:sp>
        <p:nvSpPr>
          <p:cNvPr id="24" name="v3_14_text_5">
            <a:extLst>
              <a:ext uri="{FF2B5EF4-FFF2-40B4-BE49-F238E27FC236}">
                <a16:creationId xmlns:a16="http://schemas.microsoft.com/office/drawing/2014/main" id="{8D45D170-E1D4-5187-3FD8-17035E18EDD5}"/>
              </a:ext>
            </a:extLst>
          </p:cNvPr>
          <p:cNvSpPr txBox="1"/>
          <p:nvPr/>
        </p:nvSpPr>
        <p:spPr>
          <a:xfrm>
            <a:off x="4902200" y="2336799"/>
            <a:ext cx="3937000" cy="1397000"/>
          </a:xfrm>
          <a:prstGeom prst="rect">
            <a:avLst/>
          </a:prstGeom>
          <a:noFill/>
        </p:spPr>
        <p:txBody>
          <a:bodyPr vert="horz" wrap="square" lIns="0" tIns="0" rIns="0" bIns="0" rtlCol="0" anchor="t">
            <a:noAutofit/>
          </a:bodyPr>
          <a:lstStyle/>
          <a:p>
            <a:pPr>
              <a:lnSpc>
                <a:spcPct val="106000"/>
              </a:lnSpc>
            </a:pPr>
            <a:r>
              <a:rPr lang="es-ES" sz="2300">
                <a:solidFill>
                  <a:srgbClr val="1F2937"/>
                </a:solidFill>
                <a:latin typeface="Inter" panose="02000503000000020004" pitchFamily="2" charset="0"/>
              </a:rPr>
              <a:t>¿Cuál es el tema?</a:t>
            </a:r>
          </a:p>
          <a:p>
            <a:pPr>
              <a:lnSpc>
                <a:spcPct val="106000"/>
              </a:lnSpc>
            </a:pPr>
            <a:r>
              <a:rPr lang="es-ES" sz="2300">
                <a:solidFill>
                  <a:srgbClr val="1F2937"/>
                </a:solidFill>
                <a:latin typeface="Inter" panose="02000503000000020004" pitchFamily="2" charset="0"/>
              </a:rPr>
              <a:t>¿Qué enfoque tiene?</a:t>
            </a:r>
          </a:p>
          <a:p>
            <a:pPr>
              <a:lnSpc>
                <a:spcPct val="106000"/>
              </a:lnSpc>
            </a:pPr>
            <a:r>
              <a:rPr lang="es-ES" sz="2300">
                <a:solidFill>
                  <a:srgbClr val="1F2937"/>
                </a:solidFill>
                <a:latin typeface="Inter" panose="02000503000000020004" pitchFamily="2" charset="0"/>
              </a:rPr>
              <a:t>¿Qué idea defiende?</a:t>
            </a:r>
          </a:p>
        </p:txBody>
      </p:sp>
      <p:sp>
        <p:nvSpPr>
          <p:cNvPr id="26" name="v3_14_text_7">
            <a:extLst>
              <a:ext uri="{FF2B5EF4-FFF2-40B4-BE49-F238E27FC236}">
                <a16:creationId xmlns:a16="http://schemas.microsoft.com/office/drawing/2014/main" id="{DDD15F9D-048D-9B24-5DB2-288ABB3ED68B}"/>
              </a:ext>
            </a:extLst>
          </p:cNvPr>
          <p:cNvSpPr txBox="1"/>
          <p:nvPr/>
        </p:nvSpPr>
        <p:spPr>
          <a:xfrm>
            <a:off x="330200" y="4394200"/>
            <a:ext cx="8382000" cy="279400"/>
          </a:xfrm>
          <a:prstGeom prst="rect">
            <a:avLst/>
          </a:prstGeom>
          <a:noFill/>
        </p:spPr>
        <p:txBody>
          <a:bodyPr vert="horz" wrap="square" lIns="0" tIns="0" rIns="0" bIns="0" rtlCol="0" anchor="t">
            <a:noAutofit/>
          </a:bodyPr>
          <a:lstStyle/>
          <a:p>
            <a:pPr>
              <a:lnSpc>
                <a:spcPct val="106000"/>
              </a:lnSpc>
            </a:pPr>
            <a:r>
              <a:rPr lang="es-ES" sz="1130">
                <a:solidFill>
                  <a:srgbClr val="62666A"/>
                </a:solidFill>
                <a:latin typeface="Inter" panose="02000503000000020004" pitchFamily="2" charset="0"/>
              </a:rPr>
              <a:t>El criterio editorial guía las decisiones; el código conserva y comprueba los datos.</a:t>
            </a:r>
          </a:p>
        </p:txBody>
      </p:sp>
      <p:sp>
        <p:nvSpPr>
          <p:cNvPr id="27" name="TextBox 26">
            <a:extLst>
              <a:ext uri="{FF2B5EF4-FFF2-40B4-BE49-F238E27FC236}">
                <a16:creationId xmlns:a16="http://schemas.microsoft.com/office/drawing/2014/main" id="{AB723D33-20E7-F480-0087-DD2107804A81}"/>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14</a:t>
            </a:r>
          </a:p>
        </p:txBody>
      </p:sp>
    </p:spTree>
    <p:extLst>
      <p:ext uri="{BB962C8B-B14F-4D97-AF65-F5344CB8AC3E}">
        <p14:creationId xmlns:p14="http://schemas.microsoft.com/office/powerpoint/2010/main" val="2558678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20" name="v3_15_text_1">
            <a:extLst>
              <a:ext uri="{FF2B5EF4-FFF2-40B4-BE49-F238E27FC236}">
                <a16:creationId xmlns:a16="http://schemas.microsoft.com/office/drawing/2014/main" id="{6BE6734A-9CB7-70DD-A1DF-51FF8AE27EAC}"/>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Conservamos ese método en una Skill</a:t>
            </a:r>
          </a:p>
        </p:txBody>
      </p:sp>
      <p:sp>
        <p:nvSpPr>
          <p:cNvPr id="21" name="v3_15_text_2">
            <a:extLst>
              <a:ext uri="{FF2B5EF4-FFF2-40B4-BE49-F238E27FC236}">
                <a16:creationId xmlns:a16="http://schemas.microsoft.com/office/drawing/2014/main" id="{926C3285-D0BE-8067-C3E1-1E7AA6D8B4D5}"/>
              </a:ext>
            </a:extLst>
          </p:cNvPr>
          <p:cNvSpPr txBox="1"/>
          <p:nvPr/>
        </p:nvSpPr>
        <p:spPr>
          <a:xfrm>
            <a:off x="330200" y="1587499"/>
            <a:ext cx="3683000" cy="1651000"/>
          </a:xfrm>
          <a:prstGeom prst="rect">
            <a:avLst/>
          </a:prstGeom>
          <a:noFill/>
        </p:spPr>
        <p:txBody>
          <a:bodyPr vert="horz" wrap="square" lIns="0" tIns="0" rIns="0" bIns="0" rtlCol="0" anchor="t">
            <a:noAutofit/>
          </a:bodyPr>
          <a:lstStyle/>
          <a:p>
            <a:pPr>
              <a:lnSpc>
                <a:spcPct val="106000"/>
              </a:lnSpc>
            </a:pPr>
            <a:r>
              <a:rPr lang="es-ES" sz="2600">
                <a:solidFill>
                  <a:srgbClr val="1F2937"/>
                </a:solidFill>
                <a:latin typeface="Inter" panose="02000503000000020004" pitchFamily="2" charset="0"/>
              </a:rPr>
              <a:t>Cuándo usarlo.</a:t>
            </a:r>
          </a:p>
          <a:p>
            <a:pPr>
              <a:lnSpc>
                <a:spcPct val="106000"/>
              </a:lnSpc>
            </a:pPr>
            <a:r>
              <a:rPr lang="es-ES" sz="2600">
                <a:solidFill>
                  <a:srgbClr val="1F2937"/>
                </a:solidFill>
                <a:latin typeface="Inter" panose="02000503000000020004" pitchFamily="2" charset="0"/>
              </a:rPr>
              <a:t>Qué pasos seguir.</a:t>
            </a:r>
          </a:p>
          <a:p>
            <a:pPr>
              <a:lnSpc>
                <a:spcPct val="106000"/>
              </a:lnSpc>
            </a:pPr>
            <a:r>
              <a:rPr lang="es-ES" sz="2600">
                <a:solidFill>
                  <a:srgbClr val="1F2937"/>
                </a:solidFill>
                <a:latin typeface="Inter" panose="02000503000000020004" pitchFamily="2" charset="0"/>
              </a:rPr>
              <a:t>Qué resultado aceptar.</a:t>
            </a:r>
          </a:p>
        </p:txBody>
      </p:sp>
      <p:sp>
        <p:nvSpPr>
          <p:cNvPr id="22" name="v3_15_text_3">
            <a:extLst>
              <a:ext uri="{FF2B5EF4-FFF2-40B4-BE49-F238E27FC236}">
                <a16:creationId xmlns:a16="http://schemas.microsoft.com/office/drawing/2014/main" id="{1E8994A3-5243-4C13-27B0-EAC65A74B92E}"/>
              </a:ext>
            </a:extLst>
          </p:cNvPr>
          <p:cNvSpPr txBox="1"/>
          <p:nvPr/>
        </p:nvSpPr>
        <p:spPr>
          <a:xfrm>
            <a:off x="330200" y="3581399"/>
            <a:ext cx="4000500" cy="723900"/>
          </a:xfrm>
          <a:prstGeom prst="rect">
            <a:avLst/>
          </a:prstGeom>
          <a:noFill/>
        </p:spPr>
        <p:txBody>
          <a:bodyPr vert="horz" wrap="square" lIns="0" tIns="0" rIns="0" bIns="0" rtlCol="0" anchor="t">
            <a:noAutofit/>
          </a:bodyPr>
          <a:lstStyle/>
          <a:p>
            <a:pPr>
              <a:lnSpc>
                <a:spcPct val="106000"/>
              </a:lnSpc>
            </a:pPr>
            <a:r>
              <a:rPr lang="es-ES" sz="2000">
                <a:solidFill>
                  <a:srgbClr val="FD6534"/>
                </a:solidFill>
                <a:latin typeface="Inter" panose="02000503000000020004" pitchFamily="2" charset="0"/>
              </a:rPr>
              <a:t>El procedimiento queda</a:t>
            </a:r>
          </a:p>
          <a:p>
            <a:pPr>
              <a:lnSpc>
                <a:spcPct val="106000"/>
              </a:lnSpc>
            </a:pPr>
            <a:r>
              <a:rPr lang="es-ES" sz="2000">
                <a:solidFill>
                  <a:srgbClr val="FD6534"/>
                </a:solidFill>
                <a:latin typeface="Inter" panose="02000503000000020004" pitchFamily="2" charset="0"/>
              </a:rPr>
              <a:t>disponible para otro encargo.</a:t>
            </a:r>
          </a:p>
        </p:txBody>
      </p:sp>
      <p:pic>
        <p:nvPicPr>
          <p:cNvPr id="24" name="v3_15_image_4">
            <a:extLst>
              <a:ext uri="{FF2B5EF4-FFF2-40B4-BE49-F238E27FC236}">
                <a16:creationId xmlns:a16="http://schemas.microsoft.com/office/drawing/2014/main" id="{03D8E73A-C98F-1300-5F3B-D1371130517A}"/>
              </a:ext>
            </a:extLst>
          </p:cNvPr>
          <p:cNvPicPr>
            <a:picLocks/>
          </p:cNvPicPr>
          <p:nvPr/>
        </p:nvPicPr>
        <p:blipFill>
          <a:blip r:embed="rId3"/>
          <a:stretch>
            <a:fillRect/>
          </a:stretch>
        </p:blipFill>
        <p:spPr>
          <a:xfrm>
            <a:off x="4394200" y="1270000"/>
            <a:ext cx="4419600" cy="2946400"/>
          </a:xfrm>
          <a:prstGeom prst="rect">
            <a:avLst/>
          </a:prstGeom>
        </p:spPr>
      </p:pic>
      <p:sp>
        <p:nvSpPr>
          <p:cNvPr id="25" name="TextBox 24">
            <a:extLst>
              <a:ext uri="{FF2B5EF4-FFF2-40B4-BE49-F238E27FC236}">
                <a16:creationId xmlns:a16="http://schemas.microsoft.com/office/drawing/2014/main" id="{BA3C6705-0F3E-E281-9B73-BBB9A398CF98}"/>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15</a:t>
            </a:r>
          </a:p>
        </p:txBody>
      </p:sp>
    </p:spTree>
    <p:extLst>
      <p:ext uri="{BB962C8B-B14F-4D97-AF65-F5344CB8AC3E}">
        <p14:creationId xmlns:p14="http://schemas.microsoft.com/office/powerpoint/2010/main" val="687809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20" name="v3_16_text_1">
            <a:extLst>
              <a:ext uri="{FF2B5EF4-FFF2-40B4-BE49-F238E27FC236}">
                <a16:creationId xmlns:a16="http://schemas.microsoft.com/office/drawing/2014/main" id="{2B336F3F-2639-41D9-2EAE-CAD66EB86790}"/>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Este es el encargo para construirla</a:t>
            </a:r>
          </a:p>
        </p:txBody>
      </p:sp>
      <p:sp>
        <p:nvSpPr>
          <p:cNvPr id="21" name="v3_16_text_2">
            <a:extLst>
              <a:ext uri="{FF2B5EF4-FFF2-40B4-BE49-F238E27FC236}">
                <a16:creationId xmlns:a16="http://schemas.microsoft.com/office/drawing/2014/main" id="{27054232-7C83-2340-87AE-A33EDFBD45CB}"/>
              </a:ext>
            </a:extLst>
          </p:cNvPr>
          <p:cNvSpPr txBox="1"/>
          <p:nvPr/>
        </p:nvSpPr>
        <p:spPr>
          <a:xfrm>
            <a:off x="330200" y="1371599"/>
            <a:ext cx="8483600" cy="546100"/>
          </a:xfrm>
          <a:prstGeom prst="rect">
            <a:avLst/>
          </a:prstGeom>
          <a:noFill/>
        </p:spPr>
        <p:txBody>
          <a:bodyPr vert="horz" wrap="square" lIns="0" tIns="0" rIns="0" bIns="0" rtlCol="0" anchor="t">
            <a:noAutofit/>
          </a:bodyPr>
          <a:lstStyle/>
          <a:p>
            <a:pPr>
              <a:lnSpc>
                <a:spcPct val="106000"/>
              </a:lnSpc>
            </a:pPr>
            <a:r>
              <a:rPr lang="es-ES" sz="2800" b="1">
                <a:solidFill>
                  <a:srgbClr val="FD6534"/>
                </a:solidFill>
                <a:latin typeface="Inter" panose="02000503000000020004" pitchFamily="2" charset="0"/>
              </a:rPr>
              <a:t>“Crea la skill analizar-biblioteca.”</a:t>
            </a:r>
          </a:p>
        </p:txBody>
      </p:sp>
      <p:sp>
        <p:nvSpPr>
          <p:cNvPr id="22" name="v3_16_text_3">
            <a:extLst>
              <a:ext uri="{FF2B5EF4-FFF2-40B4-BE49-F238E27FC236}">
                <a16:creationId xmlns:a16="http://schemas.microsoft.com/office/drawing/2014/main" id="{66D58048-40E9-D17F-A144-3030F5EA3B6E}"/>
              </a:ext>
            </a:extLst>
          </p:cNvPr>
          <p:cNvSpPr txBox="1"/>
          <p:nvPr/>
        </p:nvSpPr>
        <p:spPr>
          <a:xfrm>
            <a:off x="330200" y="2095499"/>
            <a:ext cx="8420100" cy="812800"/>
          </a:xfrm>
          <a:prstGeom prst="rect">
            <a:avLst/>
          </a:prstGeom>
          <a:noFill/>
        </p:spPr>
        <p:txBody>
          <a:bodyPr vert="horz" wrap="square" lIns="0" tIns="0" rIns="0" bIns="0" rtlCol="0" anchor="t">
            <a:noAutofit/>
          </a:bodyPr>
          <a:lstStyle/>
          <a:p>
            <a:pPr>
              <a:lnSpc>
                <a:spcPct val="106000"/>
              </a:lnSpc>
            </a:pPr>
            <a:r>
              <a:rPr lang="es-ES" sz="2300">
                <a:solidFill>
                  <a:srgbClr val="1F2937"/>
                </a:solidFill>
                <a:latin typeface="Inter" panose="02000503000000020004" pitchFamily="2" charset="0"/>
              </a:rPr>
              <a:t>Convierte los artículos descargados en fichas</a:t>
            </a:r>
          </a:p>
          <a:p>
            <a:pPr>
              <a:lnSpc>
                <a:spcPct val="106000"/>
              </a:lnSpc>
            </a:pPr>
            <a:r>
              <a:rPr lang="es-ES" sz="2300">
                <a:solidFill>
                  <a:srgbClr val="1F2937"/>
                </a:solidFill>
                <a:latin typeface="Inter" panose="02000503000000020004" pitchFamily="2" charset="0"/>
              </a:rPr>
              <a:t>y genera el mapa de temas y la guía de estilo.</a:t>
            </a:r>
          </a:p>
        </p:txBody>
      </p:sp>
      <p:sp>
        <p:nvSpPr>
          <p:cNvPr id="23" name="v3_16_text_4">
            <a:extLst>
              <a:ext uri="{FF2B5EF4-FFF2-40B4-BE49-F238E27FC236}">
                <a16:creationId xmlns:a16="http://schemas.microsoft.com/office/drawing/2014/main" id="{E22B4511-682F-AE44-200B-91542163505B}"/>
              </a:ext>
            </a:extLst>
          </p:cNvPr>
          <p:cNvSpPr txBox="1"/>
          <p:nvPr/>
        </p:nvSpPr>
        <p:spPr>
          <a:xfrm>
            <a:off x="330200" y="3276599"/>
            <a:ext cx="8483600" cy="1130300"/>
          </a:xfrm>
          <a:prstGeom prst="rect">
            <a:avLst/>
          </a:prstGeom>
          <a:noFill/>
        </p:spPr>
        <p:txBody>
          <a:bodyPr vert="horz" wrap="square" lIns="0" tIns="0" rIns="0" bIns="0" rtlCol="0" anchor="t">
            <a:noAutofit/>
          </a:bodyPr>
          <a:lstStyle/>
          <a:p>
            <a:pPr>
              <a:lnSpc>
                <a:spcPct val="106000"/>
              </a:lnSpc>
            </a:pPr>
            <a:r>
              <a:rPr lang="es-ES" sz="2100">
                <a:solidFill>
                  <a:srgbClr val="1F2937"/>
                </a:solidFill>
                <a:latin typeface="Inter" panose="02000503000000020004" pitchFamily="2" charset="0"/>
              </a:rPr>
              <a:t>El modelo lee y clasifica. El script valida y guarda.</a:t>
            </a:r>
          </a:p>
          <a:p>
            <a:pPr>
              <a:lnSpc>
                <a:spcPct val="106000"/>
              </a:lnSpc>
            </a:pPr>
            <a:r>
              <a:rPr lang="es-ES" sz="2100">
                <a:solidFill>
                  <a:srgbClr val="1F2937"/>
                </a:solidFill>
                <a:latin typeface="Inter" panose="02000503000000020004" pitchFamily="2" charset="0"/>
              </a:rPr>
              <a:t>Sigue ARQUITECTURA.md y define los criterios.</a:t>
            </a:r>
          </a:p>
          <a:p>
            <a:pPr>
              <a:lnSpc>
                <a:spcPct val="106000"/>
              </a:lnSpc>
            </a:pPr>
            <a:r>
              <a:rPr lang="es-ES" sz="2100">
                <a:solidFill>
                  <a:srgbClr val="1F2937"/>
                </a:solidFill>
                <a:latin typeface="Inter" panose="02000503000000020004" pitchFamily="2" charset="0"/>
              </a:rPr>
              <a:t>Crea pruebas con artículos ficticios y ejecútalas.</a:t>
            </a:r>
          </a:p>
        </p:txBody>
      </p:sp>
      <p:sp>
        <p:nvSpPr>
          <p:cNvPr id="24" name="v3_16_text_5">
            <a:extLst>
              <a:ext uri="{FF2B5EF4-FFF2-40B4-BE49-F238E27FC236}">
                <a16:creationId xmlns:a16="http://schemas.microsoft.com/office/drawing/2014/main" id="{CC0A43AC-F769-4C3D-6A9A-972E3AE523FA}"/>
              </a:ext>
            </a:extLst>
          </p:cNvPr>
          <p:cNvSpPr txBox="1"/>
          <p:nvPr/>
        </p:nvSpPr>
        <p:spPr>
          <a:xfrm>
            <a:off x="330200" y="4394200"/>
            <a:ext cx="8382000" cy="279400"/>
          </a:xfrm>
          <a:prstGeom prst="rect">
            <a:avLst/>
          </a:prstGeom>
          <a:noFill/>
        </p:spPr>
        <p:txBody>
          <a:bodyPr vert="horz" wrap="square" lIns="0" tIns="0" rIns="0" bIns="0" rtlCol="0" anchor="t">
            <a:noAutofit/>
          </a:bodyPr>
          <a:lstStyle/>
          <a:p>
            <a:pPr>
              <a:lnSpc>
                <a:spcPct val="106000"/>
              </a:lnSpc>
            </a:pPr>
            <a:r>
              <a:rPr lang="es-ES" sz="1130">
                <a:solidFill>
                  <a:srgbClr val="62666A"/>
                </a:solidFill>
                <a:latin typeface="Inter" panose="02000503000000020004" pitchFamily="2" charset="0"/>
              </a:rPr>
              <a:t>En Codex o Claude Code, abre el proyecto y ejecuta prompts/02-crear-analizar-biblioteca.md.</a:t>
            </a:r>
          </a:p>
        </p:txBody>
      </p:sp>
      <p:sp>
        <p:nvSpPr>
          <p:cNvPr id="25" name="TextBox 24">
            <a:extLst>
              <a:ext uri="{FF2B5EF4-FFF2-40B4-BE49-F238E27FC236}">
                <a16:creationId xmlns:a16="http://schemas.microsoft.com/office/drawing/2014/main" id="{04280FD4-7A91-A422-F3A7-EAE72AA67C23}"/>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16</a:t>
            </a:r>
          </a:p>
        </p:txBody>
      </p:sp>
    </p:spTree>
    <p:extLst>
      <p:ext uri="{BB962C8B-B14F-4D97-AF65-F5344CB8AC3E}">
        <p14:creationId xmlns:p14="http://schemas.microsoft.com/office/powerpoint/2010/main" val="2008362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20" name="v3_17_text_1">
            <a:extLst>
              <a:ext uri="{FF2B5EF4-FFF2-40B4-BE49-F238E27FC236}">
                <a16:creationId xmlns:a16="http://schemas.microsoft.com/office/drawing/2014/main" id="{D19C220E-4ADB-F9DF-21BB-6FE0196BEAE4}"/>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Abrimos lo que ha construido</a:t>
            </a:r>
          </a:p>
        </p:txBody>
      </p:sp>
      <p:sp>
        <p:nvSpPr>
          <p:cNvPr id="21" name="v3_17_text_2">
            <a:extLst>
              <a:ext uri="{FF2B5EF4-FFF2-40B4-BE49-F238E27FC236}">
                <a16:creationId xmlns:a16="http://schemas.microsoft.com/office/drawing/2014/main" id="{7B48DEDD-DDDF-D24C-BA5D-272492F69E9B}"/>
              </a:ext>
            </a:extLst>
          </p:cNvPr>
          <p:cNvSpPr txBox="1"/>
          <p:nvPr/>
        </p:nvSpPr>
        <p:spPr>
          <a:xfrm>
            <a:off x="330200" y="1587499"/>
            <a:ext cx="4445000" cy="1905000"/>
          </a:xfrm>
          <a:prstGeom prst="rect">
            <a:avLst/>
          </a:prstGeom>
          <a:noFill/>
        </p:spPr>
        <p:txBody>
          <a:bodyPr vert="horz" wrap="square" lIns="0" tIns="0" rIns="0" bIns="0" rtlCol="0" anchor="t">
            <a:noAutofit/>
          </a:bodyPr>
          <a:lstStyle/>
          <a:p>
            <a:pPr>
              <a:lnSpc>
                <a:spcPct val="106000"/>
              </a:lnSpc>
            </a:pPr>
            <a:r>
              <a:rPr lang="es-ES" sz="2400">
                <a:solidFill>
                  <a:srgbClr val="1F2937"/>
                </a:solidFill>
                <a:latin typeface="Consolas" panose="020B0609020204030204" pitchFamily="49" charset="0"/>
              </a:rPr>
              <a:t>analizar-biblioteca/</a:t>
            </a:r>
          </a:p>
          <a:p>
            <a:pPr>
              <a:lnSpc>
                <a:spcPct val="106000"/>
              </a:lnSpc>
            </a:pPr>
            <a:r>
              <a:rPr lang="es-ES" sz="2400">
                <a:solidFill>
                  <a:srgbClr val="1F2937"/>
                </a:solidFill>
                <a:latin typeface="Consolas" panose="020B0609020204030204" pitchFamily="49" charset="0"/>
              </a:rPr>
              <a:t>├─ SKILL.md</a:t>
            </a:r>
          </a:p>
          <a:p>
            <a:pPr>
              <a:lnSpc>
                <a:spcPct val="106000"/>
              </a:lnSpc>
            </a:pPr>
            <a:r>
              <a:rPr lang="es-ES" sz="2400">
                <a:solidFill>
                  <a:srgbClr val="1F2937"/>
                </a:solidFill>
                <a:latin typeface="Consolas" panose="020B0609020204030204" pitchFamily="49" charset="0"/>
              </a:rPr>
              <a:t>├─ references/</a:t>
            </a:r>
          </a:p>
          <a:p>
            <a:pPr>
              <a:lnSpc>
                <a:spcPct val="106000"/>
              </a:lnSpc>
            </a:pPr>
            <a:r>
              <a:rPr lang="es-ES" sz="2400">
                <a:solidFill>
                  <a:srgbClr val="1F2937"/>
                </a:solidFill>
                <a:latin typeface="Consolas" panose="020B0609020204030204" pitchFamily="49" charset="0"/>
              </a:rPr>
              <a:t>└─ scripts/</a:t>
            </a:r>
          </a:p>
        </p:txBody>
      </p:sp>
      <p:sp>
        <p:nvSpPr>
          <p:cNvPr id="22" name="v3_17_text_3">
            <a:extLst>
              <a:ext uri="{FF2B5EF4-FFF2-40B4-BE49-F238E27FC236}">
                <a16:creationId xmlns:a16="http://schemas.microsoft.com/office/drawing/2014/main" id="{60F15BB7-32DB-EAF0-FF56-EC281784522A}"/>
              </a:ext>
            </a:extLst>
          </p:cNvPr>
          <p:cNvSpPr txBox="1"/>
          <p:nvPr/>
        </p:nvSpPr>
        <p:spPr>
          <a:xfrm>
            <a:off x="5181600" y="1333499"/>
            <a:ext cx="3556000" cy="419100"/>
          </a:xfrm>
          <a:prstGeom prst="rect">
            <a:avLst/>
          </a:prstGeom>
          <a:noFill/>
        </p:spPr>
        <p:txBody>
          <a:bodyPr vert="horz" wrap="square" lIns="0" tIns="0" rIns="0" bIns="0" rtlCol="0" anchor="t">
            <a:noAutofit/>
          </a:bodyPr>
          <a:lstStyle/>
          <a:p>
            <a:pPr>
              <a:lnSpc>
                <a:spcPct val="106000"/>
              </a:lnSpc>
            </a:pPr>
            <a:r>
              <a:rPr lang="es-ES" sz="2500" b="1">
                <a:solidFill>
                  <a:srgbClr val="FD6534"/>
                </a:solidFill>
                <a:latin typeface="Consolas" panose="020B0609020204030204" pitchFamily="49" charset="0"/>
              </a:rPr>
              <a:t>SKILL.md</a:t>
            </a:r>
          </a:p>
        </p:txBody>
      </p:sp>
      <p:sp>
        <p:nvSpPr>
          <p:cNvPr id="23" name="v3_17_text_4">
            <a:extLst>
              <a:ext uri="{FF2B5EF4-FFF2-40B4-BE49-F238E27FC236}">
                <a16:creationId xmlns:a16="http://schemas.microsoft.com/office/drawing/2014/main" id="{1EB2FC24-87A1-4665-E545-5426FBD198D5}"/>
              </a:ext>
            </a:extLst>
          </p:cNvPr>
          <p:cNvSpPr txBox="1"/>
          <p:nvPr/>
        </p:nvSpPr>
        <p:spPr>
          <a:xfrm>
            <a:off x="5181600" y="2006599"/>
            <a:ext cx="3594100" cy="2159000"/>
          </a:xfrm>
          <a:prstGeom prst="rect">
            <a:avLst/>
          </a:prstGeom>
          <a:noFill/>
        </p:spPr>
        <p:txBody>
          <a:bodyPr vert="horz" wrap="square" lIns="0" tIns="0" rIns="0" bIns="0" rtlCol="0" anchor="t">
            <a:noAutofit/>
          </a:bodyPr>
          <a:lstStyle/>
          <a:p>
            <a:pPr>
              <a:lnSpc>
                <a:spcPct val="106000"/>
              </a:lnSpc>
            </a:pPr>
            <a:r>
              <a:rPr lang="es-ES" sz="2300">
                <a:solidFill>
                  <a:srgbClr val="1F2937"/>
                </a:solidFill>
                <a:latin typeface="Inter" panose="02000503000000020004" pitchFamily="2" charset="0"/>
              </a:rPr>
              <a:t>Cabecera</a:t>
            </a:r>
          </a:p>
          <a:p>
            <a:pPr>
              <a:lnSpc>
                <a:spcPct val="106000"/>
              </a:lnSpc>
            </a:pPr>
            <a:r>
              <a:rPr lang="es-ES" sz="2300">
                <a:solidFill>
                  <a:srgbClr val="1F2937"/>
                </a:solidFill>
                <a:latin typeface="Inter" panose="02000503000000020004" pitchFamily="2" charset="0"/>
              </a:rPr>
              <a:t>Nombre y descripción.</a:t>
            </a:r>
          </a:p>
          <a:p>
            <a:pPr>
              <a:lnSpc>
                <a:spcPct val="106000"/>
              </a:lnSpc>
            </a:pPr>
            <a:endParaRPr lang="es-ES" sz="2300">
              <a:solidFill>
                <a:srgbClr val="1F2937"/>
              </a:solidFill>
              <a:latin typeface="Inter" panose="02000503000000020004" pitchFamily="2" charset="0"/>
            </a:endParaRPr>
          </a:p>
          <a:p>
            <a:pPr>
              <a:lnSpc>
                <a:spcPct val="106000"/>
              </a:lnSpc>
            </a:pPr>
            <a:r>
              <a:rPr lang="es-ES" sz="2300">
                <a:solidFill>
                  <a:srgbClr val="1F2937"/>
                </a:solidFill>
                <a:latin typeface="Inter" panose="02000503000000020004" pitchFamily="2" charset="0"/>
              </a:rPr>
              <a:t>Cuerpo</a:t>
            </a:r>
          </a:p>
          <a:p>
            <a:pPr>
              <a:lnSpc>
                <a:spcPct val="106000"/>
              </a:lnSpc>
            </a:pPr>
            <a:r>
              <a:rPr lang="es-ES" sz="2300">
                <a:solidFill>
                  <a:srgbClr val="1F2937"/>
                </a:solidFill>
                <a:latin typeface="Inter" panose="02000503000000020004" pitchFamily="2" charset="0"/>
              </a:rPr>
              <a:t>Pasos, límites y revisión.</a:t>
            </a:r>
          </a:p>
        </p:txBody>
      </p:sp>
      <p:sp>
        <p:nvSpPr>
          <p:cNvPr id="24" name="v3_17_text_5">
            <a:extLst>
              <a:ext uri="{FF2B5EF4-FFF2-40B4-BE49-F238E27FC236}">
                <a16:creationId xmlns:a16="http://schemas.microsoft.com/office/drawing/2014/main" id="{ECCFE28D-9F16-7CF9-41AE-63527F580BA7}"/>
              </a:ext>
            </a:extLst>
          </p:cNvPr>
          <p:cNvSpPr txBox="1"/>
          <p:nvPr/>
        </p:nvSpPr>
        <p:spPr>
          <a:xfrm>
            <a:off x="330200" y="4318000"/>
            <a:ext cx="8382000" cy="342900"/>
          </a:xfrm>
          <a:prstGeom prst="rect">
            <a:avLst/>
          </a:prstGeom>
          <a:noFill/>
        </p:spPr>
        <p:txBody>
          <a:bodyPr vert="horz" wrap="square" lIns="0" tIns="0" rIns="0" bIns="0" rtlCol="0" anchor="t">
            <a:noAutofit/>
          </a:bodyPr>
          <a:lstStyle/>
          <a:p>
            <a:pPr>
              <a:lnSpc>
                <a:spcPct val="106000"/>
              </a:lnSpc>
            </a:pPr>
            <a:r>
              <a:rPr lang="es-ES" sz="1700" b="1">
                <a:solidFill>
                  <a:srgbClr val="FD6534"/>
                </a:solidFill>
                <a:latin typeface="Inter" panose="02000503000000020004" pitchFamily="2" charset="0"/>
              </a:rPr>
              <a:t>Se carga por etapas: descripción → instrucciones → recursos</a:t>
            </a:r>
          </a:p>
        </p:txBody>
      </p:sp>
      <p:sp>
        <p:nvSpPr>
          <p:cNvPr id="25" name="TextBox 24">
            <a:extLst>
              <a:ext uri="{FF2B5EF4-FFF2-40B4-BE49-F238E27FC236}">
                <a16:creationId xmlns:a16="http://schemas.microsoft.com/office/drawing/2014/main" id="{B5F96102-C8FB-DEB3-F821-28DA65FB564B}"/>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17</a:t>
            </a:r>
          </a:p>
        </p:txBody>
      </p:sp>
    </p:spTree>
    <p:extLst>
      <p:ext uri="{BB962C8B-B14F-4D97-AF65-F5344CB8AC3E}">
        <p14:creationId xmlns:p14="http://schemas.microsoft.com/office/powerpoint/2010/main" val="3949826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20" name="v3_18_text_1">
            <a:extLst>
              <a:ext uri="{FF2B5EF4-FFF2-40B4-BE49-F238E27FC236}">
                <a16:creationId xmlns:a16="http://schemas.microsoft.com/office/drawing/2014/main" id="{724AF201-5334-CB4A-3882-AA19A65285AE}"/>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La descripción explica cuándo usarla</a:t>
            </a:r>
          </a:p>
        </p:txBody>
      </p:sp>
      <p:sp>
        <p:nvSpPr>
          <p:cNvPr id="21" name="v3_18_text_2">
            <a:extLst>
              <a:ext uri="{FF2B5EF4-FFF2-40B4-BE49-F238E27FC236}">
                <a16:creationId xmlns:a16="http://schemas.microsoft.com/office/drawing/2014/main" id="{02209E87-204D-9451-7C74-FD10668F0FE8}"/>
              </a:ext>
            </a:extLst>
          </p:cNvPr>
          <p:cNvSpPr txBox="1"/>
          <p:nvPr/>
        </p:nvSpPr>
        <p:spPr>
          <a:xfrm>
            <a:off x="330200" y="1358899"/>
            <a:ext cx="8483600" cy="2781300"/>
          </a:xfrm>
          <a:prstGeom prst="rect">
            <a:avLst/>
          </a:prstGeom>
          <a:noFill/>
        </p:spPr>
        <p:txBody>
          <a:bodyPr vert="horz" wrap="square" lIns="0" tIns="0" rIns="0" bIns="0" rtlCol="0" anchor="t">
            <a:noAutofit/>
          </a:bodyPr>
          <a:lstStyle/>
          <a:p>
            <a:pPr>
              <a:lnSpc>
                <a:spcPct val="106000"/>
              </a:lnSpc>
            </a:pPr>
            <a:r>
              <a:rPr lang="es-ES" sz="1830">
                <a:solidFill>
                  <a:srgbClr val="1F2937"/>
                </a:solidFill>
                <a:latin typeface="Consolas" panose="020B0609020204030204" pitchFamily="49" charset="0"/>
              </a:rPr>
              <a:t>---</a:t>
            </a:r>
          </a:p>
          <a:p>
            <a:pPr>
              <a:lnSpc>
                <a:spcPct val="106000"/>
              </a:lnSpc>
            </a:pPr>
            <a:r>
              <a:rPr lang="es-ES" sz="1830">
                <a:solidFill>
                  <a:srgbClr val="1F2937"/>
                </a:solidFill>
                <a:latin typeface="Consolas" panose="020B0609020204030204" pitchFamily="49" charset="0"/>
              </a:rPr>
              <a:t>name: analizar-biblioteca</a:t>
            </a:r>
          </a:p>
          <a:p>
            <a:pPr>
              <a:lnSpc>
                <a:spcPct val="106000"/>
              </a:lnSpc>
            </a:pPr>
            <a:r>
              <a:rPr lang="es-ES" sz="1830">
                <a:solidFill>
                  <a:srgbClr val="1F2937"/>
                </a:solidFill>
                <a:latin typeface="Consolas" panose="020B0609020204030204" pitchFamily="49" charset="0"/>
              </a:rPr>
              <a:t>description: &gt;</a:t>
            </a:r>
          </a:p>
          <a:p>
            <a:pPr>
              <a:lnSpc>
                <a:spcPct val="106000"/>
              </a:lnSpc>
            </a:pPr>
            <a:r>
              <a:rPr lang="es-ES" sz="1830">
                <a:solidFill>
                  <a:srgbClr val="1F2937"/>
                </a:solidFill>
                <a:latin typeface="Consolas" panose="020B0609020204030204" pitchFamily="49" charset="0"/>
              </a:rPr>
              <a:t>  Convierte los artículos descargados de Substack en fichas JSON</a:t>
            </a:r>
          </a:p>
          <a:p>
            <a:pPr>
              <a:lnSpc>
                <a:spcPct val="106000"/>
              </a:lnSpc>
            </a:pPr>
            <a:r>
              <a:rPr lang="es-ES" sz="1830">
                <a:solidFill>
                  <a:srgbClr val="1F2937"/>
                </a:solidFill>
                <a:latin typeface="Consolas" panose="020B0609020204030204" pitchFamily="49" charset="0"/>
              </a:rPr>
              <a:t>  con esquema fijo y genera biblioteca/mapa-temas.md y</a:t>
            </a:r>
          </a:p>
          <a:p>
            <a:pPr>
              <a:lnSpc>
                <a:spcPct val="106000"/>
              </a:lnSpc>
            </a:pPr>
            <a:r>
              <a:rPr lang="es-ES" sz="1830">
                <a:solidFill>
                  <a:srgbClr val="1F2937"/>
                </a:solidFill>
                <a:latin typeface="Consolas" panose="020B0609020204030204" pitchFamily="49" charset="0"/>
              </a:rPr>
              <a:t>  biblioteca/estilo.md. Úsala después de recuperar-newsletters</a:t>
            </a:r>
          </a:p>
          <a:p>
            <a:pPr>
              <a:lnSpc>
                <a:spcPct val="106000"/>
              </a:lnSpc>
            </a:pPr>
            <a:r>
              <a:rPr lang="es-ES" sz="1830">
                <a:solidFill>
                  <a:srgbClr val="1F2937"/>
                </a:solidFill>
                <a:latin typeface="Consolas" panose="020B0609020204030204" pitchFamily="49" charset="0"/>
              </a:rPr>
              <a:t>  o cuando haga falta saber qué se ha publicado y desde qué</a:t>
            </a:r>
          </a:p>
          <a:p>
            <a:pPr>
              <a:lnSpc>
                <a:spcPct val="106000"/>
              </a:lnSpc>
            </a:pPr>
            <a:r>
              <a:rPr lang="es-ES" sz="1830">
                <a:solidFill>
                  <a:srgbClr val="1F2937"/>
                </a:solidFill>
                <a:latin typeface="Consolas" panose="020B0609020204030204" pitchFamily="49" charset="0"/>
              </a:rPr>
              <a:t>  perspectiva.</a:t>
            </a:r>
          </a:p>
          <a:p>
            <a:pPr>
              <a:lnSpc>
                <a:spcPct val="106000"/>
              </a:lnSpc>
            </a:pPr>
            <a:r>
              <a:rPr lang="es-ES" sz="1830">
                <a:solidFill>
                  <a:srgbClr val="1F2937"/>
                </a:solidFill>
                <a:latin typeface="Consolas" panose="020B0609020204030204" pitchFamily="49" charset="0"/>
              </a:rPr>
              <a:t>---</a:t>
            </a:r>
          </a:p>
        </p:txBody>
      </p:sp>
      <p:sp>
        <p:nvSpPr>
          <p:cNvPr id="22" name="v3_18_text_3">
            <a:extLst>
              <a:ext uri="{FF2B5EF4-FFF2-40B4-BE49-F238E27FC236}">
                <a16:creationId xmlns:a16="http://schemas.microsoft.com/office/drawing/2014/main" id="{373A07AA-DEB1-DF71-6EE3-B835742813D5}"/>
              </a:ext>
            </a:extLst>
          </p:cNvPr>
          <p:cNvSpPr txBox="1"/>
          <p:nvPr/>
        </p:nvSpPr>
        <p:spPr>
          <a:xfrm>
            <a:off x="330200" y="4279900"/>
            <a:ext cx="8483600" cy="368300"/>
          </a:xfrm>
          <a:prstGeom prst="rect">
            <a:avLst/>
          </a:prstGeom>
          <a:noFill/>
        </p:spPr>
        <p:txBody>
          <a:bodyPr vert="horz" wrap="square" lIns="0" tIns="0" rIns="0" bIns="0" rtlCol="0" anchor="t">
            <a:noAutofit/>
          </a:bodyPr>
          <a:lstStyle/>
          <a:p>
            <a:pPr>
              <a:lnSpc>
                <a:spcPct val="106000"/>
              </a:lnSpc>
            </a:pPr>
            <a:r>
              <a:rPr lang="es-ES" sz="1800" b="1">
                <a:solidFill>
                  <a:srgbClr val="FD6534"/>
                </a:solidFill>
                <a:latin typeface="Inter" panose="02000503000000020004" pitchFamily="2" charset="0"/>
              </a:rPr>
              <a:t>“Ayuda con contenido” no delimita este trabajo.</a:t>
            </a:r>
          </a:p>
        </p:txBody>
      </p:sp>
      <p:sp>
        <p:nvSpPr>
          <p:cNvPr id="23" name="TextBox 22">
            <a:extLst>
              <a:ext uri="{FF2B5EF4-FFF2-40B4-BE49-F238E27FC236}">
                <a16:creationId xmlns:a16="http://schemas.microsoft.com/office/drawing/2014/main" id="{699E6553-40F3-11C2-9E37-417974C87945}"/>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18</a:t>
            </a:r>
          </a:p>
        </p:txBody>
      </p:sp>
    </p:spTree>
    <p:extLst>
      <p:ext uri="{BB962C8B-B14F-4D97-AF65-F5344CB8AC3E}">
        <p14:creationId xmlns:p14="http://schemas.microsoft.com/office/powerpoint/2010/main" val="36508588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20" name="v3_19_text_1">
            <a:extLst>
              <a:ext uri="{FF2B5EF4-FFF2-40B4-BE49-F238E27FC236}">
                <a16:creationId xmlns:a16="http://schemas.microsoft.com/office/drawing/2014/main" id="{0E8D917E-4914-7AF9-962F-61C76C007829}"/>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El cuerpo explica cómo hacer el trabajo</a:t>
            </a:r>
          </a:p>
        </p:txBody>
      </p:sp>
      <p:sp>
        <p:nvSpPr>
          <p:cNvPr id="21" name="v3_19_text_2">
            <a:extLst>
              <a:ext uri="{FF2B5EF4-FFF2-40B4-BE49-F238E27FC236}">
                <a16:creationId xmlns:a16="http://schemas.microsoft.com/office/drawing/2014/main" id="{FD81A61C-037B-7496-F420-FB356167A989}"/>
              </a:ext>
            </a:extLst>
          </p:cNvPr>
          <p:cNvSpPr txBox="1"/>
          <p:nvPr/>
        </p:nvSpPr>
        <p:spPr>
          <a:xfrm>
            <a:off x="330200" y="1409699"/>
            <a:ext cx="8483600" cy="2044700"/>
          </a:xfrm>
          <a:prstGeom prst="rect">
            <a:avLst/>
          </a:prstGeom>
          <a:noFill/>
        </p:spPr>
        <p:txBody>
          <a:bodyPr vert="horz" wrap="square" lIns="0" tIns="0" rIns="0" bIns="0" rtlCol="0" anchor="t">
            <a:noAutofit/>
          </a:bodyPr>
          <a:lstStyle/>
          <a:p>
            <a:pPr>
              <a:lnSpc>
                <a:spcPct val="106000"/>
              </a:lnSpc>
            </a:pPr>
            <a:r>
              <a:rPr lang="es-ES" sz="2300">
                <a:solidFill>
                  <a:srgbClr val="1F2937"/>
                </a:solidFill>
                <a:latin typeface="Inter" panose="02000503000000020004" pitchFamily="2" charset="0"/>
              </a:rPr>
              <a:t>1. Lista los artículos pendientes.</a:t>
            </a:r>
          </a:p>
          <a:p>
            <a:pPr>
              <a:lnSpc>
                <a:spcPct val="106000"/>
              </a:lnSpc>
            </a:pPr>
            <a:r>
              <a:rPr lang="es-ES" sz="2300">
                <a:solidFill>
                  <a:srgbClr val="1F2937"/>
                </a:solidFill>
                <a:latin typeface="Inter" panose="02000503000000020004" pitchFamily="2" charset="0"/>
              </a:rPr>
              <a:t>2. Lee cada artículo completo y aplica los criterios.</a:t>
            </a:r>
          </a:p>
          <a:p>
            <a:pPr>
              <a:lnSpc>
                <a:spcPct val="106000"/>
              </a:lnSpc>
            </a:pPr>
            <a:r>
              <a:rPr lang="es-ES" sz="2300">
                <a:solidFill>
                  <a:srgbClr val="1F2937"/>
                </a:solidFill>
                <a:latin typeface="Inter" panose="02000503000000020004" pitchFamily="2" charset="0"/>
              </a:rPr>
              <a:t>3. Redacta la ficha con los campos acordados.</a:t>
            </a:r>
          </a:p>
          <a:p>
            <a:pPr>
              <a:lnSpc>
                <a:spcPct val="106000"/>
              </a:lnSpc>
            </a:pPr>
            <a:r>
              <a:rPr lang="es-ES" sz="2300">
                <a:solidFill>
                  <a:srgbClr val="1F2937"/>
                </a:solidFill>
                <a:latin typeface="Inter" panose="02000503000000020004" pitchFamily="2" charset="0"/>
              </a:rPr>
              <a:t>4. Valida; si falla, corrige y repite.</a:t>
            </a:r>
          </a:p>
          <a:p>
            <a:pPr>
              <a:lnSpc>
                <a:spcPct val="106000"/>
              </a:lnSpc>
            </a:pPr>
            <a:r>
              <a:rPr lang="es-ES" sz="2300">
                <a:solidFill>
                  <a:srgbClr val="1F2937"/>
                </a:solidFill>
                <a:latin typeface="Inter" panose="02000503000000020004" pitchFamily="2" charset="0"/>
              </a:rPr>
              <a:t>5. Guarda y actualiza el mapa.</a:t>
            </a:r>
          </a:p>
        </p:txBody>
      </p:sp>
      <p:sp>
        <p:nvSpPr>
          <p:cNvPr id="22" name="v3_19_text_3">
            <a:extLst>
              <a:ext uri="{FF2B5EF4-FFF2-40B4-BE49-F238E27FC236}">
                <a16:creationId xmlns:a16="http://schemas.microsoft.com/office/drawing/2014/main" id="{9F8BBCBB-0A57-219F-BEEA-00EA3C028331}"/>
              </a:ext>
            </a:extLst>
          </p:cNvPr>
          <p:cNvSpPr txBox="1"/>
          <p:nvPr/>
        </p:nvSpPr>
        <p:spPr>
          <a:xfrm>
            <a:off x="330200" y="3784600"/>
            <a:ext cx="8483600" cy="774700"/>
          </a:xfrm>
          <a:prstGeom prst="rect">
            <a:avLst/>
          </a:prstGeom>
          <a:noFill/>
        </p:spPr>
        <p:txBody>
          <a:bodyPr vert="horz" wrap="square" lIns="0" tIns="0" rIns="0" bIns="0" rtlCol="0" anchor="t">
            <a:noAutofit/>
          </a:bodyPr>
          <a:lstStyle/>
          <a:p>
            <a:pPr>
              <a:lnSpc>
                <a:spcPct val="106000"/>
              </a:lnSpc>
            </a:pPr>
            <a:r>
              <a:rPr lang="es-ES" sz="2100" b="1">
                <a:solidFill>
                  <a:srgbClr val="FD6534"/>
                </a:solidFill>
                <a:latin typeface="Inter" panose="02000503000000020004" pitchFamily="2" charset="0"/>
              </a:rPr>
              <a:t>Criterio real: la tesis recoge la idea que defiende</a:t>
            </a:r>
          </a:p>
          <a:p>
            <a:pPr>
              <a:lnSpc>
                <a:spcPct val="106000"/>
              </a:lnSpc>
            </a:pPr>
            <a:r>
              <a:rPr lang="es-ES" sz="2100" b="1">
                <a:solidFill>
                  <a:srgbClr val="FD6534"/>
                </a:solidFill>
                <a:latin typeface="Inter" panose="02000503000000020004" pitchFamily="2" charset="0"/>
              </a:rPr>
              <a:t>el artículo; no basta con decir de qué tema habla.</a:t>
            </a:r>
          </a:p>
        </p:txBody>
      </p:sp>
      <p:sp>
        <p:nvSpPr>
          <p:cNvPr id="23" name="TextBox 22">
            <a:extLst>
              <a:ext uri="{FF2B5EF4-FFF2-40B4-BE49-F238E27FC236}">
                <a16:creationId xmlns:a16="http://schemas.microsoft.com/office/drawing/2014/main" id="{4A979F58-1DD4-3DFA-DB88-5BDA33F2900B}"/>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19</a:t>
            </a:r>
          </a:p>
        </p:txBody>
      </p:sp>
    </p:spTree>
    <p:extLst>
      <p:ext uri="{BB962C8B-B14F-4D97-AF65-F5344CB8AC3E}">
        <p14:creationId xmlns:p14="http://schemas.microsoft.com/office/powerpoint/2010/main" val="2205744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20" name="v3_20_text_1">
            <a:extLst>
              <a:ext uri="{FF2B5EF4-FFF2-40B4-BE49-F238E27FC236}">
                <a16:creationId xmlns:a16="http://schemas.microsoft.com/office/drawing/2014/main" id="{FBA1DC9E-AAE6-51B6-71EA-83AD482525F1}"/>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Ahora la usamos con un artículo real</a:t>
            </a:r>
          </a:p>
        </p:txBody>
      </p:sp>
      <p:sp>
        <p:nvSpPr>
          <p:cNvPr id="21" name="v3_20_text_2">
            <a:extLst>
              <a:ext uri="{FF2B5EF4-FFF2-40B4-BE49-F238E27FC236}">
                <a16:creationId xmlns:a16="http://schemas.microsoft.com/office/drawing/2014/main" id="{856B26BE-78EC-68ED-E34A-5D6B55797448}"/>
              </a:ext>
            </a:extLst>
          </p:cNvPr>
          <p:cNvSpPr txBox="1"/>
          <p:nvPr/>
        </p:nvSpPr>
        <p:spPr>
          <a:xfrm>
            <a:off x="330200" y="1333499"/>
            <a:ext cx="8483600" cy="825500"/>
          </a:xfrm>
          <a:prstGeom prst="rect">
            <a:avLst/>
          </a:prstGeom>
          <a:noFill/>
        </p:spPr>
        <p:txBody>
          <a:bodyPr vert="horz" wrap="square" lIns="0" tIns="0" rIns="0" bIns="0" rtlCol="0" anchor="t">
            <a:noAutofit/>
          </a:bodyPr>
          <a:lstStyle/>
          <a:p>
            <a:pPr>
              <a:lnSpc>
                <a:spcPct val="106000"/>
              </a:lnSpc>
            </a:pPr>
            <a:r>
              <a:rPr lang="es-ES" sz="2100">
                <a:solidFill>
                  <a:srgbClr val="1F2937"/>
                </a:solidFill>
                <a:latin typeface="Consolas" panose="020B0609020204030204" pitchFamily="49" charset="0"/>
              </a:rPr>
              <a:t>$analizar-biblioteca</a:t>
            </a:r>
          </a:p>
          <a:p>
            <a:pPr>
              <a:lnSpc>
                <a:spcPct val="106000"/>
              </a:lnSpc>
            </a:pPr>
            <a:r>
              <a:rPr lang="es-ES" sz="2100">
                <a:solidFill>
                  <a:srgbClr val="1F2937"/>
                </a:solidFill>
                <a:latin typeface="Consolas" panose="020B0609020204030204" pitchFamily="49" charset="0"/>
              </a:rPr>
              <a:t>Revisa los artículos pendientes y actualiza el mapa.</a:t>
            </a:r>
          </a:p>
        </p:txBody>
      </p:sp>
      <p:sp>
        <p:nvSpPr>
          <p:cNvPr id="22" name="v3_20_text_3">
            <a:extLst>
              <a:ext uri="{FF2B5EF4-FFF2-40B4-BE49-F238E27FC236}">
                <a16:creationId xmlns:a16="http://schemas.microsoft.com/office/drawing/2014/main" id="{F8121CD3-6041-0534-BE10-527950053FC3}"/>
              </a:ext>
            </a:extLst>
          </p:cNvPr>
          <p:cNvSpPr txBox="1"/>
          <p:nvPr/>
        </p:nvSpPr>
        <p:spPr>
          <a:xfrm>
            <a:off x="330200" y="2438400"/>
            <a:ext cx="2413000" cy="698500"/>
          </a:xfrm>
          <a:prstGeom prst="rect">
            <a:avLst/>
          </a:prstGeom>
          <a:noFill/>
        </p:spPr>
        <p:txBody>
          <a:bodyPr vert="horz" wrap="square" lIns="0" tIns="0" rIns="0" bIns="0" rtlCol="0" anchor="t">
            <a:noAutofit/>
          </a:bodyPr>
          <a:lstStyle/>
          <a:p>
            <a:pPr>
              <a:lnSpc>
                <a:spcPct val="106000"/>
              </a:lnSpc>
            </a:pPr>
            <a:r>
              <a:rPr lang="es-ES" sz="1900" b="1">
                <a:solidFill>
                  <a:srgbClr val="FD6534"/>
                </a:solidFill>
                <a:latin typeface="Inter" panose="02000503000000020004" pitchFamily="2" charset="0"/>
              </a:rPr>
              <a:t>Artículo del 5 de julio</a:t>
            </a:r>
          </a:p>
        </p:txBody>
      </p:sp>
      <p:sp>
        <p:nvSpPr>
          <p:cNvPr id="23" name="v3_20_text_4">
            <a:extLst>
              <a:ext uri="{FF2B5EF4-FFF2-40B4-BE49-F238E27FC236}">
                <a16:creationId xmlns:a16="http://schemas.microsoft.com/office/drawing/2014/main" id="{80A17BEE-89B3-AE1F-2E27-A84E806B7011}"/>
              </a:ext>
            </a:extLst>
          </p:cNvPr>
          <p:cNvSpPr txBox="1"/>
          <p:nvPr/>
        </p:nvSpPr>
        <p:spPr>
          <a:xfrm>
            <a:off x="2921000" y="2438399"/>
            <a:ext cx="5892800" cy="698500"/>
          </a:xfrm>
          <a:prstGeom prst="rect">
            <a:avLst/>
          </a:prstGeom>
          <a:noFill/>
        </p:spPr>
        <p:txBody>
          <a:bodyPr vert="horz" wrap="square" lIns="0" tIns="0" rIns="0" bIns="0" rtlCol="0" anchor="t">
            <a:noAutofit/>
          </a:bodyPr>
          <a:lstStyle/>
          <a:p>
            <a:pPr>
              <a:lnSpc>
                <a:spcPct val="106000"/>
              </a:lnSpc>
            </a:pPr>
            <a:r>
              <a:rPr lang="es-ES" sz="2000">
                <a:solidFill>
                  <a:srgbClr val="1F2937"/>
                </a:solidFill>
                <a:latin typeface="Inter" panose="02000503000000020004" pitchFamily="2" charset="0"/>
              </a:rPr>
              <a:t>Cómo crear una skill para que tu agente</a:t>
            </a:r>
          </a:p>
          <a:p>
            <a:pPr>
              <a:lnSpc>
                <a:spcPct val="106000"/>
              </a:lnSpc>
            </a:pPr>
            <a:r>
              <a:rPr lang="es-ES" sz="2000">
                <a:solidFill>
                  <a:srgbClr val="1F2937"/>
                </a:solidFill>
                <a:latin typeface="Inter" panose="02000503000000020004" pitchFamily="2" charset="0"/>
              </a:rPr>
              <a:t>tome mejores decisiones</a:t>
            </a:r>
          </a:p>
        </p:txBody>
      </p:sp>
      <p:sp>
        <p:nvSpPr>
          <p:cNvPr id="24" name="v3_20_text_5">
            <a:extLst>
              <a:ext uri="{FF2B5EF4-FFF2-40B4-BE49-F238E27FC236}">
                <a16:creationId xmlns:a16="http://schemas.microsoft.com/office/drawing/2014/main" id="{2A661868-5973-3F8B-0360-A6B071F0D3BE}"/>
              </a:ext>
            </a:extLst>
          </p:cNvPr>
          <p:cNvSpPr txBox="1"/>
          <p:nvPr/>
        </p:nvSpPr>
        <p:spPr>
          <a:xfrm>
            <a:off x="330200" y="3340100"/>
            <a:ext cx="8483600" cy="381000"/>
          </a:xfrm>
          <a:prstGeom prst="rect">
            <a:avLst/>
          </a:prstGeom>
          <a:noFill/>
        </p:spPr>
        <p:txBody>
          <a:bodyPr vert="horz" wrap="square" lIns="0" tIns="0" rIns="0" bIns="0" rtlCol="0" anchor="t">
            <a:noAutofit/>
          </a:bodyPr>
          <a:lstStyle/>
          <a:p>
            <a:pPr>
              <a:lnSpc>
                <a:spcPct val="106000"/>
              </a:lnSpc>
            </a:pPr>
            <a:r>
              <a:rPr lang="es-ES" sz="2100" b="1">
                <a:solidFill>
                  <a:srgbClr val="1F2937"/>
                </a:solidFill>
                <a:latin typeface="Inter" panose="02000503000000020004" pitchFamily="2" charset="0"/>
              </a:rPr>
              <a:t>Tema: Skills para agentes · Enfoque: explicación</a:t>
            </a:r>
          </a:p>
        </p:txBody>
      </p:sp>
      <p:sp>
        <p:nvSpPr>
          <p:cNvPr id="25" name="v3_20_text_6">
            <a:extLst>
              <a:ext uri="{FF2B5EF4-FFF2-40B4-BE49-F238E27FC236}">
                <a16:creationId xmlns:a16="http://schemas.microsoft.com/office/drawing/2014/main" id="{6320B76E-80A6-0119-DA60-C319982F4CAA}"/>
              </a:ext>
            </a:extLst>
          </p:cNvPr>
          <p:cNvSpPr txBox="1"/>
          <p:nvPr/>
        </p:nvSpPr>
        <p:spPr>
          <a:xfrm>
            <a:off x="330200" y="3886199"/>
            <a:ext cx="8483600" cy="711200"/>
          </a:xfrm>
          <a:prstGeom prst="rect">
            <a:avLst/>
          </a:prstGeom>
          <a:noFill/>
        </p:spPr>
        <p:txBody>
          <a:bodyPr vert="horz" wrap="square" lIns="0" tIns="0" rIns="0" bIns="0" rtlCol="0" anchor="t">
            <a:noAutofit/>
          </a:bodyPr>
          <a:lstStyle/>
          <a:p>
            <a:pPr>
              <a:lnSpc>
                <a:spcPct val="106000"/>
              </a:lnSpc>
            </a:pPr>
            <a:r>
              <a:rPr lang="es-ES" sz="2000">
                <a:solidFill>
                  <a:srgbClr val="1F2937"/>
                </a:solidFill>
                <a:latin typeface="Inter" panose="02000503000000020004" pitchFamily="2" charset="0"/>
              </a:rPr>
              <a:t>Tesis: Una Skill debe definir qué comportamiento cambia, cuándo se usa, qué deja fuera y cómo se comprueba el resultado.</a:t>
            </a:r>
          </a:p>
        </p:txBody>
      </p:sp>
      <p:sp>
        <p:nvSpPr>
          <p:cNvPr id="26" name="TextBox 25">
            <a:extLst>
              <a:ext uri="{FF2B5EF4-FFF2-40B4-BE49-F238E27FC236}">
                <a16:creationId xmlns:a16="http://schemas.microsoft.com/office/drawing/2014/main" id="{692B546F-9DD5-796B-53A2-E8C792B39938}"/>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20</a:t>
            </a:r>
          </a:p>
        </p:txBody>
      </p:sp>
    </p:spTree>
    <p:extLst>
      <p:ext uri="{BB962C8B-B14F-4D97-AF65-F5344CB8AC3E}">
        <p14:creationId xmlns:p14="http://schemas.microsoft.com/office/powerpoint/2010/main" val="1454223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20" name="v3_21_text_1">
            <a:extLst>
              <a:ext uri="{FF2B5EF4-FFF2-40B4-BE49-F238E27FC236}">
                <a16:creationId xmlns:a16="http://schemas.microsoft.com/office/drawing/2014/main" id="{54759B21-0226-23A4-9AFE-11E8832B59D3}"/>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El agente pone el método en práctica</a:t>
            </a:r>
          </a:p>
        </p:txBody>
      </p:sp>
      <p:pic>
        <p:nvPicPr>
          <p:cNvPr id="22" name="v3_21_image_2">
            <a:extLst>
              <a:ext uri="{FF2B5EF4-FFF2-40B4-BE49-F238E27FC236}">
                <a16:creationId xmlns:a16="http://schemas.microsoft.com/office/drawing/2014/main" id="{87F8016B-C7C6-C359-D3BB-DBD258C879E4}"/>
              </a:ext>
            </a:extLst>
          </p:cNvPr>
          <p:cNvPicPr>
            <a:picLocks/>
          </p:cNvPicPr>
          <p:nvPr/>
        </p:nvPicPr>
        <p:blipFill>
          <a:blip r:embed="rId3"/>
          <a:stretch>
            <a:fillRect/>
          </a:stretch>
        </p:blipFill>
        <p:spPr>
          <a:xfrm>
            <a:off x="330200" y="1447800"/>
            <a:ext cx="4076700" cy="2717800"/>
          </a:xfrm>
          <a:prstGeom prst="rect">
            <a:avLst/>
          </a:prstGeom>
        </p:spPr>
      </p:pic>
      <p:sp>
        <p:nvSpPr>
          <p:cNvPr id="23" name="v3_21_text_3">
            <a:extLst>
              <a:ext uri="{FF2B5EF4-FFF2-40B4-BE49-F238E27FC236}">
                <a16:creationId xmlns:a16="http://schemas.microsoft.com/office/drawing/2014/main" id="{E7C160A4-4530-3218-759E-02EAFF4C7995}"/>
              </a:ext>
            </a:extLst>
          </p:cNvPr>
          <p:cNvSpPr txBox="1"/>
          <p:nvPr/>
        </p:nvSpPr>
        <p:spPr>
          <a:xfrm>
            <a:off x="4813300" y="1587499"/>
            <a:ext cx="4000500" cy="1993900"/>
          </a:xfrm>
          <a:prstGeom prst="rect">
            <a:avLst/>
          </a:prstGeom>
          <a:noFill/>
        </p:spPr>
        <p:txBody>
          <a:bodyPr vert="horz" wrap="square" lIns="0" tIns="0" rIns="0" bIns="0" rtlCol="0" anchor="t">
            <a:noAutofit/>
          </a:bodyPr>
          <a:lstStyle/>
          <a:p>
            <a:pPr>
              <a:lnSpc>
                <a:spcPct val="106000"/>
              </a:lnSpc>
            </a:pPr>
            <a:r>
              <a:rPr lang="es-ES" sz="2300">
                <a:solidFill>
                  <a:srgbClr val="1F2937"/>
                </a:solidFill>
                <a:latin typeface="Inter" panose="02000503000000020004" pitchFamily="2" charset="0"/>
              </a:rPr>
              <a:t>Lee el artículo.</a:t>
            </a:r>
          </a:p>
          <a:p>
            <a:pPr>
              <a:lnSpc>
                <a:spcPct val="106000"/>
              </a:lnSpc>
            </a:pPr>
            <a:r>
              <a:rPr lang="es-ES" sz="2300">
                <a:solidFill>
                  <a:srgbClr val="1F2937"/>
                </a:solidFill>
                <a:latin typeface="Inter" panose="02000503000000020004" pitchFamily="2" charset="0"/>
              </a:rPr>
              <a:t>Decide tema, enfoque y tesis.</a:t>
            </a:r>
          </a:p>
          <a:p>
            <a:pPr>
              <a:lnSpc>
                <a:spcPct val="106000"/>
              </a:lnSpc>
            </a:pPr>
            <a:r>
              <a:rPr lang="es-ES" sz="2300">
                <a:solidFill>
                  <a:srgbClr val="1F2937"/>
                </a:solidFill>
                <a:latin typeface="Inter" panose="02000503000000020004" pitchFamily="2" charset="0"/>
              </a:rPr>
              <a:t>Llama al script para guardar.</a:t>
            </a:r>
          </a:p>
          <a:p>
            <a:pPr>
              <a:lnSpc>
                <a:spcPct val="106000"/>
              </a:lnSpc>
            </a:pPr>
            <a:r>
              <a:rPr lang="es-ES" sz="2300">
                <a:solidFill>
                  <a:srgbClr val="1F2937"/>
                </a:solidFill>
                <a:latin typeface="Inter" panose="02000503000000020004" pitchFamily="2" charset="0"/>
              </a:rPr>
              <a:t>Revisa el resultado.</a:t>
            </a:r>
          </a:p>
        </p:txBody>
      </p:sp>
      <p:sp>
        <p:nvSpPr>
          <p:cNvPr id="24" name="v3_21_text_4">
            <a:extLst>
              <a:ext uri="{FF2B5EF4-FFF2-40B4-BE49-F238E27FC236}">
                <a16:creationId xmlns:a16="http://schemas.microsoft.com/office/drawing/2014/main" id="{ECF7CC08-EBE1-5D83-0F5C-07563E673D8F}"/>
              </a:ext>
            </a:extLst>
          </p:cNvPr>
          <p:cNvSpPr txBox="1"/>
          <p:nvPr/>
        </p:nvSpPr>
        <p:spPr>
          <a:xfrm>
            <a:off x="4813300" y="3822699"/>
            <a:ext cx="4000500" cy="736600"/>
          </a:xfrm>
          <a:prstGeom prst="rect">
            <a:avLst/>
          </a:prstGeom>
          <a:noFill/>
        </p:spPr>
        <p:txBody>
          <a:bodyPr vert="horz" wrap="square" lIns="0" tIns="0" rIns="0" bIns="0" rtlCol="0" anchor="t">
            <a:noAutofit/>
          </a:bodyPr>
          <a:lstStyle/>
          <a:p>
            <a:pPr>
              <a:lnSpc>
                <a:spcPct val="106000"/>
              </a:lnSpc>
            </a:pPr>
            <a:r>
              <a:rPr lang="es-ES" sz="2200" b="1">
                <a:solidFill>
                  <a:srgbClr val="FD6534"/>
                </a:solidFill>
                <a:latin typeface="Inter" panose="02000503000000020004" pitchFamily="2" charset="0"/>
              </a:rPr>
              <a:t>Un agente puede utilizar</a:t>
            </a:r>
          </a:p>
          <a:p>
            <a:pPr>
              <a:lnSpc>
                <a:spcPct val="106000"/>
              </a:lnSpc>
            </a:pPr>
            <a:r>
              <a:rPr lang="es-ES" sz="2200" b="1">
                <a:solidFill>
                  <a:srgbClr val="FD6534"/>
                </a:solidFill>
                <a:latin typeface="Inter" panose="02000503000000020004" pitchFamily="2" charset="0"/>
              </a:rPr>
              <a:t>varias Skills.</a:t>
            </a:r>
          </a:p>
        </p:txBody>
      </p:sp>
      <p:sp>
        <p:nvSpPr>
          <p:cNvPr id="25" name="TextBox 24">
            <a:extLst>
              <a:ext uri="{FF2B5EF4-FFF2-40B4-BE49-F238E27FC236}">
                <a16:creationId xmlns:a16="http://schemas.microsoft.com/office/drawing/2014/main" id="{28D98371-0B27-8175-271C-7D8A0ED5CE40}"/>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21</a:t>
            </a:r>
          </a:p>
        </p:txBody>
      </p:sp>
    </p:spTree>
    <p:extLst>
      <p:ext uri="{BB962C8B-B14F-4D97-AF65-F5344CB8AC3E}">
        <p14:creationId xmlns:p14="http://schemas.microsoft.com/office/powerpoint/2010/main" val="955786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20" name="v3_22_text_1">
            <a:extLst>
              <a:ext uri="{FF2B5EF4-FFF2-40B4-BE49-F238E27FC236}">
                <a16:creationId xmlns:a16="http://schemas.microsoft.com/office/drawing/2014/main" id="{ACD867EB-7C7A-E9E5-FE79-ECA882B5E6F4}"/>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Probamos también lo que debería fallar</a:t>
            </a:r>
          </a:p>
        </p:txBody>
      </p:sp>
      <p:sp>
        <p:nvSpPr>
          <p:cNvPr id="21" name="v3_22_text_2">
            <a:extLst>
              <a:ext uri="{FF2B5EF4-FFF2-40B4-BE49-F238E27FC236}">
                <a16:creationId xmlns:a16="http://schemas.microsoft.com/office/drawing/2014/main" id="{55825E78-6F65-ECCC-C0CF-5A9BE27A1F82}"/>
              </a:ext>
            </a:extLst>
          </p:cNvPr>
          <p:cNvSpPr txBox="1"/>
          <p:nvPr/>
        </p:nvSpPr>
        <p:spPr>
          <a:xfrm>
            <a:off x="330200" y="1346200"/>
            <a:ext cx="8483600" cy="736600"/>
          </a:xfrm>
          <a:prstGeom prst="rect">
            <a:avLst/>
          </a:prstGeom>
          <a:noFill/>
        </p:spPr>
        <p:txBody>
          <a:bodyPr vert="horz" wrap="square" lIns="0" tIns="0" rIns="0" bIns="0" rtlCol="0" anchor="t">
            <a:noAutofit/>
          </a:bodyPr>
          <a:lstStyle/>
          <a:p>
            <a:pPr>
              <a:lnSpc>
                <a:spcPct val="106000"/>
              </a:lnSpc>
            </a:pPr>
            <a:r>
              <a:rPr lang="es-ES" sz="2400">
                <a:solidFill>
                  <a:srgbClr val="1F2937"/>
                </a:solidFill>
                <a:latin typeface="Inter" panose="02000503000000020004" pitchFamily="2" charset="0"/>
              </a:rPr>
              <a:t>Quitamos “tesis” de la ficha y pedimos guardarla.</a:t>
            </a:r>
          </a:p>
        </p:txBody>
      </p:sp>
      <p:sp>
        <p:nvSpPr>
          <p:cNvPr id="22" name="v3_22_text_3">
            <a:extLst>
              <a:ext uri="{FF2B5EF4-FFF2-40B4-BE49-F238E27FC236}">
                <a16:creationId xmlns:a16="http://schemas.microsoft.com/office/drawing/2014/main" id="{C0E83D70-E15B-FDE6-9C30-E45B30B94B35}"/>
              </a:ext>
            </a:extLst>
          </p:cNvPr>
          <p:cNvSpPr txBox="1"/>
          <p:nvPr/>
        </p:nvSpPr>
        <p:spPr>
          <a:xfrm>
            <a:off x="330200" y="2400299"/>
            <a:ext cx="8509000" cy="952500"/>
          </a:xfrm>
          <a:prstGeom prst="rect">
            <a:avLst/>
          </a:prstGeom>
          <a:noFill/>
        </p:spPr>
        <p:txBody>
          <a:bodyPr vert="horz" wrap="square" lIns="0" tIns="0" rIns="0" bIns="0" rtlCol="0" anchor="t">
            <a:noAutofit/>
          </a:bodyPr>
          <a:lstStyle/>
          <a:p>
            <a:pPr>
              <a:lnSpc>
                <a:spcPct val="106000"/>
              </a:lnSpc>
            </a:pPr>
            <a:r>
              <a:rPr lang="es-ES" sz="2100">
                <a:solidFill>
                  <a:srgbClr val="1F2937"/>
                </a:solidFill>
                <a:latin typeface="Consolas" panose="020B0609020204030204" pitchFamily="49" charset="0"/>
              </a:rPr>
              <a:t>Ficha invalida; no se escribe nada:</a:t>
            </a:r>
          </a:p>
          <a:p>
            <a:pPr>
              <a:lnSpc>
                <a:spcPct val="106000"/>
              </a:lnSpc>
            </a:pPr>
            <a:r>
              <a:rPr lang="es-ES" sz="2100">
                <a:solidFill>
                  <a:srgbClr val="1F2937"/>
                </a:solidFill>
                <a:latin typeface="Consolas" panose="020B0609020204030204" pitchFamily="49" charset="0"/>
              </a:rPr>
              <a:t>  - ficha: falta el campo obligatorio 'tesis'</a:t>
            </a:r>
          </a:p>
        </p:txBody>
      </p:sp>
      <p:sp>
        <p:nvSpPr>
          <p:cNvPr id="23" name="v3_22_text_4">
            <a:extLst>
              <a:ext uri="{FF2B5EF4-FFF2-40B4-BE49-F238E27FC236}">
                <a16:creationId xmlns:a16="http://schemas.microsoft.com/office/drawing/2014/main" id="{E4DD1345-A7EB-51E5-6567-F682009E8037}"/>
              </a:ext>
            </a:extLst>
          </p:cNvPr>
          <p:cNvSpPr txBox="1"/>
          <p:nvPr/>
        </p:nvSpPr>
        <p:spPr>
          <a:xfrm>
            <a:off x="330200" y="3886199"/>
            <a:ext cx="8483600" cy="723900"/>
          </a:xfrm>
          <a:prstGeom prst="rect">
            <a:avLst/>
          </a:prstGeom>
          <a:noFill/>
        </p:spPr>
        <p:txBody>
          <a:bodyPr vert="horz" wrap="square" lIns="0" tIns="0" rIns="0" bIns="0" rtlCol="0" anchor="t">
            <a:noAutofit/>
          </a:bodyPr>
          <a:lstStyle/>
          <a:p>
            <a:pPr>
              <a:lnSpc>
                <a:spcPct val="106000"/>
              </a:lnSpc>
            </a:pPr>
            <a:r>
              <a:rPr lang="es-ES" sz="2200" b="1">
                <a:solidFill>
                  <a:srgbClr val="FD6534"/>
                </a:solidFill>
                <a:latin typeface="Inter" panose="02000503000000020004" pitchFamily="2" charset="0"/>
              </a:rPr>
              <a:t>Corregimos la ficha → se guarda → se actualiza el mapa.</a:t>
            </a:r>
          </a:p>
        </p:txBody>
      </p:sp>
      <p:sp>
        <p:nvSpPr>
          <p:cNvPr id="24" name="v3_22_text_5">
            <a:extLst>
              <a:ext uri="{FF2B5EF4-FFF2-40B4-BE49-F238E27FC236}">
                <a16:creationId xmlns:a16="http://schemas.microsoft.com/office/drawing/2014/main" id="{D38A9437-7B01-F092-75DB-AEB849DADAF9}"/>
              </a:ext>
            </a:extLst>
          </p:cNvPr>
          <p:cNvSpPr txBox="1"/>
          <p:nvPr/>
        </p:nvSpPr>
        <p:spPr>
          <a:xfrm>
            <a:off x="330200" y="4394200"/>
            <a:ext cx="8382000" cy="279400"/>
          </a:xfrm>
          <a:prstGeom prst="rect">
            <a:avLst/>
          </a:prstGeom>
          <a:noFill/>
        </p:spPr>
        <p:txBody>
          <a:bodyPr vert="horz" wrap="square" lIns="0" tIns="0" rIns="0" bIns="0" rtlCol="0" anchor="t">
            <a:noAutofit/>
          </a:bodyPr>
          <a:lstStyle/>
          <a:p>
            <a:pPr>
              <a:lnSpc>
                <a:spcPct val="106000"/>
              </a:lnSpc>
            </a:pPr>
            <a:r>
              <a:rPr lang="es-ES" sz="1130">
                <a:solidFill>
                  <a:srgbClr val="62666A"/>
                </a:solidFill>
                <a:latin typeface="Inter" panose="02000503000000020004" pitchFamily="2" charset="0"/>
              </a:rPr>
              <a:t>Salida real del script. Este control forma parte del arnés que ejecuta y verifica el trabajo.</a:t>
            </a:r>
          </a:p>
        </p:txBody>
      </p:sp>
      <p:sp>
        <p:nvSpPr>
          <p:cNvPr id="25" name="TextBox 24">
            <a:extLst>
              <a:ext uri="{FF2B5EF4-FFF2-40B4-BE49-F238E27FC236}">
                <a16:creationId xmlns:a16="http://schemas.microsoft.com/office/drawing/2014/main" id="{E3E8AB00-91E3-F929-648A-4810CCDFCD44}"/>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22</a:t>
            </a:r>
          </a:p>
        </p:txBody>
      </p:sp>
    </p:spTree>
    <p:extLst>
      <p:ext uri="{BB962C8B-B14F-4D97-AF65-F5344CB8AC3E}">
        <p14:creationId xmlns:p14="http://schemas.microsoft.com/office/powerpoint/2010/main" val="8826714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20" name="v3_23_text_1">
            <a:extLst>
              <a:ext uri="{FF2B5EF4-FFF2-40B4-BE49-F238E27FC236}">
                <a16:creationId xmlns:a16="http://schemas.microsoft.com/office/drawing/2014/main" id="{D890ED14-6EC6-6546-1715-4D6A897F96C3}"/>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Guardamos el código que ya funciona</a:t>
            </a:r>
          </a:p>
        </p:txBody>
      </p:sp>
      <p:pic>
        <p:nvPicPr>
          <p:cNvPr id="22" name="v3_23_image_2">
            <a:extLst>
              <a:ext uri="{FF2B5EF4-FFF2-40B4-BE49-F238E27FC236}">
                <a16:creationId xmlns:a16="http://schemas.microsoft.com/office/drawing/2014/main" id="{2DD2650E-4447-1D13-560A-46D64D2F3D19}"/>
              </a:ext>
            </a:extLst>
          </p:cNvPr>
          <p:cNvPicPr>
            <a:picLocks/>
          </p:cNvPicPr>
          <p:nvPr/>
        </p:nvPicPr>
        <p:blipFill>
          <a:blip r:embed="rId3"/>
          <a:stretch>
            <a:fillRect/>
          </a:stretch>
        </p:blipFill>
        <p:spPr>
          <a:xfrm>
            <a:off x="330200" y="1363133"/>
            <a:ext cx="4635500" cy="3090333"/>
          </a:xfrm>
          <a:prstGeom prst="rect">
            <a:avLst/>
          </a:prstGeom>
        </p:spPr>
      </p:pic>
      <p:sp>
        <p:nvSpPr>
          <p:cNvPr id="23" name="v3_23_text_3">
            <a:extLst>
              <a:ext uri="{FF2B5EF4-FFF2-40B4-BE49-F238E27FC236}">
                <a16:creationId xmlns:a16="http://schemas.microsoft.com/office/drawing/2014/main" id="{A07572F6-D307-52C4-1441-E4F44694179A}"/>
              </a:ext>
            </a:extLst>
          </p:cNvPr>
          <p:cNvSpPr txBox="1"/>
          <p:nvPr/>
        </p:nvSpPr>
        <p:spPr>
          <a:xfrm>
            <a:off x="5308600" y="1460500"/>
            <a:ext cx="3556000" cy="2438400"/>
          </a:xfrm>
          <a:prstGeom prst="rect">
            <a:avLst/>
          </a:prstGeom>
          <a:noFill/>
        </p:spPr>
        <p:txBody>
          <a:bodyPr vert="horz" wrap="square" lIns="0" tIns="0" rIns="0" bIns="0" rtlCol="0" anchor="t">
            <a:noAutofit/>
          </a:bodyPr>
          <a:lstStyle/>
          <a:p>
            <a:pPr>
              <a:lnSpc>
                <a:spcPct val="106000"/>
              </a:lnSpc>
            </a:pPr>
            <a:r>
              <a:rPr lang="es-ES" sz="2300">
                <a:solidFill>
                  <a:srgbClr val="1F2937"/>
                </a:solidFill>
                <a:latin typeface="Inter" panose="02000503000000020004" pitchFamily="2" charset="0"/>
              </a:rPr>
              <a:t>“Guarda este código</a:t>
            </a:r>
          </a:p>
          <a:p>
            <a:pPr>
              <a:lnSpc>
                <a:spcPct val="106000"/>
              </a:lnSpc>
            </a:pPr>
            <a:r>
              <a:rPr lang="es-ES" sz="2300">
                <a:solidFill>
                  <a:srgbClr val="1F2937"/>
                </a:solidFill>
                <a:latin typeface="Inter" panose="02000503000000020004" pitchFamily="2" charset="0"/>
              </a:rPr>
              <a:t>en scripts/ y haz que</a:t>
            </a:r>
          </a:p>
          <a:p>
            <a:pPr>
              <a:lnSpc>
                <a:spcPct val="106000"/>
              </a:lnSpc>
            </a:pPr>
            <a:r>
              <a:rPr lang="es-ES" sz="2300">
                <a:solidFill>
                  <a:srgbClr val="1F2937"/>
                </a:solidFill>
                <a:latin typeface="Inter" panose="02000503000000020004" pitchFamily="2" charset="0"/>
              </a:rPr>
              <a:t>la Skill lo reutilice.</a:t>
            </a:r>
          </a:p>
          <a:p>
            <a:pPr>
              <a:lnSpc>
                <a:spcPct val="106000"/>
              </a:lnSpc>
            </a:pPr>
            <a:r>
              <a:rPr lang="es-ES" sz="2300">
                <a:solidFill>
                  <a:srgbClr val="1F2937"/>
                </a:solidFill>
                <a:latin typeface="Inter" panose="02000503000000020004" pitchFamily="2" charset="0"/>
              </a:rPr>
              <a:t>Ejecuta de nuevo</a:t>
            </a:r>
          </a:p>
          <a:p>
            <a:pPr>
              <a:lnSpc>
                <a:spcPct val="106000"/>
              </a:lnSpc>
            </a:pPr>
            <a:r>
              <a:rPr lang="es-ES" sz="2300">
                <a:solidFill>
                  <a:srgbClr val="1F2937"/>
                </a:solidFill>
                <a:latin typeface="Inter" panose="02000503000000020004" pitchFamily="2" charset="0"/>
              </a:rPr>
              <a:t>y comprueba el resultado.”</a:t>
            </a:r>
          </a:p>
        </p:txBody>
      </p:sp>
      <p:sp>
        <p:nvSpPr>
          <p:cNvPr id="24" name="v3_23_text_4">
            <a:extLst>
              <a:ext uri="{FF2B5EF4-FFF2-40B4-BE49-F238E27FC236}">
                <a16:creationId xmlns:a16="http://schemas.microsoft.com/office/drawing/2014/main" id="{F36D3C6F-1970-D508-A770-6C02A7197AAD}"/>
              </a:ext>
            </a:extLst>
          </p:cNvPr>
          <p:cNvSpPr txBox="1"/>
          <p:nvPr/>
        </p:nvSpPr>
        <p:spPr>
          <a:xfrm>
            <a:off x="330200" y="4394200"/>
            <a:ext cx="8382000" cy="279400"/>
          </a:xfrm>
          <a:prstGeom prst="rect">
            <a:avLst/>
          </a:prstGeom>
          <a:noFill/>
        </p:spPr>
        <p:txBody>
          <a:bodyPr vert="horz" wrap="square" lIns="0" tIns="0" rIns="0" bIns="0" rtlCol="0" anchor="t">
            <a:noAutofit/>
          </a:bodyPr>
          <a:lstStyle/>
          <a:p>
            <a:pPr>
              <a:lnSpc>
                <a:spcPct val="106000"/>
              </a:lnSpc>
            </a:pPr>
            <a:r>
              <a:rPr lang="es-ES" sz="1130">
                <a:solidFill>
                  <a:srgbClr val="62666A"/>
                </a:solidFill>
                <a:latin typeface="Inter" panose="02000503000000020004" pitchFamily="2" charset="0"/>
              </a:rPr>
              <a:t>El proyecto conserva analizar_biblioteca.py y sus pruebas junto al procedimiento.</a:t>
            </a:r>
          </a:p>
        </p:txBody>
      </p:sp>
      <p:sp>
        <p:nvSpPr>
          <p:cNvPr id="25" name="TextBox 24">
            <a:extLst>
              <a:ext uri="{FF2B5EF4-FFF2-40B4-BE49-F238E27FC236}">
                <a16:creationId xmlns:a16="http://schemas.microsoft.com/office/drawing/2014/main" id="{A780F0AA-7363-29E3-62F7-8DEFD1955415}"/>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23</a:t>
            </a:r>
          </a:p>
        </p:txBody>
      </p:sp>
    </p:spTree>
    <p:extLst>
      <p:ext uri="{BB962C8B-B14F-4D97-AF65-F5344CB8AC3E}">
        <p14:creationId xmlns:p14="http://schemas.microsoft.com/office/powerpoint/2010/main" val="11309814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20" name="v3_24_text_1">
            <a:extLst>
              <a:ext uri="{FF2B5EF4-FFF2-40B4-BE49-F238E27FC236}">
                <a16:creationId xmlns:a16="http://schemas.microsoft.com/office/drawing/2014/main" id="{A2AA68F3-92A5-EF67-D204-D7E7F33A4370}"/>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Conservamos también las correcciones</a:t>
            </a:r>
          </a:p>
        </p:txBody>
      </p:sp>
      <p:sp>
        <p:nvSpPr>
          <p:cNvPr id="21" name="v3_24_text_2">
            <a:extLst>
              <a:ext uri="{FF2B5EF4-FFF2-40B4-BE49-F238E27FC236}">
                <a16:creationId xmlns:a16="http://schemas.microsoft.com/office/drawing/2014/main" id="{19F42D87-9C87-D8B1-8DF4-0EAAAF894D93}"/>
              </a:ext>
            </a:extLst>
          </p:cNvPr>
          <p:cNvSpPr txBox="1"/>
          <p:nvPr/>
        </p:nvSpPr>
        <p:spPr>
          <a:xfrm>
            <a:off x="330200" y="1371600"/>
            <a:ext cx="8470900" cy="1016000"/>
          </a:xfrm>
          <a:prstGeom prst="rect">
            <a:avLst/>
          </a:prstGeom>
          <a:noFill/>
        </p:spPr>
        <p:txBody>
          <a:bodyPr vert="horz" wrap="square" lIns="0" tIns="0" rIns="0" bIns="0" rtlCol="0" anchor="t">
            <a:noAutofit/>
          </a:bodyPr>
          <a:lstStyle/>
          <a:p>
            <a:pPr>
              <a:lnSpc>
                <a:spcPct val="106000"/>
              </a:lnSpc>
            </a:pPr>
            <a:r>
              <a:rPr lang="es-ES" sz="2900" b="1">
                <a:solidFill>
                  <a:srgbClr val="1F2937"/>
                </a:solidFill>
                <a:latin typeface="Inter" panose="02000503000000020004" pitchFamily="2" charset="0"/>
              </a:rPr>
              <a:t>“No crees un tema nuevo si ya existe uno equivalente.”</a:t>
            </a:r>
          </a:p>
        </p:txBody>
      </p:sp>
      <p:sp>
        <p:nvSpPr>
          <p:cNvPr id="22" name="v3_24_text_3">
            <a:extLst>
              <a:ext uri="{FF2B5EF4-FFF2-40B4-BE49-F238E27FC236}">
                <a16:creationId xmlns:a16="http://schemas.microsoft.com/office/drawing/2014/main" id="{AB6CA47E-BC05-AF35-632C-00844038420B}"/>
              </a:ext>
            </a:extLst>
          </p:cNvPr>
          <p:cNvSpPr txBox="1"/>
          <p:nvPr/>
        </p:nvSpPr>
        <p:spPr>
          <a:xfrm>
            <a:off x="330200" y="2920999"/>
            <a:ext cx="8458200" cy="1295400"/>
          </a:xfrm>
          <a:prstGeom prst="rect">
            <a:avLst/>
          </a:prstGeom>
          <a:noFill/>
        </p:spPr>
        <p:txBody>
          <a:bodyPr vert="horz" wrap="square" lIns="0" tIns="0" rIns="0" bIns="0" rtlCol="0" anchor="t">
            <a:noAutofit/>
          </a:bodyPr>
          <a:lstStyle/>
          <a:p>
            <a:pPr>
              <a:lnSpc>
                <a:spcPct val="106000"/>
              </a:lnSpc>
            </a:pPr>
            <a:r>
              <a:rPr lang="es-ES" sz="2400">
                <a:solidFill>
                  <a:srgbClr val="1F2937"/>
                </a:solidFill>
                <a:latin typeface="Inter" panose="02000503000000020004" pitchFamily="2" charset="0"/>
              </a:rPr>
              <a:t>Guardar el criterio en la referencia.</a:t>
            </a:r>
          </a:p>
          <a:p>
            <a:pPr>
              <a:lnSpc>
                <a:spcPct val="106000"/>
              </a:lnSpc>
            </a:pPr>
            <a:r>
              <a:rPr lang="es-ES" sz="2400">
                <a:solidFill>
                  <a:srgbClr val="1F2937"/>
                </a:solidFill>
                <a:latin typeface="Inter" panose="02000503000000020004" pitchFamily="2" charset="0"/>
              </a:rPr>
              <a:t>Volver a ejecutar con un caso distinto.</a:t>
            </a:r>
          </a:p>
          <a:p>
            <a:pPr>
              <a:lnSpc>
                <a:spcPct val="106000"/>
              </a:lnSpc>
            </a:pPr>
            <a:r>
              <a:rPr lang="es-ES" sz="2400">
                <a:solidFill>
                  <a:srgbClr val="1F2937"/>
                </a:solidFill>
                <a:latin typeface="Inter" panose="02000503000000020004" pitchFamily="2" charset="0"/>
              </a:rPr>
              <a:t>Comprobar si evita el error.</a:t>
            </a:r>
          </a:p>
        </p:txBody>
      </p:sp>
      <p:sp>
        <p:nvSpPr>
          <p:cNvPr id="23" name="v3_24_text_4">
            <a:extLst>
              <a:ext uri="{FF2B5EF4-FFF2-40B4-BE49-F238E27FC236}">
                <a16:creationId xmlns:a16="http://schemas.microsoft.com/office/drawing/2014/main" id="{B1131C46-D532-D5A8-FD91-D59703444243}"/>
              </a:ext>
            </a:extLst>
          </p:cNvPr>
          <p:cNvSpPr txBox="1"/>
          <p:nvPr/>
        </p:nvSpPr>
        <p:spPr>
          <a:xfrm>
            <a:off x="330200" y="4394200"/>
            <a:ext cx="8382000" cy="279400"/>
          </a:xfrm>
          <a:prstGeom prst="rect">
            <a:avLst/>
          </a:prstGeom>
          <a:noFill/>
        </p:spPr>
        <p:txBody>
          <a:bodyPr vert="horz" wrap="square" lIns="0" tIns="0" rIns="0" bIns="0" rtlCol="0" anchor="t">
            <a:noAutofit/>
          </a:bodyPr>
          <a:lstStyle/>
          <a:p>
            <a:pPr>
              <a:lnSpc>
                <a:spcPct val="106000"/>
              </a:lnSpc>
            </a:pPr>
            <a:r>
              <a:rPr lang="es-ES" sz="1130">
                <a:solidFill>
                  <a:srgbClr val="62666A"/>
                </a:solidFill>
                <a:latin typeface="Inter" panose="02000503000000020004" pitchFamily="2" charset="0"/>
              </a:rPr>
              <a:t>Regla real de instrucciones-ficha.md. Las correcciones editoriales se conservan en estilo.md.</a:t>
            </a:r>
          </a:p>
        </p:txBody>
      </p:sp>
      <p:sp>
        <p:nvSpPr>
          <p:cNvPr id="24" name="TextBox 23">
            <a:extLst>
              <a:ext uri="{FF2B5EF4-FFF2-40B4-BE49-F238E27FC236}">
                <a16:creationId xmlns:a16="http://schemas.microsoft.com/office/drawing/2014/main" id="{CC428FB1-5842-3F27-D770-6D73CAD5D7BD}"/>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24</a:t>
            </a:r>
          </a:p>
        </p:txBody>
      </p:sp>
    </p:spTree>
    <p:extLst>
      <p:ext uri="{BB962C8B-B14F-4D97-AF65-F5344CB8AC3E}">
        <p14:creationId xmlns:p14="http://schemas.microsoft.com/office/powerpoint/2010/main" val="3741743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20" name="v3_25_text_1">
            <a:extLst>
              <a:ext uri="{FF2B5EF4-FFF2-40B4-BE49-F238E27FC236}">
                <a16:creationId xmlns:a16="http://schemas.microsoft.com/office/drawing/2014/main" id="{EA1DD0D8-2152-79EA-B12C-AF04B799AD00}"/>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Repetimos el método para cada etapa</a:t>
            </a:r>
          </a:p>
        </p:txBody>
      </p:sp>
      <p:sp>
        <p:nvSpPr>
          <p:cNvPr id="21" name="v3_25_text_2">
            <a:extLst>
              <a:ext uri="{FF2B5EF4-FFF2-40B4-BE49-F238E27FC236}">
                <a16:creationId xmlns:a16="http://schemas.microsoft.com/office/drawing/2014/main" id="{5B996EE8-981A-E033-03F7-9EE208C91918}"/>
              </a:ext>
            </a:extLst>
          </p:cNvPr>
          <p:cNvSpPr txBox="1"/>
          <p:nvPr/>
        </p:nvSpPr>
        <p:spPr>
          <a:xfrm>
            <a:off x="330200" y="1358899"/>
            <a:ext cx="8458200" cy="850900"/>
          </a:xfrm>
          <a:prstGeom prst="rect">
            <a:avLst/>
          </a:prstGeom>
          <a:noFill/>
        </p:spPr>
        <p:txBody>
          <a:bodyPr vert="horz" wrap="square" lIns="0" tIns="0" rIns="0" bIns="0" rtlCol="0" anchor="t">
            <a:noAutofit/>
          </a:bodyPr>
          <a:lstStyle/>
          <a:p>
            <a:pPr>
              <a:lnSpc>
                <a:spcPct val="106000"/>
              </a:lnSpc>
            </a:pPr>
            <a:r>
              <a:rPr lang="es-ES" sz="2200" b="1">
                <a:solidFill>
                  <a:srgbClr val="FD6534"/>
                </a:solidFill>
                <a:latin typeface="Inter" panose="02000503000000020004" pitchFamily="2" charset="0"/>
              </a:rPr>
              <a:t>Inventario → oportunidad → contenido → piezas → guardar</a:t>
            </a:r>
          </a:p>
        </p:txBody>
      </p:sp>
      <p:sp>
        <p:nvSpPr>
          <p:cNvPr id="22" name="v3_25_text_3">
            <a:extLst>
              <a:ext uri="{FF2B5EF4-FFF2-40B4-BE49-F238E27FC236}">
                <a16:creationId xmlns:a16="http://schemas.microsoft.com/office/drawing/2014/main" id="{1C875EC5-B583-E4D5-B2FA-E9D81F90270D}"/>
              </a:ext>
            </a:extLst>
          </p:cNvPr>
          <p:cNvSpPr txBox="1"/>
          <p:nvPr/>
        </p:nvSpPr>
        <p:spPr>
          <a:xfrm>
            <a:off x="330200" y="2768599"/>
            <a:ext cx="8458200" cy="1422400"/>
          </a:xfrm>
          <a:prstGeom prst="rect">
            <a:avLst/>
          </a:prstGeom>
          <a:noFill/>
        </p:spPr>
        <p:txBody>
          <a:bodyPr vert="horz" wrap="square" lIns="0" tIns="0" rIns="0" bIns="0" rtlCol="0" anchor="t">
            <a:noAutofit/>
          </a:bodyPr>
          <a:lstStyle/>
          <a:p>
            <a:pPr>
              <a:lnSpc>
                <a:spcPct val="106000"/>
              </a:lnSpc>
            </a:pPr>
            <a:r>
              <a:rPr lang="es-ES" sz="2500">
                <a:solidFill>
                  <a:srgbClr val="1F2937"/>
                </a:solidFill>
                <a:latin typeface="Inter" panose="02000503000000020004" pitchFamily="2" charset="0"/>
              </a:rPr>
              <a:t>Un encargo definido.</a:t>
            </a:r>
          </a:p>
          <a:p>
            <a:pPr>
              <a:lnSpc>
                <a:spcPct val="106000"/>
              </a:lnSpc>
            </a:pPr>
            <a:r>
              <a:rPr lang="es-ES" sz="2500">
                <a:solidFill>
                  <a:srgbClr val="1F2937"/>
                </a:solidFill>
                <a:latin typeface="Inter" panose="02000503000000020004" pitchFamily="2" charset="0"/>
              </a:rPr>
              <a:t>Una salida que el siguiente paso pueda usar.</a:t>
            </a:r>
          </a:p>
          <a:p>
            <a:pPr>
              <a:lnSpc>
                <a:spcPct val="106000"/>
              </a:lnSpc>
            </a:pPr>
            <a:r>
              <a:rPr lang="es-ES" sz="2500">
                <a:solidFill>
                  <a:srgbClr val="1F2937"/>
                </a:solidFill>
                <a:latin typeface="Inter" panose="02000503000000020004" pitchFamily="2" charset="0"/>
              </a:rPr>
              <a:t>Una comprobación antes de continuar.</a:t>
            </a:r>
          </a:p>
        </p:txBody>
      </p:sp>
      <p:sp>
        <p:nvSpPr>
          <p:cNvPr id="23" name="v3_25_text_4">
            <a:extLst>
              <a:ext uri="{FF2B5EF4-FFF2-40B4-BE49-F238E27FC236}">
                <a16:creationId xmlns:a16="http://schemas.microsoft.com/office/drawing/2014/main" id="{E5B07D07-33E1-B950-E38F-664E88441BEA}"/>
              </a:ext>
            </a:extLst>
          </p:cNvPr>
          <p:cNvSpPr txBox="1"/>
          <p:nvPr/>
        </p:nvSpPr>
        <p:spPr>
          <a:xfrm>
            <a:off x="330200" y="4394200"/>
            <a:ext cx="8382000" cy="279400"/>
          </a:xfrm>
          <a:prstGeom prst="rect">
            <a:avLst/>
          </a:prstGeom>
          <a:noFill/>
        </p:spPr>
        <p:txBody>
          <a:bodyPr vert="horz" wrap="square" lIns="0" tIns="0" rIns="0" bIns="0" rtlCol="0" anchor="t">
            <a:noAutofit/>
          </a:bodyPr>
          <a:lstStyle/>
          <a:p>
            <a:pPr>
              <a:lnSpc>
                <a:spcPct val="106000"/>
              </a:lnSpc>
            </a:pPr>
            <a:r>
              <a:rPr lang="es-ES" sz="1130">
                <a:solidFill>
                  <a:srgbClr val="62666A"/>
                </a:solidFill>
                <a:latin typeface="Inter" panose="02000503000000020004" pitchFamily="2" charset="0"/>
              </a:rPr>
              <a:t>El repo incluye 9 prompts de construcción: la estructura y 8 Skills conectadas por sus entregas.</a:t>
            </a:r>
          </a:p>
        </p:txBody>
      </p:sp>
      <p:sp>
        <p:nvSpPr>
          <p:cNvPr id="24" name="TextBox 23">
            <a:extLst>
              <a:ext uri="{FF2B5EF4-FFF2-40B4-BE49-F238E27FC236}">
                <a16:creationId xmlns:a16="http://schemas.microsoft.com/office/drawing/2014/main" id="{7C256707-1787-BD72-BD86-CE76231B2966}"/>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25</a:t>
            </a:r>
          </a:p>
        </p:txBody>
      </p:sp>
    </p:spTree>
    <p:extLst>
      <p:ext uri="{BB962C8B-B14F-4D97-AF65-F5344CB8AC3E}">
        <p14:creationId xmlns:p14="http://schemas.microsoft.com/office/powerpoint/2010/main" val="3444710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20" name="v3_26_text_1">
            <a:extLst>
              <a:ext uri="{FF2B5EF4-FFF2-40B4-BE49-F238E27FC236}">
                <a16:creationId xmlns:a16="http://schemas.microsoft.com/office/drawing/2014/main" id="{4D4EA0C0-7D67-C133-BEA2-F58F8456FCA2}"/>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Lo puedes usar en distintos entornos</a:t>
            </a:r>
          </a:p>
        </p:txBody>
      </p:sp>
      <p:sp>
        <p:nvSpPr>
          <p:cNvPr id="21" name="v3_26_text_2">
            <a:extLst>
              <a:ext uri="{FF2B5EF4-FFF2-40B4-BE49-F238E27FC236}">
                <a16:creationId xmlns:a16="http://schemas.microsoft.com/office/drawing/2014/main" id="{E0645C5F-1DDC-6AD9-4C82-08B8233084FD}"/>
              </a:ext>
            </a:extLst>
          </p:cNvPr>
          <p:cNvSpPr txBox="1"/>
          <p:nvPr/>
        </p:nvSpPr>
        <p:spPr>
          <a:xfrm>
            <a:off x="330200" y="1371599"/>
            <a:ext cx="3937000" cy="457200"/>
          </a:xfrm>
          <a:prstGeom prst="rect">
            <a:avLst/>
          </a:prstGeom>
          <a:noFill/>
        </p:spPr>
        <p:txBody>
          <a:bodyPr vert="horz" wrap="square" lIns="0" tIns="0" rIns="0" bIns="0" rtlCol="0" anchor="t">
            <a:noAutofit/>
          </a:bodyPr>
          <a:lstStyle/>
          <a:p>
            <a:pPr>
              <a:lnSpc>
                <a:spcPct val="106000"/>
              </a:lnSpc>
            </a:pPr>
            <a:r>
              <a:rPr lang="es-ES" sz="2800" b="1">
                <a:solidFill>
                  <a:srgbClr val="1F2937"/>
                </a:solidFill>
                <a:latin typeface="Inter" panose="02000503000000020004" pitchFamily="2" charset="0"/>
              </a:rPr>
              <a:t>Codex</a:t>
            </a:r>
          </a:p>
        </p:txBody>
      </p:sp>
      <p:sp>
        <p:nvSpPr>
          <p:cNvPr id="22" name="v3_26_text_3">
            <a:extLst>
              <a:ext uri="{FF2B5EF4-FFF2-40B4-BE49-F238E27FC236}">
                <a16:creationId xmlns:a16="http://schemas.microsoft.com/office/drawing/2014/main" id="{A47B088E-63D9-E399-2B4A-CBCC7805D55E}"/>
              </a:ext>
            </a:extLst>
          </p:cNvPr>
          <p:cNvSpPr txBox="1"/>
          <p:nvPr/>
        </p:nvSpPr>
        <p:spPr>
          <a:xfrm>
            <a:off x="330200" y="1993900"/>
            <a:ext cx="4000500" cy="444500"/>
          </a:xfrm>
          <a:prstGeom prst="rect">
            <a:avLst/>
          </a:prstGeom>
          <a:noFill/>
        </p:spPr>
        <p:txBody>
          <a:bodyPr vert="horz" wrap="square" lIns="0" tIns="0" rIns="0" bIns="0" rtlCol="0" anchor="t">
            <a:noAutofit/>
          </a:bodyPr>
          <a:lstStyle/>
          <a:p>
            <a:pPr>
              <a:lnSpc>
                <a:spcPct val="106000"/>
              </a:lnSpc>
            </a:pPr>
            <a:r>
              <a:rPr lang="es-ES" sz="2000">
                <a:solidFill>
                  <a:srgbClr val="FD6534"/>
                </a:solidFill>
                <a:latin typeface="Consolas" panose="020B0609020204030204" pitchFamily="49" charset="0"/>
              </a:rPr>
              <a:t>.agents/skills/</a:t>
            </a:r>
          </a:p>
        </p:txBody>
      </p:sp>
      <p:sp>
        <p:nvSpPr>
          <p:cNvPr id="23" name="v3_26_text_4">
            <a:extLst>
              <a:ext uri="{FF2B5EF4-FFF2-40B4-BE49-F238E27FC236}">
                <a16:creationId xmlns:a16="http://schemas.microsoft.com/office/drawing/2014/main" id="{A3CF0E29-A59A-A2D8-B174-2A77D7AC79AE}"/>
              </a:ext>
            </a:extLst>
          </p:cNvPr>
          <p:cNvSpPr txBox="1"/>
          <p:nvPr/>
        </p:nvSpPr>
        <p:spPr>
          <a:xfrm>
            <a:off x="4902200" y="1371599"/>
            <a:ext cx="3937000" cy="457200"/>
          </a:xfrm>
          <a:prstGeom prst="rect">
            <a:avLst/>
          </a:prstGeom>
          <a:noFill/>
        </p:spPr>
        <p:txBody>
          <a:bodyPr vert="horz" wrap="square" lIns="0" tIns="0" rIns="0" bIns="0" rtlCol="0" anchor="t">
            <a:noAutofit/>
          </a:bodyPr>
          <a:lstStyle/>
          <a:p>
            <a:pPr>
              <a:lnSpc>
                <a:spcPct val="106000"/>
              </a:lnSpc>
            </a:pPr>
            <a:r>
              <a:rPr lang="es-ES" sz="2800" b="1">
                <a:solidFill>
                  <a:srgbClr val="1F2937"/>
                </a:solidFill>
                <a:latin typeface="Inter" panose="02000503000000020004" pitchFamily="2" charset="0"/>
              </a:rPr>
              <a:t>Claude Code</a:t>
            </a:r>
          </a:p>
        </p:txBody>
      </p:sp>
      <p:sp>
        <p:nvSpPr>
          <p:cNvPr id="24" name="v3_26_text_5">
            <a:extLst>
              <a:ext uri="{FF2B5EF4-FFF2-40B4-BE49-F238E27FC236}">
                <a16:creationId xmlns:a16="http://schemas.microsoft.com/office/drawing/2014/main" id="{C90AF534-F644-A855-B3D9-4FD171A79D1E}"/>
              </a:ext>
            </a:extLst>
          </p:cNvPr>
          <p:cNvSpPr txBox="1"/>
          <p:nvPr/>
        </p:nvSpPr>
        <p:spPr>
          <a:xfrm>
            <a:off x="4902200" y="1993900"/>
            <a:ext cx="3937000" cy="444500"/>
          </a:xfrm>
          <a:prstGeom prst="rect">
            <a:avLst/>
          </a:prstGeom>
          <a:noFill/>
        </p:spPr>
        <p:txBody>
          <a:bodyPr vert="horz" wrap="square" lIns="0" tIns="0" rIns="0" bIns="0" rtlCol="0" anchor="t">
            <a:noAutofit/>
          </a:bodyPr>
          <a:lstStyle/>
          <a:p>
            <a:pPr>
              <a:lnSpc>
                <a:spcPct val="106000"/>
              </a:lnSpc>
            </a:pPr>
            <a:r>
              <a:rPr lang="es-ES" sz="2000">
                <a:solidFill>
                  <a:srgbClr val="FD6534"/>
                </a:solidFill>
                <a:latin typeface="Consolas" panose="020B0609020204030204" pitchFamily="49" charset="0"/>
              </a:rPr>
              <a:t>.claude/skills/</a:t>
            </a:r>
          </a:p>
        </p:txBody>
      </p:sp>
      <p:sp>
        <p:nvSpPr>
          <p:cNvPr id="25" name="v3_26_text_6">
            <a:extLst>
              <a:ext uri="{FF2B5EF4-FFF2-40B4-BE49-F238E27FC236}">
                <a16:creationId xmlns:a16="http://schemas.microsoft.com/office/drawing/2014/main" id="{C3A078EF-4AEB-75DF-149D-11618CC960E1}"/>
              </a:ext>
            </a:extLst>
          </p:cNvPr>
          <p:cNvSpPr txBox="1"/>
          <p:nvPr/>
        </p:nvSpPr>
        <p:spPr>
          <a:xfrm>
            <a:off x="330200" y="3009899"/>
            <a:ext cx="8483600" cy="482600"/>
          </a:xfrm>
          <a:prstGeom prst="rect">
            <a:avLst/>
          </a:prstGeom>
          <a:noFill/>
        </p:spPr>
        <p:txBody>
          <a:bodyPr vert="horz" wrap="square" lIns="0" tIns="0" rIns="0" bIns="0" rtlCol="0" anchor="t">
            <a:noAutofit/>
          </a:bodyPr>
          <a:lstStyle/>
          <a:p>
            <a:pPr>
              <a:lnSpc>
                <a:spcPct val="106000"/>
              </a:lnSpc>
            </a:pPr>
            <a:r>
              <a:rPr lang="es-ES" sz="2800" b="1">
                <a:solidFill>
                  <a:srgbClr val="1F2937"/>
                </a:solidFill>
                <a:latin typeface="Inter" panose="02000503000000020004" pitchFamily="2" charset="0"/>
              </a:rPr>
              <a:t>ChatGPT Work · Cowork</a:t>
            </a:r>
          </a:p>
        </p:txBody>
      </p:sp>
      <p:sp>
        <p:nvSpPr>
          <p:cNvPr id="26" name="v3_26_text_7">
            <a:extLst>
              <a:ext uri="{FF2B5EF4-FFF2-40B4-BE49-F238E27FC236}">
                <a16:creationId xmlns:a16="http://schemas.microsoft.com/office/drawing/2014/main" id="{CC318E23-B943-B5DC-D660-8AB43AA69DAB}"/>
              </a:ext>
            </a:extLst>
          </p:cNvPr>
          <p:cNvSpPr txBox="1"/>
          <p:nvPr/>
        </p:nvSpPr>
        <p:spPr>
          <a:xfrm>
            <a:off x="330200" y="3619499"/>
            <a:ext cx="8445500" cy="457200"/>
          </a:xfrm>
          <a:prstGeom prst="rect">
            <a:avLst/>
          </a:prstGeom>
          <a:noFill/>
        </p:spPr>
        <p:txBody>
          <a:bodyPr vert="horz" wrap="square" lIns="0" tIns="0" rIns="0" bIns="0" rtlCol="0" anchor="t">
            <a:noAutofit/>
          </a:bodyPr>
          <a:lstStyle/>
          <a:p>
            <a:pPr>
              <a:lnSpc>
                <a:spcPct val="106000"/>
              </a:lnSpc>
            </a:pPr>
            <a:r>
              <a:rPr lang="es-ES" sz="2300">
                <a:solidFill>
                  <a:srgbClr val="1F2937"/>
                </a:solidFill>
                <a:latin typeface="Inter" panose="02000503000000020004" pitchFamily="2" charset="0"/>
              </a:rPr>
              <a:t>Instalar la Skill o su paquete compatible.</a:t>
            </a:r>
          </a:p>
        </p:txBody>
      </p:sp>
      <p:sp>
        <p:nvSpPr>
          <p:cNvPr id="27" name="v3_26_text_8">
            <a:extLst>
              <a:ext uri="{FF2B5EF4-FFF2-40B4-BE49-F238E27FC236}">
                <a16:creationId xmlns:a16="http://schemas.microsoft.com/office/drawing/2014/main" id="{57C35752-96D4-A561-E26C-81A6FA3E66B7}"/>
              </a:ext>
            </a:extLst>
          </p:cNvPr>
          <p:cNvSpPr txBox="1"/>
          <p:nvPr/>
        </p:nvSpPr>
        <p:spPr>
          <a:xfrm>
            <a:off x="330200" y="4394200"/>
            <a:ext cx="8382000" cy="279400"/>
          </a:xfrm>
          <a:prstGeom prst="rect">
            <a:avLst/>
          </a:prstGeom>
          <a:noFill/>
        </p:spPr>
        <p:txBody>
          <a:bodyPr vert="horz" wrap="square" lIns="0" tIns="0" rIns="0" bIns="0" rtlCol="0" anchor="t">
            <a:noAutofit/>
          </a:bodyPr>
          <a:lstStyle/>
          <a:p>
            <a:pPr>
              <a:lnSpc>
                <a:spcPct val="106000"/>
              </a:lnSpc>
            </a:pPr>
            <a:r>
              <a:rPr lang="es-ES" sz="1130">
                <a:solidFill>
                  <a:srgbClr val="62666A"/>
                </a:solidFill>
                <a:latin typeface="Inter" panose="02000503000000020004" pitchFamily="2" charset="0"/>
              </a:rPr>
              <a:t>El procedimiento se reutiliza. Hay que adaptar herramientas, rutas, permisos y dependencias.</a:t>
            </a:r>
          </a:p>
        </p:txBody>
      </p:sp>
      <p:sp>
        <p:nvSpPr>
          <p:cNvPr id="28" name="TextBox 27">
            <a:extLst>
              <a:ext uri="{FF2B5EF4-FFF2-40B4-BE49-F238E27FC236}">
                <a16:creationId xmlns:a16="http://schemas.microsoft.com/office/drawing/2014/main" id="{5B1F0A03-1CFA-1A95-1D7C-F7E1B7DAB013}"/>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26</a:t>
            </a:r>
          </a:p>
        </p:txBody>
      </p:sp>
    </p:spTree>
    <p:extLst>
      <p:ext uri="{BB962C8B-B14F-4D97-AF65-F5344CB8AC3E}">
        <p14:creationId xmlns:p14="http://schemas.microsoft.com/office/powerpoint/2010/main" val="8050867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20" name="v3_27_text_1">
            <a:extLst>
              <a:ext uri="{FF2B5EF4-FFF2-40B4-BE49-F238E27FC236}">
                <a16:creationId xmlns:a16="http://schemas.microsoft.com/office/drawing/2014/main" id="{77684E37-FA7C-331F-F938-494BDD534323}"/>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Todavía tenía que acordarme de lanzarlo</a:t>
            </a:r>
          </a:p>
        </p:txBody>
      </p:sp>
      <p:sp>
        <p:nvSpPr>
          <p:cNvPr id="21" name="v3_27_text_2">
            <a:extLst>
              <a:ext uri="{FF2B5EF4-FFF2-40B4-BE49-F238E27FC236}">
                <a16:creationId xmlns:a16="http://schemas.microsoft.com/office/drawing/2014/main" id="{FF081BD5-3E36-8153-AA1D-E99B98A60E4D}"/>
              </a:ext>
            </a:extLst>
          </p:cNvPr>
          <p:cNvSpPr txBox="1"/>
          <p:nvPr/>
        </p:nvSpPr>
        <p:spPr>
          <a:xfrm>
            <a:off x="330200" y="1574799"/>
            <a:ext cx="3937000" cy="1841500"/>
          </a:xfrm>
          <a:prstGeom prst="rect">
            <a:avLst/>
          </a:prstGeom>
          <a:noFill/>
        </p:spPr>
        <p:txBody>
          <a:bodyPr vert="horz" wrap="square" lIns="0" tIns="0" rIns="0" bIns="0" rtlCol="0" anchor="t">
            <a:noAutofit/>
          </a:bodyPr>
          <a:lstStyle/>
          <a:p>
            <a:pPr>
              <a:lnSpc>
                <a:spcPct val="106000"/>
              </a:lnSpc>
            </a:pPr>
            <a:r>
              <a:rPr lang="es-ES" sz="2600" b="1">
                <a:solidFill>
                  <a:srgbClr val="1F2937"/>
                </a:solidFill>
                <a:latin typeface="Inter" panose="02000503000000020004" pitchFamily="2" charset="0"/>
              </a:rPr>
              <a:t>El proceso ya estaba.</a:t>
            </a:r>
          </a:p>
          <a:p>
            <a:pPr>
              <a:lnSpc>
                <a:spcPct val="106000"/>
              </a:lnSpc>
            </a:pPr>
            <a:r>
              <a:rPr lang="es-ES" sz="2600" b="1">
                <a:solidFill>
                  <a:srgbClr val="1F2937"/>
                </a:solidFill>
                <a:latin typeface="Inter" panose="02000503000000020004" pitchFamily="2" charset="0"/>
              </a:rPr>
              <a:t>Todavía tenía que</a:t>
            </a:r>
          </a:p>
          <a:p>
            <a:pPr>
              <a:lnSpc>
                <a:spcPct val="106000"/>
              </a:lnSpc>
            </a:pPr>
            <a:r>
              <a:rPr lang="es-ES" sz="2600" b="1">
                <a:solidFill>
                  <a:srgbClr val="1F2937"/>
                </a:solidFill>
                <a:latin typeface="Inter" panose="02000503000000020004" pitchFamily="2" charset="0"/>
              </a:rPr>
              <a:t>ponerlo en marcha.</a:t>
            </a:r>
          </a:p>
        </p:txBody>
      </p:sp>
      <p:pic>
        <p:nvPicPr>
          <p:cNvPr id="23" name="v3_27_image_3">
            <a:extLst>
              <a:ext uri="{FF2B5EF4-FFF2-40B4-BE49-F238E27FC236}">
                <a16:creationId xmlns:a16="http://schemas.microsoft.com/office/drawing/2014/main" id="{E761CB8F-C4E3-6169-42A9-3FE0B97C83ED}"/>
              </a:ext>
            </a:extLst>
          </p:cNvPr>
          <p:cNvPicPr>
            <a:picLocks/>
          </p:cNvPicPr>
          <p:nvPr/>
        </p:nvPicPr>
        <p:blipFill>
          <a:blip r:embed="rId3"/>
          <a:stretch>
            <a:fillRect/>
          </a:stretch>
        </p:blipFill>
        <p:spPr>
          <a:xfrm>
            <a:off x="4495800" y="1488017"/>
            <a:ext cx="4318000" cy="2878667"/>
          </a:xfrm>
          <a:prstGeom prst="rect">
            <a:avLst/>
          </a:prstGeom>
        </p:spPr>
      </p:pic>
      <p:sp>
        <p:nvSpPr>
          <p:cNvPr id="24" name="v3_27_text_4">
            <a:extLst>
              <a:ext uri="{FF2B5EF4-FFF2-40B4-BE49-F238E27FC236}">
                <a16:creationId xmlns:a16="http://schemas.microsoft.com/office/drawing/2014/main" id="{BBCF4E3E-2C59-D9B9-3025-8AE16BB32189}"/>
              </a:ext>
            </a:extLst>
          </p:cNvPr>
          <p:cNvSpPr txBox="1"/>
          <p:nvPr/>
        </p:nvSpPr>
        <p:spPr>
          <a:xfrm>
            <a:off x="330200" y="4394200"/>
            <a:ext cx="8382000" cy="279400"/>
          </a:xfrm>
          <a:prstGeom prst="rect">
            <a:avLst/>
          </a:prstGeom>
          <a:noFill/>
        </p:spPr>
        <p:txBody>
          <a:bodyPr vert="horz" wrap="square" lIns="0" tIns="0" rIns="0" bIns="0" rtlCol="0" anchor="t">
            <a:noAutofit/>
          </a:bodyPr>
          <a:lstStyle/>
          <a:p>
            <a:pPr>
              <a:lnSpc>
                <a:spcPct val="106000"/>
              </a:lnSpc>
            </a:pPr>
            <a:r>
              <a:rPr lang="es-ES" sz="1130">
                <a:solidFill>
                  <a:srgbClr val="62666A"/>
                </a:solidFill>
                <a:latin typeface="Inter" panose="02000503000000020004" pitchFamily="2" charset="0"/>
              </a:rPr>
              <a:t>El siguiente paso: una ejecución programada, con un resultado pendiente de revisión.</a:t>
            </a:r>
          </a:p>
        </p:txBody>
      </p:sp>
      <p:sp>
        <p:nvSpPr>
          <p:cNvPr id="25" name="TextBox 24">
            <a:extLst>
              <a:ext uri="{FF2B5EF4-FFF2-40B4-BE49-F238E27FC236}">
                <a16:creationId xmlns:a16="http://schemas.microsoft.com/office/drawing/2014/main" id="{BFCD54E7-6EAC-2165-B652-849415074B97}"/>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27</a:t>
            </a:r>
          </a:p>
        </p:txBody>
      </p:sp>
    </p:spTree>
    <p:extLst>
      <p:ext uri="{BB962C8B-B14F-4D97-AF65-F5344CB8AC3E}">
        <p14:creationId xmlns:p14="http://schemas.microsoft.com/office/powerpoint/2010/main" val="21930332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20" name="v3_28_text_1">
            <a:extLst>
              <a:ext uri="{FF2B5EF4-FFF2-40B4-BE49-F238E27FC236}">
                <a16:creationId xmlns:a16="http://schemas.microsoft.com/office/drawing/2014/main" id="{42CD8F4F-A4C0-3870-59A2-FBC2A65EB589}"/>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Hacki: el proceso se pone en marcha</a:t>
            </a:r>
          </a:p>
        </p:txBody>
      </p:sp>
      <p:sp>
        <p:nvSpPr>
          <p:cNvPr id="21" name="v3_28_text_2">
            <a:extLst>
              <a:ext uri="{FF2B5EF4-FFF2-40B4-BE49-F238E27FC236}">
                <a16:creationId xmlns:a16="http://schemas.microsoft.com/office/drawing/2014/main" id="{53B074A9-9BF0-735D-F54D-4A1A9CFC47A3}"/>
              </a:ext>
            </a:extLst>
          </p:cNvPr>
          <p:cNvSpPr txBox="1"/>
          <p:nvPr/>
        </p:nvSpPr>
        <p:spPr>
          <a:xfrm>
            <a:off x="330200" y="1409700"/>
            <a:ext cx="4699000" cy="482600"/>
          </a:xfrm>
          <a:prstGeom prst="rect">
            <a:avLst/>
          </a:prstGeom>
          <a:noFill/>
        </p:spPr>
        <p:txBody>
          <a:bodyPr vert="horz" wrap="square" lIns="0" tIns="0" rIns="0" bIns="0" rtlCol="0" anchor="t">
            <a:noAutofit/>
          </a:bodyPr>
          <a:lstStyle/>
          <a:p>
            <a:pPr>
              <a:lnSpc>
                <a:spcPct val="106000"/>
              </a:lnSpc>
            </a:pPr>
            <a:r>
              <a:rPr lang="es-ES" sz="2900" b="1">
                <a:solidFill>
                  <a:srgbClr val="FD6534"/>
                </a:solidFill>
                <a:latin typeface="Inter" panose="02000503000000020004" pitchFamily="2" charset="0"/>
              </a:rPr>
              <a:t>Hermes Agent</a:t>
            </a:r>
          </a:p>
        </p:txBody>
      </p:sp>
      <p:sp>
        <p:nvSpPr>
          <p:cNvPr id="22" name="v3_28_text_3">
            <a:extLst>
              <a:ext uri="{FF2B5EF4-FFF2-40B4-BE49-F238E27FC236}">
                <a16:creationId xmlns:a16="http://schemas.microsoft.com/office/drawing/2014/main" id="{0D0A1A50-2BEB-A879-AABD-C4DAC8384844}"/>
              </a:ext>
            </a:extLst>
          </p:cNvPr>
          <p:cNvSpPr txBox="1"/>
          <p:nvPr/>
        </p:nvSpPr>
        <p:spPr>
          <a:xfrm>
            <a:off x="330200" y="2108199"/>
            <a:ext cx="4635500" cy="1397000"/>
          </a:xfrm>
          <a:prstGeom prst="rect">
            <a:avLst/>
          </a:prstGeom>
          <a:noFill/>
        </p:spPr>
        <p:txBody>
          <a:bodyPr vert="horz" wrap="square" lIns="0" tIns="0" rIns="0" bIns="0" rtlCol="0" anchor="t">
            <a:noAutofit/>
          </a:bodyPr>
          <a:lstStyle/>
          <a:p>
            <a:pPr>
              <a:lnSpc>
                <a:spcPct val="106000"/>
              </a:lnSpc>
            </a:pPr>
            <a:r>
              <a:rPr lang="es-ES" sz="2300">
                <a:solidFill>
                  <a:srgbClr val="1F2937"/>
                </a:solidFill>
                <a:latin typeface="Inter" panose="02000503000000020004" pitchFamily="2" charset="0"/>
              </a:rPr>
              <a:t>Servidor en marcha.</a:t>
            </a:r>
          </a:p>
          <a:p>
            <a:pPr>
              <a:lnSpc>
                <a:spcPct val="106000"/>
              </a:lnSpc>
            </a:pPr>
            <a:r>
              <a:rPr lang="es-ES" sz="2300">
                <a:solidFill>
                  <a:srgbClr val="1F2937"/>
                </a:solidFill>
                <a:latin typeface="Inter" panose="02000503000000020004" pitchFamily="2" charset="0"/>
              </a:rPr>
              <a:t>Tarea semanal programada.</a:t>
            </a:r>
          </a:p>
          <a:p>
            <a:pPr>
              <a:lnSpc>
                <a:spcPct val="106000"/>
              </a:lnSpc>
            </a:pPr>
            <a:r>
              <a:rPr lang="es-ES" sz="2300">
                <a:solidFill>
                  <a:srgbClr val="1F2937"/>
                </a:solidFill>
                <a:latin typeface="Inter" panose="02000503000000020004" pitchFamily="2" charset="0"/>
              </a:rPr>
              <a:t>Skills, herramientas y contexto.</a:t>
            </a:r>
          </a:p>
        </p:txBody>
      </p:sp>
      <p:sp>
        <p:nvSpPr>
          <p:cNvPr id="23" name="v3_28_text_4">
            <a:extLst>
              <a:ext uri="{FF2B5EF4-FFF2-40B4-BE49-F238E27FC236}">
                <a16:creationId xmlns:a16="http://schemas.microsoft.com/office/drawing/2014/main" id="{14C1B26F-67C1-E100-A8FD-040F0FAE61CA}"/>
              </a:ext>
            </a:extLst>
          </p:cNvPr>
          <p:cNvSpPr txBox="1"/>
          <p:nvPr/>
        </p:nvSpPr>
        <p:spPr>
          <a:xfrm>
            <a:off x="330200" y="3682999"/>
            <a:ext cx="4699000" cy="762000"/>
          </a:xfrm>
          <a:prstGeom prst="rect">
            <a:avLst/>
          </a:prstGeom>
          <a:noFill/>
        </p:spPr>
        <p:txBody>
          <a:bodyPr vert="horz" wrap="square" lIns="0" tIns="0" rIns="0" bIns="0" rtlCol="0" anchor="t">
            <a:noAutofit/>
          </a:bodyPr>
          <a:lstStyle/>
          <a:p>
            <a:pPr>
              <a:lnSpc>
                <a:spcPct val="106000"/>
              </a:lnSpc>
            </a:pPr>
            <a:r>
              <a:rPr lang="es-ES" sz="2200" b="1">
                <a:solidFill>
                  <a:srgbClr val="1F2937"/>
                </a:solidFill>
                <a:latin typeface="Inter" panose="02000503000000020004" pitchFamily="2" charset="0"/>
              </a:rPr>
              <a:t>6 Notes propuestas.</a:t>
            </a:r>
          </a:p>
          <a:p>
            <a:pPr>
              <a:lnSpc>
                <a:spcPct val="106000"/>
              </a:lnSpc>
            </a:pPr>
            <a:r>
              <a:rPr lang="es-ES" sz="2200" b="1">
                <a:solidFill>
                  <a:srgbClr val="1F2937"/>
                </a:solidFill>
                <a:latin typeface="Inter" panose="02000503000000020004" pitchFamily="2" charset="0"/>
              </a:rPr>
              <a:t>Pendientes de aprobación.</a:t>
            </a:r>
          </a:p>
        </p:txBody>
      </p:sp>
      <p:pic>
        <p:nvPicPr>
          <p:cNvPr id="25" name="v3_28_image_5">
            <a:extLst>
              <a:ext uri="{FF2B5EF4-FFF2-40B4-BE49-F238E27FC236}">
                <a16:creationId xmlns:a16="http://schemas.microsoft.com/office/drawing/2014/main" id="{EC6DBF5A-EC7C-7449-9609-20A931BEAD2D}"/>
              </a:ext>
            </a:extLst>
          </p:cNvPr>
          <p:cNvPicPr>
            <a:picLocks/>
          </p:cNvPicPr>
          <p:nvPr/>
        </p:nvPicPr>
        <p:blipFill>
          <a:blip r:embed="rId3"/>
          <a:stretch>
            <a:fillRect/>
          </a:stretch>
        </p:blipFill>
        <p:spPr>
          <a:xfrm>
            <a:off x="5626774" y="1130300"/>
            <a:ext cx="3008553" cy="3746500"/>
          </a:xfrm>
          <a:prstGeom prst="rect">
            <a:avLst/>
          </a:prstGeom>
        </p:spPr>
      </p:pic>
      <p:sp>
        <p:nvSpPr>
          <p:cNvPr id="26" name="TextBox 25">
            <a:extLst>
              <a:ext uri="{FF2B5EF4-FFF2-40B4-BE49-F238E27FC236}">
                <a16:creationId xmlns:a16="http://schemas.microsoft.com/office/drawing/2014/main" id="{AA16868B-E456-CC43-BEBB-A7F82838E8A9}"/>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28</a:t>
            </a:r>
          </a:p>
        </p:txBody>
      </p:sp>
    </p:spTree>
    <p:extLst>
      <p:ext uri="{BB962C8B-B14F-4D97-AF65-F5344CB8AC3E}">
        <p14:creationId xmlns:p14="http://schemas.microsoft.com/office/powerpoint/2010/main" val="2804037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20" name="v3_29_text_1">
            <a:extLst>
              <a:ext uri="{FF2B5EF4-FFF2-40B4-BE49-F238E27FC236}">
                <a16:creationId xmlns:a16="http://schemas.microsoft.com/office/drawing/2014/main" id="{52CE9C97-6DF8-6EF7-AE1C-42CE93E6C15E}"/>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Cuando vuelvo, el trabajo está preparado</a:t>
            </a:r>
          </a:p>
        </p:txBody>
      </p:sp>
      <p:pic>
        <p:nvPicPr>
          <p:cNvPr id="22" name="v3_29_image_2">
            <a:extLst>
              <a:ext uri="{FF2B5EF4-FFF2-40B4-BE49-F238E27FC236}">
                <a16:creationId xmlns:a16="http://schemas.microsoft.com/office/drawing/2014/main" id="{AB102F2E-85F3-1047-FE99-7264CB360A48}"/>
              </a:ext>
            </a:extLst>
          </p:cNvPr>
          <p:cNvPicPr>
            <a:picLocks/>
          </p:cNvPicPr>
          <p:nvPr/>
        </p:nvPicPr>
        <p:blipFill>
          <a:blip r:embed="rId3"/>
          <a:stretch>
            <a:fillRect/>
          </a:stretch>
        </p:blipFill>
        <p:spPr>
          <a:xfrm>
            <a:off x="1483475" y="1193800"/>
            <a:ext cx="6177051" cy="3098800"/>
          </a:xfrm>
          <a:prstGeom prst="rect">
            <a:avLst/>
          </a:prstGeom>
        </p:spPr>
      </p:pic>
      <p:sp>
        <p:nvSpPr>
          <p:cNvPr id="23" name="v3_29_text_3">
            <a:extLst>
              <a:ext uri="{FF2B5EF4-FFF2-40B4-BE49-F238E27FC236}">
                <a16:creationId xmlns:a16="http://schemas.microsoft.com/office/drawing/2014/main" id="{393AC9BA-1294-F742-BA7E-B5DDA0471354}"/>
              </a:ext>
            </a:extLst>
          </p:cNvPr>
          <p:cNvSpPr txBox="1"/>
          <p:nvPr/>
        </p:nvSpPr>
        <p:spPr>
          <a:xfrm>
            <a:off x="330200" y="4317999"/>
            <a:ext cx="8483600" cy="406400"/>
          </a:xfrm>
          <a:prstGeom prst="rect">
            <a:avLst/>
          </a:prstGeom>
          <a:noFill/>
        </p:spPr>
        <p:txBody>
          <a:bodyPr vert="horz" wrap="square" lIns="0" tIns="0" rIns="0" bIns="0" rtlCol="0" anchor="t">
            <a:noAutofit/>
          </a:bodyPr>
          <a:lstStyle/>
          <a:p>
            <a:pPr>
              <a:lnSpc>
                <a:spcPct val="106000"/>
              </a:lnSpc>
            </a:pPr>
            <a:r>
              <a:rPr lang="es-ES" sz="2300" b="1">
                <a:solidFill>
                  <a:srgbClr val="FD6534"/>
                </a:solidFill>
                <a:latin typeface="Inter" panose="02000503000000020004" pitchFamily="2" charset="0"/>
              </a:rPr>
              <a:t>Revisar · corregir · aprobar · programar</a:t>
            </a:r>
          </a:p>
        </p:txBody>
      </p:sp>
      <p:sp>
        <p:nvSpPr>
          <p:cNvPr id="24" name="TextBox 23">
            <a:extLst>
              <a:ext uri="{FF2B5EF4-FFF2-40B4-BE49-F238E27FC236}">
                <a16:creationId xmlns:a16="http://schemas.microsoft.com/office/drawing/2014/main" id="{565B1193-C001-9C43-B777-160C1DD32A63}"/>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29</a:t>
            </a:r>
          </a:p>
        </p:txBody>
      </p:sp>
    </p:spTree>
    <p:extLst>
      <p:ext uri="{BB962C8B-B14F-4D97-AF65-F5344CB8AC3E}">
        <p14:creationId xmlns:p14="http://schemas.microsoft.com/office/powerpoint/2010/main" val="36302828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AE7DC"/>
        </a:solidFill>
        <a:effectLst/>
      </p:bgPr>
    </p:bg>
    <p:spTree>
      <p:nvGrpSpPr>
        <p:cNvPr id="1" name="Shape 145"/>
        <p:cNvGrpSpPr/>
        <p:nvPr/>
      </p:nvGrpSpPr>
      <p:grpSpPr>
        <a:xfrm>
          <a:off x="0" y="0"/>
          <a:ext cx="0" cy="0"/>
          <a:chOff x="0" y="0"/>
          <a:chExt cx="0" cy="0"/>
        </a:xfrm>
      </p:grpSpPr>
      <p:sp>
        <p:nvSpPr>
          <p:cNvPr id="20" name="v3_30_text_1">
            <a:extLst>
              <a:ext uri="{FF2B5EF4-FFF2-40B4-BE49-F238E27FC236}">
                <a16:creationId xmlns:a16="http://schemas.microsoft.com/office/drawing/2014/main" id="{4A6739F9-44F4-7284-E3C2-FE6ED18EDE29}"/>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De chat a sistemas</a:t>
            </a:r>
          </a:p>
        </p:txBody>
      </p:sp>
      <p:sp>
        <p:nvSpPr>
          <p:cNvPr id="21" name="v3_30_text_2">
            <a:extLst>
              <a:ext uri="{FF2B5EF4-FFF2-40B4-BE49-F238E27FC236}">
                <a16:creationId xmlns:a16="http://schemas.microsoft.com/office/drawing/2014/main" id="{CD7B2F25-C2C1-4E94-5174-B622C2F590BF}"/>
              </a:ext>
            </a:extLst>
          </p:cNvPr>
          <p:cNvSpPr txBox="1"/>
          <p:nvPr/>
        </p:nvSpPr>
        <p:spPr>
          <a:xfrm>
            <a:off x="330200" y="1511300"/>
            <a:ext cx="8458200" cy="571500"/>
          </a:xfrm>
          <a:prstGeom prst="rect">
            <a:avLst/>
          </a:prstGeom>
          <a:noFill/>
        </p:spPr>
        <p:txBody>
          <a:bodyPr vert="horz" wrap="square" lIns="0" tIns="0" rIns="0" bIns="0" rtlCol="0" anchor="t">
            <a:noAutofit/>
          </a:bodyPr>
          <a:lstStyle/>
          <a:p>
            <a:pPr>
              <a:lnSpc>
                <a:spcPct val="106000"/>
              </a:lnSpc>
            </a:pPr>
            <a:r>
              <a:rPr lang="es-ES" sz="3000" b="1">
                <a:solidFill>
                  <a:srgbClr val="1F2937"/>
                </a:solidFill>
                <a:latin typeface="Inter" panose="02000503000000020004" pitchFamily="2" charset="0"/>
              </a:rPr>
              <a:t>El método queda disponible.</a:t>
            </a:r>
          </a:p>
        </p:txBody>
      </p:sp>
      <p:sp>
        <p:nvSpPr>
          <p:cNvPr id="22" name="v3_30_text_3">
            <a:extLst>
              <a:ext uri="{FF2B5EF4-FFF2-40B4-BE49-F238E27FC236}">
                <a16:creationId xmlns:a16="http://schemas.microsoft.com/office/drawing/2014/main" id="{AD8349A1-D761-B3D4-E260-4676116AB7B7}"/>
              </a:ext>
            </a:extLst>
          </p:cNvPr>
          <p:cNvSpPr txBox="1"/>
          <p:nvPr/>
        </p:nvSpPr>
        <p:spPr>
          <a:xfrm>
            <a:off x="330200" y="2298700"/>
            <a:ext cx="8458200" cy="571500"/>
          </a:xfrm>
          <a:prstGeom prst="rect">
            <a:avLst/>
          </a:prstGeom>
          <a:noFill/>
        </p:spPr>
        <p:txBody>
          <a:bodyPr vert="horz" wrap="square" lIns="0" tIns="0" rIns="0" bIns="0" rtlCol="0" anchor="t">
            <a:noAutofit/>
          </a:bodyPr>
          <a:lstStyle/>
          <a:p>
            <a:pPr>
              <a:lnSpc>
                <a:spcPct val="106000"/>
              </a:lnSpc>
            </a:pPr>
            <a:r>
              <a:rPr lang="es-ES" sz="3000" b="1">
                <a:solidFill>
                  <a:srgbClr val="1F2937"/>
                </a:solidFill>
                <a:latin typeface="Inter" panose="02000503000000020004" pitchFamily="2" charset="0"/>
              </a:rPr>
              <a:t>El trabajo se comprueba.</a:t>
            </a:r>
          </a:p>
        </p:txBody>
      </p:sp>
      <p:sp>
        <p:nvSpPr>
          <p:cNvPr id="23" name="v3_30_text_4">
            <a:extLst>
              <a:ext uri="{FF2B5EF4-FFF2-40B4-BE49-F238E27FC236}">
                <a16:creationId xmlns:a16="http://schemas.microsoft.com/office/drawing/2014/main" id="{3891E7B0-C6B0-6FBA-2D24-27A7AFB976E0}"/>
              </a:ext>
            </a:extLst>
          </p:cNvPr>
          <p:cNvSpPr txBox="1"/>
          <p:nvPr/>
        </p:nvSpPr>
        <p:spPr>
          <a:xfrm>
            <a:off x="330200" y="3086100"/>
            <a:ext cx="8458200" cy="571500"/>
          </a:xfrm>
          <a:prstGeom prst="rect">
            <a:avLst/>
          </a:prstGeom>
          <a:noFill/>
        </p:spPr>
        <p:txBody>
          <a:bodyPr vert="horz" wrap="square" lIns="0" tIns="0" rIns="0" bIns="0" rtlCol="0" anchor="t">
            <a:noAutofit/>
          </a:bodyPr>
          <a:lstStyle/>
          <a:p>
            <a:pPr>
              <a:lnSpc>
                <a:spcPct val="106000"/>
              </a:lnSpc>
            </a:pPr>
            <a:r>
              <a:rPr lang="es-ES" sz="3000" b="1">
                <a:solidFill>
                  <a:srgbClr val="FD6534"/>
                </a:solidFill>
                <a:latin typeface="Inter" panose="02000503000000020004" pitchFamily="2" charset="0"/>
              </a:rPr>
              <a:t>El proceso arranca cuando toca.</a:t>
            </a:r>
          </a:p>
        </p:txBody>
      </p:sp>
      <p:sp>
        <p:nvSpPr>
          <p:cNvPr id="24" name="v3_30_text_5">
            <a:extLst>
              <a:ext uri="{FF2B5EF4-FFF2-40B4-BE49-F238E27FC236}">
                <a16:creationId xmlns:a16="http://schemas.microsoft.com/office/drawing/2014/main" id="{F608F37C-6E58-5A52-D8A1-FF04A6B6551A}"/>
              </a:ext>
            </a:extLst>
          </p:cNvPr>
          <p:cNvSpPr txBox="1"/>
          <p:nvPr/>
        </p:nvSpPr>
        <p:spPr>
          <a:xfrm>
            <a:off x="330200" y="4076699"/>
            <a:ext cx="8458200" cy="419100"/>
          </a:xfrm>
          <a:prstGeom prst="rect">
            <a:avLst/>
          </a:prstGeom>
          <a:noFill/>
        </p:spPr>
        <p:txBody>
          <a:bodyPr vert="horz" wrap="square" lIns="0" tIns="0" rIns="0" bIns="0" rtlCol="0" anchor="t">
            <a:noAutofit/>
          </a:bodyPr>
          <a:lstStyle/>
          <a:p>
            <a:pPr>
              <a:lnSpc>
                <a:spcPct val="106000"/>
              </a:lnSpc>
            </a:pPr>
            <a:r>
              <a:rPr lang="es-ES" sz="2300">
                <a:solidFill>
                  <a:srgbClr val="1F2937"/>
                </a:solidFill>
                <a:latin typeface="Inter" panose="02000503000000020004" pitchFamily="2" charset="0"/>
              </a:rPr>
              <a:t>Yo sigo decidiendo qué merece publicarse.</a:t>
            </a:r>
          </a:p>
        </p:txBody>
      </p:sp>
      <p:sp>
        <p:nvSpPr>
          <p:cNvPr id="25" name="v3_30_text_6">
            <a:extLst>
              <a:ext uri="{FF2B5EF4-FFF2-40B4-BE49-F238E27FC236}">
                <a16:creationId xmlns:a16="http://schemas.microsoft.com/office/drawing/2014/main" id="{482E0FAB-B0AC-DD04-8E50-DE8826FA9814}"/>
              </a:ext>
            </a:extLst>
          </p:cNvPr>
          <p:cNvSpPr txBox="1"/>
          <p:nvPr/>
        </p:nvSpPr>
        <p:spPr>
          <a:xfrm>
            <a:off x="330200" y="4394200"/>
            <a:ext cx="8382000" cy="279400"/>
          </a:xfrm>
          <a:prstGeom prst="rect">
            <a:avLst/>
          </a:prstGeom>
          <a:noFill/>
        </p:spPr>
        <p:txBody>
          <a:bodyPr vert="horz" wrap="square" lIns="0" tIns="0" rIns="0" bIns="0" rtlCol="0" anchor="t">
            <a:noAutofit/>
          </a:bodyPr>
          <a:lstStyle/>
          <a:p>
            <a:pPr>
              <a:lnSpc>
                <a:spcPct val="106000"/>
              </a:lnSpc>
            </a:pPr>
            <a:r>
              <a:rPr lang="es-ES" sz="1130">
                <a:solidFill>
                  <a:srgbClr val="62666A"/>
                </a:solidFill>
                <a:latin typeface="Inter" panose="02000503000000020004" pitchFamily="2" charset="0"/>
                <a:hlinkClick r:id="rId3"/>
              </a:rPr>
              <a:t>Think&amp;Hack · ainalluna.substack.com</a:t>
            </a:r>
            <a:endParaRPr lang="es-ES" sz="1130">
              <a:solidFill>
                <a:srgbClr val="62666A"/>
              </a:solidFill>
              <a:latin typeface="Inter" panose="02000503000000020004" pitchFamily="2" charset="0"/>
            </a:endParaRPr>
          </a:p>
        </p:txBody>
      </p:sp>
      <p:sp>
        <p:nvSpPr>
          <p:cNvPr id="26" name="TextBox 25">
            <a:extLst>
              <a:ext uri="{FF2B5EF4-FFF2-40B4-BE49-F238E27FC236}">
                <a16:creationId xmlns:a16="http://schemas.microsoft.com/office/drawing/2014/main" id="{7FC1426C-AB41-9899-F5D3-85BCF201380A}"/>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30</a:t>
            </a:r>
          </a:p>
        </p:txBody>
      </p:sp>
    </p:spTree>
    <p:extLst>
      <p:ext uri="{BB962C8B-B14F-4D97-AF65-F5344CB8AC3E}">
        <p14:creationId xmlns:p14="http://schemas.microsoft.com/office/powerpoint/2010/main" val="36350649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EAE7DC"/>
        </a:solidFill>
        <a:effectLst/>
      </p:bgPr>
    </p:bg>
    <p:spTree>
      <p:nvGrpSpPr>
        <p:cNvPr id="1" name="Shape 145"/>
        <p:cNvGrpSpPr/>
        <p:nvPr/>
      </p:nvGrpSpPr>
      <p:grpSpPr>
        <a:xfrm>
          <a:off x="0" y="0"/>
          <a:ext cx="0" cy="0"/>
          <a:chOff x="0" y="0"/>
          <a:chExt cx="0" cy="0"/>
        </a:xfrm>
      </p:grpSpPr>
      <p:sp>
        <p:nvSpPr>
          <p:cNvPr id="20" name="v3_31_text_1">
            <a:extLst>
              <a:ext uri="{FF2B5EF4-FFF2-40B4-BE49-F238E27FC236}">
                <a16:creationId xmlns:a16="http://schemas.microsoft.com/office/drawing/2014/main" id="{F48B239C-A08A-E180-D42C-BEC644293611}"/>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Qué entrega cada fase</a:t>
            </a:r>
          </a:p>
        </p:txBody>
      </p:sp>
      <p:graphicFrame>
        <p:nvGraphicFramePr>
          <p:cNvPr id="21" name="v3_31_table">
            <a:extLst>
              <a:ext uri="{FF2B5EF4-FFF2-40B4-BE49-F238E27FC236}">
                <a16:creationId xmlns:a16="http://schemas.microsoft.com/office/drawing/2014/main" id="{06560144-D661-1EC6-8DE3-D4B13C725CC5}"/>
              </a:ext>
            </a:extLst>
          </p:cNvPr>
          <p:cNvGraphicFramePr>
            <a:graphicFrameLocks noGrp="1"/>
          </p:cNvGraphicFramePr>
          <p:nvPr>
            <p:extLst>
              <p:ext uri="{D42A27DB-BD31-4B8C-83A1-F6EECF244321}">
                <p14:modId xmlns:p14="http://schemas.microsoft.com/office/powerpoint/2010/main" val="1800991481"/>
              </p:ext>
            </p:extLst>
          </p:nvPr>
        </p:nvGraphicFramePr>
        <p:xfrm>
          <a:off x="330200" y="1320800"/>
          <a:ext cx="8483600" cy="2857500"/>
        </p:xfrm>
        <a:graphic>
          <a:graphicData uri="http://schemas.openxmlformats.org/drawingml/2006/table">
            <a:tbl>
              <a:tblPr firstRow="1" bandRow="1">
                <a:tableStyleId>{62EE3193-8D45-4A5B-88C0-FDBB99C5EF04}</a:tableStyleId>
              </a:tblPr>
              <a:tblGrid>
                <a:gridCol w="1765300">
                  <a:extLst>
                    <a:ext uri="{9D8B030D-6E8A-4147-A177-3AD203B41FA5}">
                      <a16:colId xmlns:a16="http://schemas.microsoft.com/office/drawing/2014/main" val="799489175"/>
                    </a:ext>
                  </a:extLst>
                </a:gridCol>
                <a:gridCol w="4457700">
                  <a:extLst>
                    <a:ext uri="{9D8B030D-6E8A-4147-A177-3AD203B41FA5}">
                      <a16:colId xmlns:a16="http://schemas.microsoft.com/office/drawing/2014/main" val="1206918060"/>
                    </a:ext>
                  </a:extLst>
                </a:gridCol>
                <a:gridCol w="2260600">
                  <a:extLst>
                    <a:ext uri="{9D8B030D-6E8A-4147-A177-3AD203B41FA5}">
                      <a16:colId xmlns:a16="http://schemas.microsoft.com/office/drawing/2014/main" val="2134182361"/>
                    </a:ext>
                  </a:extLst>
                </a:gridCol>
              </a:tblGrid>
              <a:tr h="355600">
                <a:tc>
                  <a:txBody>
                    <a:bodyPr/>
                    <a:lstStyle/>
                    <a:p>
                      <a:pPr algn="l">
                        <a:lnSpc>
                          <a:spcPct val="106000"/>
                        </a:lnSpc>
                        <a:spcBef>
                          <a:spcPts val="0"/>
                        </a:spcBef>
                        <a:spcAft>
                          <a:spcPts val="0"/>
                        </a:spcAft>
                        <a:buFontTx/>
                        <a:buNone/>
                      </a:pPr>
                      <a:r>
                        <a:rPr lang="es-ES" sz="1600" b="1">
                          <a:solidFill>
                            <a:srgbClr val="FD6534"/>
                          </a:solidFill>
                          <a:latin typeface="Inter" panose="02000503000000020004" pitchFamily="2" charset="0"/>
                        </a:rPr>
                        <a:t>Fase</a:t>
                      </a:r>
                    </a:p>
                  </a:txBody>
                  <a:tcPr marL="63500" marR="50800" marT="38100" marB="25400" anchor="ctr">
                    <a:lnL w="5080" cap="flat" cmpd="sng">
                      <a:solidFill>
                        <a:srgbClr val="C5C3BA"/>
                      </a:solidFill>
                      <a:prstDash val="solid"/>
                      <a:round/>
                      <a:headEnd type="none" w="sm" len="sm"/>
                      <a:tailEnd type="none" w="sm" len="sm"/>
                    </a:lnL>
                    <a:lnR w="5080" cap="flat" cmpd="sng">
                      <a:solidFill>
                        <a:srgbClr val="C5C3BA"/>
                      </a:solidFill>
                      <a:prstDash val="solid"/>
                      <a:round/>
                      <a:headEnd type="none" w="sm" len="sm"/>
                      <a:tailEnd type="none" w="sm" len="sm"/>
                    </a:lnR>
                    <a:lnT w="5080" cap="flat" cmpd="sng">
                      <a:solidFill>
                        <a:srgbClr val="C5C3BA"/>
                      </a:solidFill>
                      <a:prstDash val="solid"/>
                      <a:round/>
                      <a:headEnd type="none" w="sm" len="sm"/>
                      <a:tailEnd type="none" w="sm" len="sm"/>
                    </a:lnT>
                    <a:lnB w="5080" cap="flat" cmpd="sng">
                      <a:solidFill>
                        <a:srgbClr val="C5C3BA"/>
                      </a:solidFill>
                      <a:prstDash val="solid"/>
                      <a:round/>
                      <a:headEnd type="none" w="sm" len="sm"/>
                      <a:tailEnd type="none" w="sm" len="sm"/>
                    </a:lnB>
                    <a:solidFill>
                      <a:srgbClr val="EAE7DC"/>
                    </a:solidFill>
                  </a:tcPr>
                </a:tc>
                <a:tc>
                  <a:txBody>
                    <a:bodyPr/>
                    <a:lstStyle/>
                    <a:p>
                      <a:pPr algn="l">
                        <a:lnSpc>
                          <a:spcPct val="106000"/>
                        </a:lnSpc>
                        <a:spcBef>
                          <a:spcPts val="0"/>
                        </a:spcBef>
                        <a:spcAft>
                          <a:spcPts val="0"/>
                        </a:spcAft>
                        <a:buFontTx/>
                        <a:buNone/>
                      </a:pPr>
                      <a:r>
                        <a:rPr lang="es-ES" sz="1600" b="1">
                          <a:solidFill>
                            <a:srgbClr val="FD6534"/>
                          </a:solidFill>
                          <a:latin typeface="Inter" panose="02000503000000020004" pitchFamily="2" charset="0"/>
                        </a:rPr>
                        <a:t>Skills del proyecto</a:t>
                      </a:r>
                    </a:p>
                  </a:txBody>
                  <a:tcPr marL="63500" marR="50800" marT="38100" marB="25400" anchor="ctr">
                    <a:lnL w="5080" cap="flat" cmpd="sng">
                      <a:solidFill>
                        <a:srgbClr val="C5C3BA"/>
                      </a:solidFill>
                      <a:prstDash val="solid"/>
                      <a:round/>
                      <a:headEnd type="none" w="sm" len="sm"/>
                      <a:tailEnd type="none" w="sm" len="sm"/>
                    </a:lnL>
                    <a:lnR w="5080" cap="flat" cmpd="sng">
                      <a:solidFill>
                        <a:srgbClr val="C5C3BA"/>
                      </a:solidFill>
                      <a:prstDash val="solid"/>
                      <a:round/>
                      <a:headEnd type="none" w="sm" len="sm"/>
                      <a:tailEnd type="none" w="sm" len="sm"/>
                    </a:lnR>
                    <a:lnT w="5080" cap="flat" cmpd="sng">
                      <a:solidFill>
                        <a:srgbClr val="C5C3BA"/>
                      </a:solidFill>
                      <a:prstDash val="solid"/>
                      <a:round/>
                      <a:headEnd type="none" w="sm" len="sm"/>
                      <a:tailEnd type="none" w="sm" len="sm"/>
                    </a:lnT>
                    <a:lnB w="5080" cap="flat" cmpd="sng">
                      <a:solidFill>
                        <a:srgbClr val="C5C3BA"/>
                      </a:solidFill>
                      <a:prstDash val="solid"/>
                      <a:round/>
                      <a:headEnd type="none" w="sm" len="sm"/>
                      <a:tailEnd type="none" w="sm" len="sm"/>
                    </a:lnB>
                    <a:solidFill>
                      <a:srgbClr val="EAE7DC"/>
                    </a:solidFill>
                  </a:tcPr>
                </a:tc>
                <a:tc>
                  <a:txBody>
                    <a:bodyPr/>
                    <a:lstStyle/>
                    <a:p>
                      <a:pPr algn="l">
                        <a:lnSpc>
                          <a:spcPct val="106000"/>
                        </a:lnSpc>
                        <a:spcBef>
                          <a:spcPts val="0"/>
                        </a:spcBef>
                        <a:spcAft>
                          <a:spcPts val="0"/>
                        </a:spcAft>
                        <a:buFontTx/>
                        <a:buNone/>
                      </a:pPr>
                      <a:r>
                        <a:rPr lang="es-ES" sz="1600" b="1">
                          <a:solidFill>
                            <a:srgbClr val="FD6534"/>
                          </a:solidFill>
                          <a:latin typeface="Inter" panose="02000503000000020004" pitchFamily="2" charset="0"/>
                        </a:rPr>
                        <a:t>Entrega</a:t>
                      </a:r>
                    </a:p>
                  </a:txBody>
                  <a:tcPr marL="63500" marR="50800" marT="38100" marB="25400" anchor="ctr">
                    <a:lnL w="5080" cap="flat" cmpd="sng">
                      <a:solidFill>
                        <a:srgbClr val="C5C3BA"/>
                      </a:solidFill>
                      <a:prstDash val="solid"/>
                      <a:round/>
                      <a:headEnd type="none" w="sm" len="sm"/>
                      <a:tailEnd type="none" w="sm" len="sm"/>
                    </a:lnL>
                    <a:lnR w="5080" cap="flat" cmpd="sng">
                      <a:solidFill>
                        <a:srgbClr val="C5C3BA"/>
                      </a:solidFill>
                      <a:prstDash val="solid"/>
                      <a:round/>
                      <a:headEnd type="none" w="sm" len="sm"/>
                      <a:tailEnd type="none" w="sm" len="sm"/>
                    </a:lnR>
                    <a:lnT w="5080" cap="flat" cmpd="sng">
                      <a:solidFill>
                        <a:srgbClr val="C5C3BA"/>
                      </a:solidFill>
                      <a:prstDash val="solid"/>
                      <a:round/>
                      <a:headEnd type="none" w="sm" len="sm"/>
                      <a:tailEnd type="none" w="sm" len="sm"/>
                    </a:lnT>
                    <a:lnB w="5080" cap="flat" cmpd="sng">
                      <a:solidFill>
                        <a:srgbClr val="C5C3BA"/>
                      </a:solidFill>
                      <a:prstDash val="solid"/>
                      <a:round/>
                      <a:headEnd type="none" w="sm" len="sm"/>
                      <a:tailEnd type="none" w="sm" len="sm"/>
                    </a:lnB>
                    <a:solidFill>
                      <a:srgbClr val="EAE7DC"/>
                    </a:solidFill>
                  </a:tcPr>
                </a:tc>
                <a:extLst>
                  <a:ext uri="{0D108BD9-81ED-4DB2-BD59-A6C34878D82A}">
                    <a16:rowId xmlns:a16="http://schemas.microsoft.com/office/drawing/2014/main" val="3458143287"/>
                  </a:ext>
                </a:extLst>
              </a:tr>
              <a:tr h="476250">
                <a:tc>
                  <a:txBody>
                    <a:bodyPr/>
                    <a:lstStyle/>
                    <a:p>
                      <a:pPr algn="l">
                        <a:lnSpc>
                          <a:spcPct val="106000"/>
                        </a:lnSpc>
                        <a:spcBef>
                          <a:spcPts val="0"/>
                        </a:spcBef>
                        <a:spcAft>
                          <a:spcPts val="0"/>
                        </a:spcAft>
                        <a:buFontTx/>
                        <a:buNone/>
                      </a:pPr>
                      <a:r>
                        <a:rPr lang="es-ES" sz="1600" b="0">
                          <a:solidFill>
                            <a:srgbClr val="1F2937"/>
                          </a:solidFill>
                          <a:latin typeface="Inter" panose="02000503000000020004" pitchFamily="2" charset="0"/>
                        </a:rPr>
                        <a:t>Inventario</a:t>
                      </a:r>
                    </a:p>
                  </a:txBody>
                  <a:tcPr marL="63500" marR="50800" marT="38100" marB="25400" anchor="ctr">
                    <a:lnL w="5080" cap="flat" cmpd="sng">
                      <a:solidFill>
                        <a:srgbClr val="C5C3BA"/>
                      </a:solidFill>
                      <a:prstDash val="solid"/>
                      <a:round/>
                      <a:headEnd type="none" w="sm" len="sm"/>
                      <a:tailEnd type="none" w="sm" len="sm"/>
                    </a:lnL>
                    <a:lnR w="5080" cap="flat" cmpd="sng">
                      <a:solidFill>
                        <a:srgbClr val="C5C3BA"/>
                      </a:solidFill>
                      <a:prstDash val="solid"/>
                      <a:round/>
                      <a:headEnd type="none" w="sm" len="sm"/>
                      <a:tailEnd type="none" w="sm" len="sm"/>
                    </a:lnR>
                    <a:lnT w="5080" cap="flat" cmpd="sng">
                      <a:solidFill>
                        <a:srgbClr val="C5C3BA"/>
                      </a:solidFill>
                      <a:prstDash val="solid"/>
                      <a:round/>
                      <a:headEnd type="none" w="sm" len="sm"/>
                      <a:tailEnd type="none" w="sm" len="sm"/>
                    </a:lnT>
                    <a:lnB w="5080" cap="flat" cmpd="sng">
                      <a:solidFill>
                        <a:srgbClr val="C5C3BA"/>
                      </a:solidFill>
                      <a:prstDash val="solid"/>
                      <a:round/>
                      <a:headEnd type="none" w="sm" len="sm"/>
                      <a:tailEnd type="none" w="sm" len="sm"/>
                    </a:lnB>
                    <a:solidFill>
                      <a:srgbClr val="EAE7DC"/>
                    </a:solidFill>
                  </a:tcPr>
                </a:tc>
                <a:tc>
                  <a:txBody>
                    <a:bodyPr/>
                    <a:lstStyle/>
                    <a:p>
                      <a:pPr algn="l">
                        <a:lnSpc>
                          <a:spcPct val="106000"/>
                        </a:lnSpc>
                        <a:spcBef>
                          <a:spcPts val="0"/>
                        </a:spcBef>
                        <a:spcAft>
                          <a:spcPts val="0"/>
                        </a:spcAft>
                        <a:buFontTx/>
                        <a:buNone/>
                      </a:pPr>
                      <a:r>
                        <a:rPr lang="es-ES" sz="1550" b="0">
                          <a:solidFill>
                            <a:srgbClr val="1F2937"/>
                          </a:solidFill>
                          <a:latin typeface="Consolas" panose="020B0609020204030204" pitchFamily="49" charset="0"/>
                        </a:rPr>
                        <a:t>recuperar-newsletters</a:t>
                      </a:r>
                    </a:p>
                    <a:p>
                      <a:pPr algn="l">
                        <a:lnSpc>
                          <a:spcPct val="106000"/>
                        </a:lnSpc>
                        <a:spcBef>
                          <a:spcPts val="0"/>
                        </a:spcBef>
                        <a:spcAft>
                          <a:spcPts val="0"/>
                        </a:spcAft>
                        <a:buFontTx/>
                        <a:buNone/>
                      </a:pPr>
                      <a:r>
                        <a:rPr lang="es-ES" sz="1550" b="0">
                          <a:solidFill>
                            <a:srgbClr val="1F2937"/>
                          </a:solidFill>
                          <a:latin typeface="Consolas" panose="020B0609020204030204" pitchFamily="49" charset="0"/>
                        </a:rPr>
                        <a:t>analizar-biblioteca</a:t>
                      </a:r>
                    </a:p>
                  </a:txBody>
                  <a:tcPr marL="63500" marR="50800" marT="38100" marB="25400" anchor="ctr">
                    <a:lnL w="5080" cap="flat" cmpd="sng">
                      <a:solidFill>
                        <a:srgbClr val="C5C3BA"/>
                      </a:solidFill>
                      <a:prstDash val="solid"/>
                      <a:round/>
                      <a:headEnd type="none" w="sm" len="sm"/>
                      <a:tailEnd type="none" w="sm" len="sm"/>
                    </a:lnL>
                    <a:lnR w="5080" cap="flat" cmpd="sng">
                      <a:solidFill>
                        <a:srgbClr val="C5C3BA"/>
                      </a:solidFill>
                      <a:prstDash val="solid"/>
                      <a:round/>
                      <a:headEnd type="none" w="sm" len="sm"/>
                      <a:tailEnd type="none" w="sm" len="sm"/>
                    </a:lnR>
                    <a:lnT w="5080" cap="flat" cmpd="sng">
                      <a:solidFill>
                        <a:srgbClr val="C5C3BA"/>
                      </a:solidFill>
                      <a:prstDash val="solid"/>
                      <a:round/>
                      <a:headEnd type="none" w="sm" len="sm"/>
                      <a:tailEnd type="none" w="sm" len="sm"/>
                    </a:lnT>
                    <a:lnB w="5080" cap="flat" cmpd="sng">
                      <a:solidFill>
                        <a:srgbClr val="C5C3BA"/>
                      </a:solidFill>
                      <a:prstDash val="solid"/>
                      <a:round/>
                      <a:headEnd type="none" w="sm" len="sm"/>
                      <a:tailEnd type="none" w="sm" len="sm"/>
                    </a:lnB>
                    <a:solidFill>
                      <a:srgbClr val="EAE7DC"/>
                    </a:solidFill>
                  </a:tcPr>
                </a:tc>
                <a:tc>
                  <a:txBody>
                    <a:bodyPr/>
                    <a:lstStyle/>
                    <a:p>
                      <a:pPr algn="l">
                        <a:lnSpc>
                          <a:spcPct val="106000"/>
                        </a:lnSpc>
                        <a:spcBef>
                          <a:spcPts val="0"/>
                        </a:spcBef>
                        <a:spcAft>
                          <a:spcPts val="0"/>
                        </a:spcAft>
                        <a:buFontTx/>
                        <a:buNone/>
                      </a:pPr>
                      <a:r>
                        <a:rPr lang="es-ES" sz="1600" b="0">
                          <a:solidFill>
                            <a:srgbClr val="1F2937"/>
                          </a:solidFill>
                          <a:latin typeface="Inter" panose="02000503000000020004" pitchFamily="2" charset="0"/>
                        </a:rPr>
                        <a:t>Mapa y estilo</a:t>
                      </a:r>
                    </a:p>
                  </a:txBody>
                  <a:tcPr marL="63500" marR="50800" marT="38100" marB="25400" anchor="ctr">
                    <a:lnL w="5080" cap="flat" cmpd="sng">
                      <a:solidFill>
                        <a:srgbClr val="C5C3BA"/>
                      </a:solidFill>
                      <a:prstDash val="solid"/>
                      <a:round/>
                      <a:headEnd type="none" w="sm" len="sm"/>
                      <a:tailEnd type="none" w="sm" len="sm"/>
                    </a:lnL>
                    <a:lnR w="5080" cap="flat" cmpd="sng">
                      <a:solidFill>
                        <a:srgbClr val="C5C3BA"/>
                      </a:solidFill>
                      <a:prstDash val="solid"/>
                      <a:round/>
                      <a:headEnd type="none" w="sm" len="sm"/>
                      <a:tailEnd type="none" w="sm" len="sm"/>
                    </a:lnR>
                    <a:lnT w="5080" cap="flat" cmpd="sng">
                      <a:solidFill>
                        <a:srgbClr val="C5C3BA"/>
                      </a:solidFill>
                      <a:prstDash val="solid"/>
                      <a:round/>
                      <a:headEnd type="none" w="sm" len="sm"/>
                      <a:tailEnd type="none" w="sm" len="sm"/>
                    </a:lnT>
                    <a:lnB w="5080" cap="flat" cmpd="sng">
                      <a:solidFill>
                        <a:srgbClr val="C5C3BA"/>
                      </a:solidFill>
                      <a:prstDash val="solid"/>
                      <a:round/>
                      <a:headEnd type="none" w="sm" len="sm"/>
                      <a:tailEnd type="none" w="sm" len="sm"/>
                    </a:lnB>
                    <a:solidFill>
                      <a:srgbClr val="EAE7DC"/>
                    </a:solidFill>
                  </a:tcPr>
                </a:tc>
                <a:extLst>
                  <a:ext uri="{0D108BD9-81ED-4DB2-BD59-A6C34878D82A}">
                    <a16:rowId xmlns:a16="http://schemas.microsoft.com/office/drawing/2014/main" val="3196675839"/>
                  </a:ext>
                </a:extLst>
              </a:tr>
              <a:tr h="476250">
                <a:tc>
                  <a:txBody>
                    <a:bodyPr/>
                    <a:lstStyle/>
                    <a:p>
                      <a:pPr algn="l">
                        <a:lnSpc>
                          <a:spcPct val="106000"/>
                        </a:lnSpc>
                        <a:spcBef>
                          <a:spcPts val="0"/>
                        </a:spcBef>
                        <a:spcAft>
                          <a:spcPts val="0"/>
                        </a:spcAft>
                        <a:buFontTx/>
                        <a:buNone/>
                      </a:pPr>
                      <a:r>
                        <a:rPr lang="es-ES" sz="1600" b="0">
                          <a:solidFill>
                            <a:srgbClr val="1F2937"/>
                          </a:solidFill>
                          <a:latin typeface="Inter" panose="02000503000000020004" pitchFamily="2" charset="0"/>
                        </a:rPr>
                        <a:t>Oportunidad</a:t>
                      </a:r>
                    </a:p>
                  </a:txBody>
                  <a:tcPr marL="63500" marR="50800" marT="38100" marB="25400" anchor="ctr">
                    <a:lnL w="5080" cap="flat" cmpd="sng">
                      <a:solidFill>
                        <a:srgbClr val="C5C3BA"/>
                      </a:solidFill>
                      <a:prstDash val="solid"/>
                      <a:round/>
                      <a:headEnd type="none" w="sm" len="sm"/>
                      <a:tailEnd type="none" w="sm" len="sm"/>
                    </a:lnL>
                    <a:lnR w="5080" cap="flat" cmpd="sng">
                      <a:solidFill>
                        <a:srgbClr val="C5C3BA"/>
                      </a:solidFill>
                      <a:prstDash val="solid"/>
                      <a:round/>
                      <a:headEnd type="none" w="sm" len="sm"/>
                      <a:tailEnd type="none" w="sm" len="sm"/>
                    </a:lnR>
                    <a:lnT w="5080" cap="flat" cmpd="sng">
                      <a:solidFill>
                        <a:srgbClr val="C5C3BA"/>
                      </a:solidFill>
                      <a:prstDash val="solid"/>
                      <a:round/>
                      <a:headEnd type="none" w="sm" len="sm"/>
                      <a:tailEnd type="none" w="sm" len="sm"/>
                    </a:lnT>
                    <a:lnB w="5080" cap="flat" cmpd="sng">
                      <a:solidFill>
                        <a:srgbClr val="C5C3BA"/>
                      </a:solidFill>
                      <a:prstDash val="solid"/>
                      <a:round/>
                      <a:headEnd type="none" w="sm" len="sm"/>
                      <a:tailEnd type="none" w="sm" len="sm"/>
                    </a:lnB>
                    <a:solidFill>
                      <a:srgbClr val="EAE7DC"/>
                    </a:solidFill>
                  </a:tcPr>
                </a:tc>
                <a:tc>
                  <a:txBody>
                    <a:bodyPr/>
                    <a:lstStyle/>
                    <a:p>
                      <a:pPr algn="l">
                        <a:lnSpc>
                          <a:spcPct val="106000"/>
                        </a:lnSpc>
                        <a:spcBef>
                          <a:spcPts val="0"/>
                        </a:spcBef>
                        <a:spcAft>
                          <a:spcPts val="0"/>
                        </a:spcAft>
                        <a:buFontTx/>
                        <a:buNone/>
                      </a:pPr>
                      <a:r>
                        <a:rPr lang="es-ES" sz="1550" b="0">
                          <a:solidFill>
                            <a:srgbClr val="1F2937"/>
                          </a:solidFill>
                          <a:latin typeface="Consolas" panose="020B0609020204030204" pitchFamily="49" charset="0"/>
                        </a:rPr>
                        <a:t>explorar-youtube</a:t>
                      </a:r>
                    </a:p>
                    <a:p>
                      <a:pPr algn="l">
                        <a:lnSpc>
                          <a:spcPct val="106000"/>
                        </a:lnSpc>
                        <a:spcBef>
                          <a:spcPts val="0"/>
                        </a:spcBef>
                        <a:spcAft>
                          <a:spcPts val="0"/>
                        </a:spcAft>
                        <a:buFontTx/>
                        <a:buNone/>
                      </a:pPr>
                      <a:r>
                        <a:rPr lang="es-ES" sz="1550" b="0">
                          <a:solidFill>
                            <a:srgbClr val="1F2937"/>
                          </a:solidFill>
                          <a:latin typeface="Consolas" panose="020B0609020204030204" pitchFamily="49" charset="0"/>
                        </a:rPr>
                        <a:t>detectar-oportunidades</a:t>
                      </a:r>
                    </a:p>
                  </a:txBody>
                  <a:tcPr marL="63500" marR="50800" marT="38100" marB="25400" anchor="ctr">
                    <a:lnL w="5080" cap="flat" cmpd="sng">
                      <a:solidFill>
                        <a:srgbClr val="C5C3BA"/>
                      </a:solidFill>
                      <a:prstDash val="solid"/>
                      <a:round/>
                      <a:headEnd type="none" w="sm" len="sm"/>
                      <a:tailEnd type="none" w="sm" len="sm"/>
                    </a:lnL>
                    <a:lnR w="5080" cap="flat" cmpd="sng">
                      <a:solidFill>
                        <a:srgbClr val="C5C3BA"/>
                      </a:solidFill>
                      <a:prstDash val="solid"/>
                      <a:round/>
                      <a:headEnd type="none" w="sm" len="sm"/>
                      <a:tailEnd type="none" w="sm" len="sm"/>
                    </a:lnR>
                    <a:lnT w="5080" cap="flat" cmpd="sng">
                      <a:solidFill>
                        <a:srgbClr val="C5C3BA"/>
                      </a:solidFill>
                      <a:prstDash val="solid"/>
                      <a:round/>
                      <a:headEnd type="none" w="sm" len="sm"/>
                      <a:tailEnd type="none" w="sm" len="sm"/>
                    </a:lnT>
                    <a:lnB w="5080" cap="flat" cmpd="sng">
                      <a:solidFill>
                        <a:srgbClr val="C5C3BA"/>
                      </a:solidFill>
                      <a:prstDash val="solid"/>
                      <a:round/>
                      <a:headEnd type="none" w="sm" len="sm"/>
                      <a:tailEnd type="none" w="sm" len="sm"/>
                    </a:lnB>
                    <a:solidFill>
                      <a:srgbClr val="EAE7DC"/>
                    </a:solidFill>
                  </a:tcPr>
                </a:tc>
                <a:tc>
                  <a:txBody>
                    <a:bodyPr/>
                    <a:lstStyle/>
                    <a:p>
                      <a:pPr algn="l">
                        <a:lnSpc>
                          <a:spcPct val="106000"/>
                        </a:lnSpc>
                        <a:spcBef>
                          <a:spcPts val="0"/>
                        </a:spcBef>
                        <a:spcAft>
                          <a:spcPts val="0"/>
                        </a:spcAft>
                        <a:buFontTx/>
                        <a:buNone/>
                      </a:pPr>
                      <a:r>
                        <a:rPr lang="es-ES" sz="1600" b="0">
                          <a:solidFill>
                            <a:srgbClr val="1F2937"/>
                          </a:solidFill>
                          <a:latin typeface="Inter" panose="02000503000000020004" pitchFamily="2" charset="0"/>
                        </a:rPr>
                        <a:t>Oportunidad justificada</a:t>
                      </a:r>
                    </a:p>
                  </a:txBody>
                  <a:tcPr marL="63500" marR="50800" marT="38100" marB="25400" anchor="ctr">
                    <a:lnL w="5080" cap="flat" cmpd="sng">
                      <a:solidFill>
                        <a:srgbClr val="C5C3BA"/>
                      </a:solidFill>
                      <a:prstDash val="solid"/>
                      <a:round/>
                      <a:headEnd type="none" w="sm" len="sm"/>
                      <a:tailEnd type="none" w="sm" len="sm"/>
                    </a:lnL>
                    <a:lnR w="5080" cap="flat" cmpd="sng">
                      <a:solidFill>
                        <a:srgbClr val="C5C3BA"/>
                      </a:solidFill>
                      <a:prstDash val="solid"/>
                      <a:round/>
                      <a:headEnd type="none" w="sm" len="sm"/>
                      <a:tailEnd type="none" w="sm" len="sm"/>
                    </a:lnR>
                    <a:lnT w="5080" cap="flat" cmpd="sng">
                      <a:solidFill>
                        <a:srgbClr val="C5C3BA"/>
                      </a:solidFill>
                      <a:prstDash val="solid"/>
                      <a:round/>
                      <a:headEnd type="none" w="sm" len="sm"/>
                      <a:tailEnd type="none" w="sm" len="sm"/>
                    </a:lnT>
                    <a:lnB w="5080" cap="flat" cmpd="sng">
                      <a:solidFill>
                        <a:srgbClr val="C5C3BA"/>
                      </a:solidFill>
                      <a:prstDash val="solid"/>
                      <a:round/>
                      <a:headEnd type="none" w="sm" len="sm"/>
                      <a:tailEnd type="none" w="sm" len="sm"/>
                    </a:lnB>
                    <a:solidFill>
                      <a:srgbClr val="EAE7DC"/>
                    </a:solidFill>
                  </a:tcPr>
                </a:tc>
                <a:extLst>
                  <a:ext uri="{0D108BD9-81ED-4DB2-BD59-A6C34878D82A}">
                    <a16:rowId xmlns:a16="http://schemas.microsoft.com/office/drawing/2014/main" val="236371556"/>
                  </a:ext>
                </a:extLst>
              </a:tr>
              <a:tr h="476250">
                <a:tc>
                  <a:txBody>
                    <a:bodyPr/>
                    <a:lstStyle/>
                    <a:p>
                      <a:pPr algn="l">
                        <a:lnSpc>
                          <a:spcPct val="106000"/>
                        </a:lnSpc>
                        <a:spcBef>
                          <a:spcPts val="0"/>
                        </a:spcBef>
                        <a:spcAft>
                          <a:spcPts val="0"/>
                        </a:spcAft>
                        <a:buFontTx/>
                        <a:buNone/>
                      </a:pPr>
                      <a:r>
                        <a:rPr lang="es-ES" sz="1600" b="0">
                          <a:solidFill>
                            <a:srgbClr val="1F2937"/>
                          </a:solidFill>
                          <a:latin typeface="Inter" panose="02000503000000020004" pitchFamily="2" charset="0"/>
                        </a:rPr>
                        <a:t>Contenido madre</a:t>
                      </a:r>
                    </a:p>
                  </a:txBody>
                  <a:tcPr marL="63500" marR="50800" marT="38100" marB="25400" anchor="ctr">
                    <a:lnL w="5080" cap="flat" cmpd="sng">
                      <a:solidFill>
                        <a:srgbClr val="C5C3BA"/>
                      </a:solidFill>
                      <a:prstDash val="solid"/>
                      <a:round/>
                      <a:headEnd type="none" w="sm" len="sm"/>
                      <a:tailEnd type="none" w="sm" len="sm"/>
                    </a:lnL>
                    <a:lnR w="5080" cap="flat" cmpd="sng">
                      <a:solidFill>
                        <a:srgbClr val="C5C3BA"/>
                      </a:solidFill>
                      <a:prstDash val="solid"/>
                      <a:round/>
                      <a:headEnd type="none" w="sm" len="sm"/>
                      <a:tailEnd type="none" w="sm" len="sm"/>
                    </a:lnR>
                    <a:lnT w="5080" cap="flat" cmpd="sng">
                      <a:solidFill>
                        <a:srgbClr val="C5C3BA"/>
                      </a:solidFill>
                      <a:prstDash val="solid"/>
                      <a:round/>
                      <a:headEnd type="none" w="sm" len="sm"/>
                      <a:tailEnd type="none" w="sm" len="sm"/>
                    </a:lnT>
                    <a:lnB w="5080" cap="flat" cmpd="sng">
                      <a:solidFill>
                        <a:srgbClr val="C5C3BA"/>
                      </a:solidFill>
                      <a:prstDash val="solid"/>
                      <a:round/>
                      <a:headEnd type="none" w="sm" len="sm"/>
                      <a:tailEnd type="none" w="sm" len="sm"/>
                    </a:lnB>
                    <a:solidFill>
                      <a:srgbClr val="EAE7DC"/>
                    </a:solidFill>
                  </a:tcPr>
                </a:tc>
                <a:tc>
                  <a:txBody>
                    <a:bodyPr/>
                    <a:lstStyle/>
                    <a:p>
                      <a:pPr algn="l">
                        <a:lnSpc>
                          <a:spcPct val="106000"/>
                        </a:lnSpc>
                        <a:spcBef>
                          <a:spcPts val="0"/>
                        </a:spcBef>
                        <a:spcAft>
                          <a:spcPts val="0"/>
                        </a:spcAft>
                        <a:buFontTx/>
                        <a:buNone/>
                      </a:pPr>
                      <a:r>
                        <a:rPr lang="es-ES" sz="1550" b="0">
                          <a:solidFill>
                            <a:srgbClr val="1F2937"/>
                          </a:solidFill>
                          <a:latin typeface="Consolas" panose="020B0609020204030204" pitchFamily="49" charset="0"/>
                        </a:rPr>
                        <a:t>investigar-tema</a:t>
                      </a:r>
                    </a:p>
                    <a:p>
                      <a:pPr algn="l">
                        <a:lnSpc>
                          <a:spcPct val="106000"/>
                        </a:lnSpc>
                        <a:spcBef>
                          <a:spcPts val="0"/>
                        </a:spcBef>
                        <a:spcAft>
                          <a:spcPts val="0"/>
                        </a:spcAft>
                        <a:buFontTx/>
                        <a:buNone/>
                      </a:pPr>
                      <a:r>
                        <a:rPr lang="es-ES" sz="1550" b="0">
                          <a:solidFill>
                            <a:srgbClr val="1F2937"/>
                          </a:solidFill>
                          <a:latin typeface="Consolas" panose="020B0609020204030204" pitchFamily="49" charset="0"/>
                        </a:rPr>
                        <a:t>redactar-contenido</a:t>
                      </a:r>
                    </a:p>
                  </a:txBody>
                  <a:tcPr marL="63500" marR="50800" marT="38100" marB="25400" anchor="ctr">
                    <a:lnL w="5080" cap="flat" cmpd="sng">
                      <a:solidFill>
                        <a:srgbClr val="C5C3BA"/>
                      </a:solidFill>
                      <a:prstDash val="solid"/>
                      <a:round/>
                      <a:headEnd type="none" w="sm" len="sm"/>
                      <a:tailEnd type="none" w="sm" len="sm"/>
                    </a:lnL>
                    <a:lnR w="5080" cap="flat" cmpd="sng">
                      <a:solidFill>
                        <a:srgbClr val="C5C3BA"/>
                      </a:solidFill>
                      <a:prstDash val="solid"/>
                      <a:round/>
                      <a:headEnd type="none" w="sm" len="sm"/>
                      <a:tailEnd type="none" w="sm" len="sm"/>
                    </a:lnR>
                    <a:lnT w="5080" cap="flat" cmpd="sng">
                      <a:solidFill>
                        <a:srgbClr val="C5C3BA"/>
                      </a:solidFill>
                      <a:prstDash val="solid"/>
                      <a:round/>
                      <a:headEnd type="none" w="sm" len="sm"/>
                      <a:tailEnd type="none" w="sm" len="sm"/>
                    </a:lnT>
                    <a:lnB w="5080" cap="flat" cmpd="sng">
                      <a:solidFill>
                        <a:srgbClr val="C5C3BA"/>
                      </a:solidFill>
                      <a:prstDash val="solid"/>
                      <a:round/>
                      <a:headEnd type="none" w="sm" len="sm"/>
                      <a:tailEnd type="none" w="sm" len="sm"/>
                    </a:lnB>
                    <a:solidFill>
                      <a:srgbClr val="EAE7DC"/>
                    </a:solidFill>
                  </a:tcPr>
                </a:tc>
                <a:tc>
                  <a:txBody>
                    <a:bodyPr/>
                    <a:lstStyle/>
                    <a:p>
                      <a:pPr algn="l">
                        <a:lnSpc>
                          <a:spcPct val="106000"/>
                        </a:lnSpc>
                        <a:spcBef>
                          <a:spcPts val="0"/>
                        </a:spcBef>
                        <a:spcAft>
                          <a:spcPts val="0"/>
                        </a:spcAft>
                        <a:buFontTx/>
                        <a:buNone/>
                      </a:pPr>
                      <a:r>
                        <a:rPr lang="es-ES" sz="1600" b="0">
                          <a:solidFill>
                            <a:srgbClr val="1F2937"/>
                          </a:solidFill>
                          <a:latin typeface="Inter" panose="02000503000000020004" pitchFamily="2" charset="0"/>
                        </a:rPr>
                        <a:t>Contenido revisado</a:t>
                      </a:r>
                    </a:p>
                  </a:txBody>
                  <a:tcPr marL="63500" marR="50800" marT="38100" marB="25400" anchor="ctr">
                    <a:lnL w="5080" cap="flat" cmpd="sng">
                      <a:solidFill>
                        <a:srgbClr val="C5C3BA"/>
                      </a:solidFill>
                      <a:prstDash val="solid"/>
                      <a:round/>
                      <a:headEnd type="none" w="sm" len="sm"/>
                      <a:tailEnd type="none" w="sm" len="sm"/>
                    </a:lnL>
                    <a:lnR w="5080" cap="flat" cmpd="sng">
                      <a:solidFill>
                        <a:srgbClr val="C5C3BA"/>
                      </a:solidFill>
                      <a:prstDash val="solid"/>
                      <a:round/>
                      <a:headEnd type="none" w="sm" len="sm"/>
                      <a:tailEnd type="none" w="sm" len="sm"/>
                    </a:lnR>
                    <a:lnT w="5080" cap="flat" cmpd="sng">
                      <a:solidFill>
                        <a:srgbClr val="C5C3BA"/>
                      </a:solidFill>
                      <a:prstDash val="solid"/>
                      <a:round/>
                      <a:headEnd type="none" w="sm" len="sm"/>
                      <a:tailEnd type="none" w="sm" len="sm"/>
                    </a:lnT>
                    <a:lnB w="5080" cap="flat" cmpd="sng">
                      <a:solidFill>
                        <a:srgbClr val="C5C3BA"/>
                      </a:solidFill>
                      <a:prstDash val="solid"/>
                      <a:round/>
                      <a:headEnd type="none" w="sm" len="sm"/>
                      <a:tailEnd type="none" w="sm" len="sm"/>
                    </a:lnB>
                    <a:solidFill>
                      <a:srgbClr val="EAE7DC"/>
                    </a:solidFill>
                  </a:tcPr>
                </a:tc>
                <a:extLst>
                  <a:ext uri="{0D108BD9-81ED-4DB2-BD59-A6C34878D82A}">
                    <a16:rowId xmlns:a16="http://schemas.microsoft.com/office/drawing/2014/main" val="3233479900"/>
                  </a:ext>
                </a:extLst>
              </a:tr>
              <a:tr h="476250">
                <a:tc>
                  <a:txBody>
                    <a:bodyPr/>
                    <a:lstStyle/>
                    <a:p>
                      <a:pPr algn="l">
                        <a:lnSpc>
                          <a:spcPct val="106000"/>
                        </a:lnSpc>
                        <a:spcBef>
                          <a:spcPts val="0"/>
                        </a:spcBef>
                        <a:spcAft>
                          <a:spcPts val="0"/>
                        </a:spcAft>
                        <a:buFontTx/>
                        <a:buNone/>
                      </a:pPr>
                      <a:r>
                        <a:rPr lang="es-ES" sz="1600" b="0">
                          <a:solidFill>
                            <a:srgbClr val="1F2937"/>
                          </a:solidFill>
                          <a:latin typeface="Inter" panose="02000503000000020004" pitchFamily="2" charset="0"/>
                        </a:rPr>
                        <a:t>Piezas</a:t>
                      </a:r>
                    </a:p>
                  </a:txBody>
                  <a:tcPr marL="63500" marR="50800" marT="38100" marB="25400" anchor="ctr">
                    <a:lnL w="5080" cap="flat" cmpd="sng">
                      <a:solidFill>
                        <a:srgbClr val="C5C3BA"/>
                      </a:solidFill>
                      <a:prstDash val="solid"/>
                      <a:round/>
                      <a:headEnd type="none" w="sm" len="sm"/>
                      <a:tailEnd type="none" w="sm" len="sm"/>
                    </a:lnL>
                    <a:lnR w="5080" cap="flat" cmpd="sng">
                      <a:solidFill>
                        <a:srgbClr val="C5C3BA"/>
                      </a:solidFill>
                      <a:prstDash val="solid"/>
                      <a:round/>
                      <a:headEnd type="none" w="sm" len="sm"/>
                      <a:tailEnd type="none" w="sm" len="sm"/>
                    </a:lnR>
                    <a:lnT w="5080" cap="flat" cmpd="sng">
                      <a:solidFill>
                        <a:srgbClr val="C5C3BA"/>
                      </a:solidFill>
                      <a:prstDash val="solid"/>
                      <a:round/>
                      <a:headEnd type="none" w="sm" len="sm"/>
                      <a:tailEnd type="none" w="sm" len="sm"/>
                    </a:lnT>
                    <a:lnB w="5080" cap="flat" cmpd="sng">
                      <a:solidFill>
                        <a:srgbClr val="C5C3BA"/>
                      </a:solidFill>
                      <a:prstDash val="solid"/>
                      <a:round/>
                      <a:headEnd type="none" w="sm" len="sm"/>
                      <a:tailEnd type="none" w="sm" len="sm"/>
                    </a:lnB>
                    <a:solidFill>
                      <a:srgbClr val="EAE7DC"/>
                    </a:solidFill>
                  </a:tcPr>
                </a:tc>
                <a:tc>
                  <a:txBody>
                    <a:bodyPr/>
                    <a:lstStyle/>
                    <a:p>
                      <a:pPr algn="l">
                        <a:lnSpc>
                          <a:spcPct val="106000"/>
                        </a:lnSpc>
                        <a:spcBef>
                          <a:spcPts val="0"/>
                        </a:spcBef>
                        <a:spcAft>
                          <a:spcPts val="0"/>
                        </a:spcAft>
                        <a:buFontTx/>
                        <a:buNone/>
                      </a:pPr>
                      <a:r>
                        <a:rPr lang="es-ES" sz="1550" b="0">
                          <a:solidFill>
                            <a:srgbClr val="1F2937"/>
                          </a:solidFill>
                          <a:latin typeface="Consolas" panose="020B0609020204030204" pitchFamily="49" charset="0"/>
                        </a:rPr>
                        <a:t>adaptar-contenido</a:t>
                      </a:r>
                    </a:p>
                  </a:txBody>
                  <a:tcPr marL="63500" marR="50800" marT="38100" marB="25400" anchor="ctr">
                    <a:lnL w="5080" cap="flat" cmpd="sng">
                      <a:solidFill>
                        <a:srgbClr val="C5C3BA"/>
                      </a:solidFill>
                      <a:prstDash val="solid"/>
                      <a:round/>
                      <a:headEnd type="none" w="sm" len="sm"/>
                      <a:tailEnd type="none" w="sm" len="sm"/>
                    </a:lnL>
                    <a:lnR w="5080" cap="flat" cmpd="sng">
                      <a:solidFill>
                        <a:srgbClr val="C5C3BA"/>
                      </a:solidFill>
                      <a:prstDash val="solid"/>
                      <a:round/>
                      <a:headEnd type="none" w="sm" len="sm"/>
                      <a:tailEnd type="none" w="sm" len="sm"/>
                    </a:lnR>
                    <a:lnT w="5080" cap="flat" cmpd="sng">
                      <a:solidFill>
                        <a:srgbClr val="C5C3BA"/>
                      </a:solidFill>
                      <a:prstDash val="solid"/>
                      <a:round/>
                      <a:headEnd type="none" w="sm" len="sm"/>
                      <a:tailEnd type="none" w="sm" len="sm"/>
                    </a:lnT>
                    <a:lnB w="5080" cap="flat" cmpd="sng">
                      <a:solidFill>
                        <a:srgbClr val="C5C3BA"/>
                      </a:solidFill>
                      <a:prstDash val="solid"/>
                      <a:round/>
                      <a:headEnd type="none" w="sm" len="sm"/>
                      <a:tailEnd type="none" w="sm" len="sm"/>
                    </a:lnB>
                    <a:solidFill>
                      <a:srgbClr val="EAE7DC"/>
                    </a:solidFill>
                  </a:tcPr>
                </a:tc>
                <a:tc>
                  <a:txBody>
                    <a:bodyPr/>
                    <a:lstStyle/>
                    <a:p>
                      <a:pPr algn="l">
                        <a:lnSpc>
                          <a:spcPct val="106000"/>
                        </a:lnSpc>
                        <a:spcBef>
                          <a:spcPts val="0"/>
                        </a:spcBef>
                        <a:spcAft>
                          <a:spcPts val="0"/>
                        </a:spcAft>
                        <a:buFontTx/>
                        <a:buNone/>
                      </a:pPr>
                      <a:r>
                        <a:rPr lang="es-ES" sz="1600" b="0">
                          <a:solidFill>
                            <a:srgbClr val="1F2937"/>
                          </a:solidFill>
                          <a:latin typeface="Inter" panose="02000503000000020004" pitchFamily="2" charset="0"/>
                        </a:rPr>
                        <a:t>Piezas por canal</a:t>
                      </a:r>
                    </a:p>
                  </a:txBody>
                  <a:tcPr marL="63500" marR="50800" marT="38100" marB="25400" anchor="ctr">
                    <a:lnL w="5080" cap="flat" cmpd="sng">
                      <a:solidFill>
                        <a:srgbClr val="C5C3BA"/>
                      </a:solidFill>
                      <a:prstDash val="solid"/>
                      <a:round/>
                      <a:headEnd type="none" w="sm" len="sm"/>
                      <a:tailEnd type="none" w="sm" len="sm"/>
                    </a:lnL>
                    <a:lnR w="5080" cap="flat" cmpd="sng">
                      <a:solidFill>
                        <a:srgbClr val="C5C3BA"/>
                      </a:solidFill>
                      <a:prstDash val="solid"/>
                      <a:round/>
                      <a:headEnd type="none" w="sm" len="sm"/>
                      <a:tailEnd type="none" w="sm" len="sm"/>
                    </a:lnR>
                    <a:lnT w="5080" cap="flat" cmpd="sng">
                      <a:solidFill>
                        <a:srgbClr val="C5C3BA"/>
                      </a:solidFill>
                      <a:prstDash val="solid"/>
                      <a:round/>
                      <a:headEnd type="none" w="sm" len="sm"/>
                      <a:tailEnd type="none" w="sm" len="sm"/>
                    </a:lnT>
                    <a:lnB w="5080" cap="flat" cmpd="sng">
                      <a:solidFill>
                        <a:srgbClr val="C5C3BA"/>
                      </a:solidFill>
                      <a:prstDash val="solid"/>
                      <a:round/>
                      <a:headEnd type="none" w="sm" len="sm"/>
                      <a:tailEnd type="none" w="sm" len="sm"/>
                    </a:lnB>
                    <a:solidFill>
                      <a:srgbClr val="EAE7DC"/>
                    </a:solidFill>
                  </a:tcPr>
                </a:tc>
                <a:extLst>
                  <a:ext uri="{0D108BD9-81ED-4DB2-BD59-A6C34878D82A}">
                    <a16:rowId xmlns:a16="http://schemas.microsoft.com/office/drawing/2014/main" val="1973887555"/>
                  </a:ext>
                </a:extLst>
              </a:tr>
              <a:tr h="476250">
                <a:tc>
                  <a:txBody>
                    <a:bodyPr/>
                    <a:lstStyle/>
                    <a:p>
                      <a:pPr algn="l">
                        <a:lnSpc>
                          <a:spcPct val="106000"/>
                        </a:lnSpc>
                        <a:spcBef>
                          <a:spcPts val="0"/>
                        </a:spcBef>
                        <a:spcAft>
                          <a:spcPts val="0"/>
                        </a:spcAft>
                        <a:buFontTx/>
                        <a:buNone/>
                      </a:pPr>
                      <a:r>
                        <a:rPr lang="es-ES" sz="1600" b="0">
                          <a:solidFill>
                            <a:srgbClr val="1F2937"/>
                          </a:solidFill>
                          <a:latin typeface="Inter" panose="02000503000000020004" pitchFamily="2" charset="0"/>
                        </a:rPr>
                        <a:t>Guardar</a:t>
                      </a:r>
                    </a:p>
                  </a:txBody>
                  <a:tcPr marL="63500" marR="50800" marT="38100" marB="25400" anchor="ctr">
                    <a:lnL w="5080" cap="flat" cmpd="sng">
                      <a:solidFill>
                        <a:srgbClr val="C5C3BA"/>
                      </a:solidFill>
                      <a:prstDash val="solid"/>
                      <a:round/>
                      <a:headEnd type="none" w="sm" len="sm"/>
                      <a:tailEnd type="none" w="sm" len="sm"/>
                    </a:lnL>
                    <a:lnR w="5080" cap="flat" cmpd="sng">
                      <a:solidFill>
                        <a:srgbClr val="C5C3BA"/>
                      </a:solidFill>
                      <a:prstDash val="solid"/>
                      <a:round/>
                      <a:headEnd type="none" w="sm" len="sm"/>
                      <a:tailEnd type="none" w="sm" len="sm"/>
                    </a:lnR>
                    <a:lnT w="5080" cap="flat" cmpd="sng">
                      <a:solidFill>
                        <a:srgbClr val="C5C3BA"/>
                      </a:solidFill>
                      <a:prstDash val="solid"/>
                      <a:round/>
                      <a:headEnd type="none" w="sm" len="sm"/>
                      <a:tailEnd type="none" w="sm" len="sm"/>
                    </a:lnT>
                    <a:lnB w="5080" cap="flat" cmpd="sng">
                      <a:solidFill>
                        <a:srgbClr val="C5C3BA"/>
                      </a:solidFill>
                      <a:prstDash val="solid"/>
                      <a:round/>
                      <a:headEnd type="none" w="sm" len="sm"/>
                      <a:tailEnd type="none" w="sm" len="sm"/>
                    </a:lnB>
                    <a:solidFill>
                      <a:srgbClr val="EAE7DC"/>
                    </a:solidFill>
                  </a:tcPr>
                </a:tc>
                <a:tc>
                  <a:txBody>
                    <a:bodyPr/>
                    <a:lstStyle/>
                    <a:p>
                      <a:pPr algn="l">
                        <a:lnSpc>
                          <a:spcPct val="106000"/>
                        </a:lnSpc>
                        <a:spcBef>
                          <a:spcPts val="0"/>
                        </a:spcBef>
                        <a:spcAft>
                          <a:spcPts val="0"/>
                        </a:spcAft>
                        <a:buFontTx/>
                        <a:buNone/>
                      </a:pPr>
                      <a:r>
                        <a:rPr lang="es-ES" sz="1550" b="0">
                          <a:solidFill>
                            <a:srgbClr val="1F2937"/>
                          </a:solidFill>
                          <a:latin typeface="Consolas" panose="020B0609020204030204" pitchFamily="49" charset="0"/>
                        </a:rPr>
                        <a:t>registrar-resultado</a:t>
                      </a:r>
                    </a:p>
                  </a:txBody>
                  <a:tcPr marL="63500" marR="50800" marT="38100" marB="25400" anchor="ctr">
                    <a:lnL w="5080" cap="flat" cmpd="sng">
                      <a:solidFill>
                        <a:srgbClr val="C5C3BA"/>
                      </a:solidFill>
                      <a:prstDash val="solid"/>
                      <a:round/>
                      <a:headEnd type="none" w="sm" len="sm"/>
                      <a:tailEnd type="none" w="sm" len="sm"/>
                    </a:lnL>
                    <a:lnR w="5080" cap="flat" cmpd="sng">
                      <a:solidFill>
                        <a:srgbClr val="C5C3BA"/>
                      </a:solidFill>
                      <a:prstDash val="solid"/>
                      <a:round/>
                      <a:headEnd type="none" w="sm" len="sm"/>
                      <a:tailEnd type="none" w="sm" len="sm"/>
                    </a:lnR>
                    <a:lnT w="5080" cap="flat" cmpd="sng">
                      <a:solidFill>
                        <a:srgbClr val="C5C3BA"/>
                      </a:solidFill>
                      <a:prstDash val="solid"/>
                      <a:round/>
                      <a:headEnd type="none" w="sm" len="sm"/>
                      <a:tailEnd type="none" w="sm" len="sm"/>
                    </a:lnT>
                    <a:lnB w="5080" cap="flat" cmpd="sng">
                      <a:solidFill>
                        <a:srgbClr val="C5C3BA"/>
                      </a:solidFill>
                      <a:prstDash val="solid"/>
                      <a:round/>
                      <a:headEnd type="none" w="sm" len="sm"/>
                      <a:tailEnd type="none" w="sm" len="sm"/>
                    </a:lnB>
                    <a:solidFill>
                      <a:srgbClr val="EAE7DC"/>
                    </a:solidFill>
                  </a:tcPr>
                </a:tc>
                <a:tc>
                  <a:txBody>
                    <a:bodyPr/>
                    <a:lstStyle/>
                    <a:p>
                      <a:pPr algn="l">
                        <a:lnSpc>
                          <a:spcPct val="106000"/>
                        </a:lnSpc>
                        <a:spcBef>
                          <a:spcPts val="0"/>
                        </a:spcBef>
                        <a:spcAft>
                          <a:spcPts val="0"/>
                        </a:spcAft>
                        <a:buFontTx/>
                        <a:buNone/>
                      </a:pPr>
                      <a:r>
                        <a:rPr lang="es-ES" sz="1600" b="0">
                          <a:solidFill>
                            <a:srgbClr val="1F2937"/>
                          </a:solidFill>
                          <a:latin typeface="Inter" panose="02000503000000020004" pitchFamily="2" charset="0"/>
                        </a:rPr>
                        <a:t>Registro actualizado</a:t>
                      </a:r>
                    </a:p>
                  </a:txBody>
                  <a:tcPr marL="63500" marR="50800" marT="38100" marB="25400" anchor="ctr">
                    <a:lnL w="5080" cap="flat" cmpd="sng">
                      <a:solidFill>
                        <a:srgbClr val="C5C3BA"/>
                      </a:solidFill>
                      <a:prstDash val="solid"/>
                      <a:round/>
                      <a:headEnd type="none" w="sm" len="sm"/>
                      <a:tailEnd type="none" w="sm" len="sm"/>
                    </a:lnL>
                    <a:lnR w="5080" cap="flat" cmpd="sng">
                      <a:solidFill>
                        <a:srgbClr val="C5C3BA"/>
                      </a:solidFill>
                      <a:prstDash val="solid"/>
                      <a:round/>
                      <a:headEnd type="none" w="sm" len="sm"/>
                      <a:tailEnd type="none" w="sm" len="sm"/>
                    </a:lnR>
                    <a:lnT w="5080" cap="flat" cmpd="sng">
                      <a:solidFill>
                        <a:srgbClr val="C5C3BA"/>
                      </a:solidFill>
                      <a:prstDash val="solid"/>
                      <a:round/>
                      <a:headEnd type="none" w="sm" len="sm"/>
                      <a:tailEnd type="none" w="sm" len="sm"/>
                    </a:lnT>
                    <a:lnB w="5080" cap="flat" cmpd="sng">
                      <a:solidFill>
                        <a:srgbClr val="C5C3BA"/>
                      </a:solidFill>
                      <a:prstDash val="solid"/>
                      <a:round/>
                      <a:headEnd type="none" w="sm" len="sm"/>
                      <a:tailEnd type="none" w="sm" len="sm"/>
                    </a:lnB>
                    <a:solidFill>
                      <a:srgbClr val="EAE7DC"/>
                    </a:solidFill>
                  </a:tcPr>
                </a:tc>
                <a:extLst>
                  <a:ext uri="{0D108BD9-81ED-4DB2-BD59-A6C34878D82A}">
                    <a16:rowId xmlns:a16="http://schemas.microsoft.com/office/drawing/2014/main" val="2556156241"/>
                  </a:ext>
                </a:extLst>
              </a:tr>
            </a:tbl>
          </a:graphicData>
        </a:graphic>
      </p:graphicFrame>
      <p:sp>
        <p:nvSpPr>
          <p:cNvPr id="22" name="v3_31_text_3">
            <a:extLst>
              <a:ext uri="{FF2B5EF4-FFF2-40B4-BE49-F238E27FC236}">
                <a16:creationId xmlns:a16="http://schemas.microsoft.com/office/drawing/2014/main" id="{A786FBC0-703E-AD1A-726C-87E7E5255721}"/>
              </a:ext>
            </a:extLst>
          </p:cNvPr>
          <p:cNvSpPr txBox="1"/>
          <p:nvPr/>
        </p:nvSpPr>
        <p:spPr>
          <a:xfrm>
            <a:off x="330200" y="4356100"/>
            <a:ext cx="8483600" cy="393700"/>
          </a:xfrm>
          <a:prstGeom prst="rect">
            <a:avLst/>
          </a:prstGeom>
          <a:noFill/>
        </p:spPr>
        <p:txBody>
          <a:bodyPr vert="horz" wrap="square" lIns="0" tIns="0" rIns="0" bIns="0" rtlCol="0" anchor="t">
            <a:noAutofit/>
          </a:bodyPr>
          <a:lstStyle/>
          <a:p>
            <a:pPr>
              <a:lnSpc>
                <a:spcPct val="106000"/>
              </a:lnSpc>
            </a:pPr>
            <a:r>
              <a:rPr lang="es-ES" sz="1450" b="1">
                <a:solidFill>
                  <a:srgbClr val="1F2937"/>
                </a:solidFill>
                <a:latin typeface="Inter" panose="02000503000000020004" pitchFamily="2" charset="0"/>
              </a:rPr>
              <a:t>Decisiones humanas: elegir oportunidad · aprobar investigación · aprobar texto</a:t>
            </a:r>
          </a:p>
        </p:txBody>
      </p:sp>
      <p:sp>
        <p:nvSpPr>
          <p:cNvPr id="23" name="TextBox 22">
            <a:extLst>
              <a:ext uri="{FF2B5EF4-FFF2-40B4-BE49-F238E27FC236}">
                <a16:creationId xmlns:a16="http://schemas.microsoft.com/office/drawing/2014/main" id="{071B12F4-8E66-654C-24B8-71FF1A4E6680}"/>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31</a:t>
            </a:r>
          </a:p>
        </p:txBody>
      </p:sp>
    </p:spTree>
    <p:extLst>
      <p:ext uri="{BB962C8B-B14F-4D97-AF65-F5344CB8AC3E}">
        <p14:creationId xmlns:p14="http://schemas.microsoft.com/office/powerpoint/2010/main" val="11716465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EAE7DC"/>
        </a:solidFill>
        <a:effectLst/>
      </p:bgPr>
    </p:bg>
    <p:spTree>
      <p:nvGrpSpPr>
        <p:cNvPr id="1" name="Shape 145"/>
        <p:cNvGrpSpPr/>
        <p:nvPr/>
      </p:nvGrpSpPr>
      <p:grpSpPr>
        <a:xfrm>
          <a:off x="0" y="0"/>
          <a:ext cx="0" cy="0"/>
          <a:chOff x="0" y="0"/>
          <a:chExt cx="0" cy="0"/>
        </a:xfrm>
      </p:grpSpPr>
      <p:sp>
        <p:nvSpPr>
          <p:cNvPr id="20" name="v3_32_text_1">
            <a:extLst>
              <a:ext uri="{FF2B5EF4-FFF2-40B4-BE49-F238E27FC236}">
                <a16:creationId xmlns:a16="http://schemas.microsoft.com/office/drawing/2014/main" id="{8431D139-F2D9-A0E0-5F15-8E7883FD6A47}"/>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Para llevarte el proyecto</a:t>
            </a:r>
          </a:p>
        </p:txBody>
      </p:sp>
      <p:sp>
        <p:nvSpPr>
          <p:cNvPr id="21" name="v3_32_text_2">
            <a:extLst>
              <a:ext uri="{FF2B5EF4-FFF2-40B4-BE49-F238E27FC236}">
                <a16:creationId xmlns:a16="http://schemas.microsoft.com/office/drawing/2014/main" id="{625AC0FD-6117-F968-6206-D47EE363011A}"/>
              </a:ext>
            </a:extLst>
          </p:cNvPr>
          <p:cNvSpPr txBox="1"/>
          <p:nvPr/>
        </p:nvSpPr>
        <p:spPr>
          <a:xfrm>
            <a:off x="330200" y="1371600"/>
            <a:ext cx="8458200" cy="558800"/>
          </a:xfrm>
          <a:prstGeom prst="rect">
            <a:avLst/>
          </a:prstGeom>
          <a:noFill/>
        </p:spPr>
        <p:txBody>
          <a:bodyPr vert="horz" wrap="square" lIns="0" tIns="0" rIns="0" bIns="0" rtlCol="0" anchor="t">
            <a:noAutofit/>
          </a:bodyPr>
          <a:lstStyle/>
          <a:p>
            <a:pPr>
              <a:lnSpc>
                <a:spcPct val="106000"/>
              </a:lnSpc>
            </a:pPr>
            <a:r>
              <a:rPr lang="es-ES" sz="3000" b="1">
                <a:solidFill>
                  <a:srgbClr val="FD6534"/>
                </a:solidFill>
                <a:latin typeface="Inter" panose="02000503000000020004" pitchFamily="2" charset="0"/>
                <a:hlinkClick r:id="rId3"/>
              </a:rPr>
              <a:t>sistema-editorial-agentico</a:t>
            </a:r>
            <a:endParaRPr lang="es-ES" sz="3000" b="1">
              <a:solidFill>
                <a:srgbClr val="FD6534"/>
              </a:solidFill>
              <a:latin typeface="Inter" panose="02000503000000020004" pitchFamily="2" charset="0"/>
            </a:endParaRPr>
          </a:p>
        </p:txBody>
      </p:sp>
      <p:sp>
        <p:nvSpPr>
          <p:cNvPr id="22" name="v3_32_text_3">
            <a:extLst>
              <a:ext uri="{FF2B5EF4-FFF2-40B4-BE49-F238E27FC236}">
                <a16:creationId xmlns:a16="http://schemas.microsoft.com/office/drawing/2014/main" id="{A3BFCBCA-5FE2-FDC8-E956-EBA79006BE62}"/>
              </a:ext>
            </a:extLst>
          </p:cNvPr>
          <p:cNvSpPr txBox="1"/>
          <p:nvPr/>
        </p:nvSpPr>
        <p:spPr>
          <a:xfrm>
            <a:off x="330200" y="2171699"/>
            <a:ext cx="8445500" cy="762000"/>
          </a:xfrm>
          <a:prstGeom prst="rect">
            <a:avLst/>
          </a:prstGeom>
          <a:noFill/>
        </p:spPr>
        <p:txBody>
          <a:bodyPr vert="horz" wrap="square" lIns="0" tIns="0" rIns="0" bIns="0" rtlCol="0" anchor="t">
            <a:noAutofit/>
          </a:bodyPr>
          <a:lstStyle/>
          <a:p>
            <a:pPr>
              <a:lnSpc>
                <a:spcPct val="106000"/>
              </a:lnSpc>
            </a:pPr>
            <a:r>
              <a:rPr lang="es-ES" sz="2500">
                <a:solidFill>
                  <a:srgbClr val="1F2937"/>
                </a:solidFill>
                <a:latin typeface="Inter" panose="02000503000000020004" pitchFamily="2" charset="0"/>
              </a:rPr>
              <a:t>Prompts de construcción · Skills · scripts · pruebas</a:t>
            </a:r>
          </a:p>
        </p:txBody>
      </p:sp>
      <p:sp>
        <p:nvSpPr>
          <p:cNvPr id="23" name="v3_32_text_4">
            <a:extLst>
              <a:ext uri="{FF2B5EF4-FFF2-40B4-BE49-F238E27FC236}">
                <a16:creationId xmlns:a16="http://schemas.microsoft.com/office/drawing/2014/main" id="{FC430205-E234-FC42-DCA0-84AC775D55D2}"/>
              </a:ext>
            </a:extLst>
          </p:cNvPr>
          <p:cNvSpPr txBox="1"/>
          <p:nvPr/>
        </p:nvSpPr>
        <p:spPr>
          <a:xfrm>
            <a:off x="330200" y="3136899"/>
            <a:ext cx="8382000" cy="1168400"/>
          </a:xfrm>
          <a:prstGeom prst="rect">
            <a:avLst/>
          </a:prstGeom>
          <a:noFill/>
        </p:spPr>
        <p:txBody>
          <a:bodyPr vert="horz" wrap="square" lIns="0" tIns="0" rIns="0" bIns="0" rtlCol="0" anchor="t">
            <a:noAutofit/>
          </a:bodyPr>
          <a:lstStyle/>
          <a:p>
            <a:pPr>
              <a:lnSpc>
                <a:spcPct val="106000"/>
              </a:lnSpc>
            </a:pPr>
            <a:r>
              <a:rPr lang="es-ES" sz="2200">
                <a:solidFill>
                  <a:srgbClr val="1F2937"/>
                </a:solidFill>
                <a:latin typeface="Inter" panose="02000503000000020004" pitchFamily="2" charset="0"/>
              </a:rPr>
              <a:t>Cambia tu publicación y tu línea editorial</a:t>
            </a:r>
          </a:p>
          <a:p>
            <a:pPr>
              <a:lnSpc>
                <a:spcPct val="106000"/>
              </a:lnSpc>
            </a:pPr>
            <a:r>
              <a:rPr lang="es-ES" sz="2200">
                <a:solidFill>
                  <a:srgbClr val="1F2937"/>
                </a:solidFill>
                <a:latin typeface="Inter" panose="02000503000000020004" pitchFamily="2" charset="0"/>
              </a:rPr>
              <a:t>en proyecto.config.json.</a:t>
            </a:r>
          </a:p>
          <a:p>
            <a:pPr>
              <a:lnSpc>
                <a:spcPct val="106000"/>
              </a:lnSpc>
            </a:pPr>
            <a:r>
              <a:rPr lang="es-ES" sz="2200">
                <a:solidFill>
                  <a:srgbClr val="1F2937"/>
                </a:solidFill>
                <a:latin typeface="Inter" panose="02000503000000020004" pitchFamily="2" charset="0"/>
              </a:rPr>
              <a:t>Elige tus fuentes y ejecuta las pruebas.</a:t>
            </a:r>
          </a:p>
        </p:txBody>
      </p:sp>
      <p:sp>
        <p:nvSpPr>
          <p:cNvPr id="24" name="v3_32_text_5">
            <a:extLst>
              <a:ext uri="{FF2B5EF4-FFF2-40B4-BE49-F238E27FC236}">
                <a16:creationId xmlns:a16="http://schemas.microsoft.com/office/drawing/2014/main" id="{0B2F6330-1D47-AD30-6EB3-1D2C1E59B80A}"/>
              </a:ext>
            </a:extLst>
          </p:cNvPr>
          <p:cNvSpPr txBox="1"/>
          <p:nvPr/>
        </p:nvSpPr>
        <p:spPr>
          <a:xfrm>
            <a:off x="330200" y="4394200"/>
            <a:ext cx="8382000" cy="279400"/>
          </a:xfrm>
          <a:prstGeom prst="rect">
            <a:avLst/>
          </a:prstGeom>
          <a:noFill/>
        </p:spPr>
        <p:txBody>
          <a:bodyPr vert="horz" wrap="square" lIns="0" tIns="0" rIns="0" bIns="0" rtlCol="0" anchor="t">
            <a:noAutofit/>
          </a:bodyPr>
          <a:lstStyle/>
          <a:p>
            <a:pPr>
              <a:lnSpc>
                <a:spcPct val="106000"/>
              </a:lnSpc>
            </a:pPr>
            <a:r>
              <a:rPr lang="es-ES" sz="1130">
                <a:solidFill>
                  <a:srgbClr val="62666A"/>
                </a:solidFill>
                <a:latin typeface="Inter" panose="02000503000000020004" pitchFamily="2" charset="0"/>
              </a:rPr>
              <a:t>github.com/seoutopico/sistema-editorial-agentico</a:t>
            </a:r>
          </a:p>
        </p:txBody>
      </p:sp>
      <p:sp>
        <p:nvSpPr>
          <p:cNvPr id="25" name="TextBox 24">
            <a:extLst>
              <a:ext uri="{FF2B5EF4-FFF2-40B4-BE49-F238E27FC236}">
                <a16:creationId xmlns:a16="http://schemas.microsoft.com/office/drawing/2014/main" id="{E5882CBF-2D74-EDDA-625F-55B15D92A44A}"/>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32</a:t>
            </a:r>
          </a:p>
        </p:txBody>
      </p:sp>
    </p:spTree>
    <p:extLst>
      <p:ext uri="{BB962C8B-B14F-4D97-AF65-F5344CB8AC3E}">
        <p14:creationId xmlns:p14="http://schemas.microsoft.com/office/powerpoint/2010/main" val="30249233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EAE7DC"/>
        </a:solidFill>
        <a:effectLst/>
      </p:bgPr>
    </p:bg>
    <p:spTree>
      <p:nvGrpSpPr>
        <p:cNvPr id="1" name="Shape 145"/>
        <p:cNvGrpSpPr/>
        <p:nvPr/>
      </p:nvGrpSpPr>
      <p:grpSpPr>
        <a:xfrm>
          <a:off x="0" y="0"/>
          <a:ext cx="0" cy="0"/>
          <a:chOff x="0" y="0"/>
          <a:chExt cx="0" cy="0"/>
        </a:xfrm>
      </p:grpSpPr>
      <p:sp>
        <p:nvSpPr>
          <p:cNvPr id="20" name="v3_33_text_1">
            <a:extLst>
              <a:ext uri="{FF2B5EF4-FFF2-40B4-BE49-F238E27FC236}">
                <a16:creationId xmlns:a16="http://schemas.microsoft.com/office/drawing/2014/main" id="{BAA5ABB8-2F4F-D053-2D3F-ADC1F001E535}"/>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Una petición para crear tu primera Skill</a:t>
            </a:r>
          </a:p>
        </p:txBody>
      </p:sp>
      <p:sp>
        <p:nvSpPr>
          <p:cNvPr id="21" name="v3_33_text_2">
            <a:extLst>
              <a:ext uri="{FF2B5EF4-FFF2-40B4-BE49-F238E27FC236}">
                <a16:creationId xmlns:a16="http://schemas.microsoft.com/office/drawing/2014/main" id="{FAAC5DF8-7D4A-AF75-C276-728C80543B92}"/>
              </a:ext>
            </a:extLst>
          </p:cNvPr>
          <p:cNvSpPr txBox="1"/>
          <p:nvPr/>
        </p:nvSpPr>
        <p:spPr>
          <a:xfrm>
            <a:off x="330200" y="1333499"/>
            <a:ext cx="8382000" cy="2959100"/>
          </a:xfrm>
          <a:prstGeom prst="rect">
            <a:avLst/>
          </a:prstGeom>
          <a:noFill/>
        </p:spPr>
        <p:txBody>
          <a:bodyPr vert="horz" wrap="square" lIns="0" tIns="0" rIns="0" bIns="0" rtlCol="0" anchor="t">
            <a:noAutofit/>
          </a:bodyPr>
          <a:lstStyle/>
          <a:p>
            <a:pPr>
              <a:lnSpc>
                <a:spcPct val="106000"/>
              </a:lnSpc>
            </a:pPr>
            <a:r>
              <a:rPr lang="es-ES" sz="2200">
                <a:solidFill>
                  <a:srgbClr val="1F2937"/>
                </a:solidFill>
                <a:latin typeface="Inter" panose="02000503000000020004" pitchFamily="2" charset="0"/>
              </a:rPr>
              <a:t>Convierte este procedimiento en una Skill reutilizable.</a:t>
            </a:r>
          </a:p>
          <a:p>
            <a:pPr>
              <a:lnSpc>
                <a:spcPct val="106000"/>
              </a:lnSpc>
            </a:pPr>
            <a:endParaRPr lang="es-ES" sz="2200">
              <a:solidFill>
                <a:srgbClr val="1F2937"/>
              </a:solidFill>
              <a:latin typeface="Inter" panose="02000503000000020004" pitchFamily="2" charset="0"/>
            </a:endParaRPr>
          </a:p>
          <a:p>
            <a:pPr>
              <a:lnSpc>
                <a:spcPct val="106000"/>
              </a:lnSpc>
            </a:pPr>
            <a:r>
              <a:rPr lang="es-ES" sz="2200">
                <a:solidFill>
                  <a:srgbClr val="1F2937"/>
                </a:solidFill>
                <a:latin typeface="Inter" panose="02000503000000020004" pitchFamily="2" charset="0"/>
              </a:rPr>
              <a:t>Define cuándo usarla y cuándo no.</a:t>
            </a:r>
          </a:p>
          <a:p>
            <a:pPr>
              <a:lnSpc>
                <a:spcPct val="106000"/>
              </a:lnSpc>
            </a:pPr>
            <a:r>
              <a:rPr lang="es-ES" sz="2200">
                <a:solidFill>
                  <a:srgbClr val="1F2937"/>
                </a:solidFill>
                <a:latin typeface="Inter" panose="02000503000000020004" pitchFamily="2" charset="0"/>
              </a:rPr>
              <a:t>Pide los datos que falten; no los inventes.</a:t>
            </a:r>
          </a:p>
          <a:p>
            <a:pPr>
              <a:lnSpc>
                <a:spcPct val="106000"/>
              </a:lnSpc>
            </a:pPr>
            <a:r>
              <a:rPr lang="es-ES" sz="2200">
                <a:solidFill>
                  <a:srgbClr val="1F2937"/>
                </a:solidFill>
                <a:latin typeface="Inter" panose="02000503000000020004" pitchFamily="2" charset="0"/>
              </a:rPr>
              <a:t>Ordena los pasos y fija la entrega.</a:t>
            </a:r>
          </a:p>
          <a:p>
            <a:pPr>
              <a:lnSpc>
                <a:spcPct val="106000"/>
              </a:lnSpc>
            </a:pPr>
            <a:r>
              <a:rPr lang="es-ES" sz="2200">
                <a:solidFill>
                  <a:srgbClr val="1F2937"/>
                </a:solidFill>
                <a:latin typeface="Inter" panose="02000503000000020004" pitchFamily="2" charset="0"/>
              </a:rPr>
              <a:t>Separa referencias y scripts.</a:t>
            </a:r>
          </a:p>
          <a:p>
            <a:pPr>
              <a:lnSpc>
                <a:spcPct val="106000"/>
              </a:lnSpc>
            </a:pPr>
            <a:r>
              <a:rPr lang="es-ES" sz="2200">
                <a:solidFill>
                  <a:srgbClr val="1F2937"/>
                </a:solidFill>
                <a:latin typeface="Inter" panose="02000503000000020004" pitchFamily="2" charset="0"/>
              </a:rPr>
              <a:t>Incluye un ejemplo aceptado y otro rechazado.</a:t>
            </a:r>
          </a:p>
          <a:p>
            <a:pPr>
              <a:lnSpc>
                <a:spcPct val="106000"/>
              </a:lnSpc>
            </a:pPr>
            <a:r>
              <a:rPr lang="es-ES" sz="2200">
                <a:solidFill>
                  <a:srgbClr val="1F2937"/>
                </a:solidFill>
                <a:latin typeface="Inter" panose="02000503000000020004" pitchFamily="2" charset="0"/>
              </a:rPr>
              <a:t>Propón pruebas de activación, resultado y errores.</a:t>
            </a:r>
          </a:p>
        </p:txBody>
      </p:sp>
      <p:sp>
        <p:nvSpPr>
          <p:cNvPr id="22" name="v3_33_text_3">
            <a:extLst>
              <a:ext uri="{FF2B5EF4-FFF2-40B4-BE49-F238E27FC236}">
                <a16:creationId xmlns:a16="http://schemas.microsoft.com/office/drawing/2014/main" id="{90C2213B-E062-9CA9-6AE4-B6DBAE3D7585}"/>
              </a:ext>
            </a:extLst>
          </p:cNvPr>
          <p:cNvSpPr txBox="1"/>
          <p:nvPr/>
        </p:nvSpPr>
        <p:spPr>
          <a:xfrm>
            <a:off x="330200" y="4394200"/>
            <a:ext cx="8382000" cy="279400"/>
          </a:xfrm>
          <a:prstGeom prst="rect">
            <a:avLst/>
          </a:prstGeom>
          <a:noFill/>
        </p:spPr>
        <p:txBody>
          <a:bodyPr vert="horz" wrap="square" lIns="0" tIns="0" rIns="0" bIns="0" rtlCol="0" anchor="t">
            <a:noAutofit/>
          </a:bodyPr>
          <a:lstStyle/>
          <a:p>
            <a:pPr>
              <a:lnSpc>
                <a:spcPct val="106000"/>
              </a:lnSpc>
            </a:pPr>
            <a:r>
              <a:rPr lang="es-ES" sz="1130">
                <a:solidFill>
                  <a:srgbClr val="62666A"/>
                </a:solidFill>
                <a:latin typeface="Inter" panose="02000503000000020004" pitchFamily="2" charset="0"/>
              </a:rPr>
              <a:t>Plantilla orientativa: revisa los archivos generados y prueba con un caso distinto.</a:t>
            </a:r>
          </a:p>
        </p:txBody>
      </p:sp>
      <p:sp>
        <p:nvSpPr>
          <p:cNvPr id="23" name="TextBox 22">
            <a:extLst>
              <a:ext uri="{FF2B5EF4-FFF2-40B4-BE49-F238E27FC236}">
                <a16:creationId xmlns:a16="http://schemas.microsoft.com/office/drawing/2014/main" id="{9811A6BE-547F-623E-3F65-9503B7509F0A}"/>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33</a:t>
            </a:r>
          </a:p>
        </p:txBody>
      </p:sp>
    </p:spTree>
    <p:extLst>
      <p:ext uri="{BB962C8B-B14F-4D97-AF65-F5344CB8AC3E}">
        <p14:creationId xmlns:p14="http://schemas.microsoft.com/office/powerpoint/2010/main" val="26871401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EAE7DC"/>
        </a:solidFill>
        <a:effectLst/>
      </p:bgPr>
    </p:bg>
    <p:spTree>
      <p:nvGrpSpPr>
        <p:cNvPr id="1" name="Shape 145"/>
        <p:cNvGrpSpPr/>
        <p:nvPr/>
      </p:nvGrpSpPr>
      <p:grpSpPr>
        <a:xfrm>
          <a:off x="0" y="0"/>
          <a:ext cx="0" cy="0"/>
          <a:chOff x="0" y="0"/>
          <a:chExt cx="0" cy="0"/>
        </a:xfrm>
      </p:grpSpPr>
      <p:sp>
        <p:nvSpPr>
          <p:cNvPr id="20" name="v3_34_text_1">
            <a:extLst>
              <a:ext uri="{FF2B5EF4-FFF2-40B4-BE49-F238E27FC236}">
                <a16:creationId xmlns:a16="http://schemas.microsoft.com/office/drawing/2014/main" id="{B9415C50-90BC-64F2-BEF0-4A6BEF2FBCAD}"/>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Antes de dar una Skill por buena</a:t>
            </a:r>
          </a:p>
        </p:txBody>
      </p:sp>
      <p:sp>
        <p:nvSpPr>
          <p:cNvPr id="21" name="v3_34_text_2">
            <a:extLst>
              <a:ext uri="{FF2B5EF4-FFF2-40B4-BE49-F238E27FC236}">
                <a16:creationId xmlns:a16="http://schemas.microsoft.com/office/drawing/2014/main" id="{33C8AD64-0B74-1853-FCD9-0AEC61E0FC96}"/>
              </a:ext>
            </a:extLst>
          </p:cNvPr>
          <p:cNvSpPr txBox="1"/>
          <p:nvPr/>
        </p:nvSpPr>
        <p:spPr>
          <a:xfrm>
            <a:off x="330200" y="1346200"/>
            <a:ext cx="2730500" cy="444500"/>
          </a:xfrm>
          <a:prstGeom prst="rect">
            <a:avLst/>
          </a:prstGeom>
          <a:noFill/>
        </p:spPr>
        <p:txBody>
          <a:bodyPr vert="horz" wrap="square" lIns="0" tIns="0" rIns="0" bIns="0" rtlCol="0" anchor="t">
            <a:noAutofit/>
          </a:bodyPr>
          <a:lstStyle/>
          <a:p>
            <a:pPr>
              <a:lnSpc>
                <a:spcPct val="106000"/>
              </a:lnSpc>
            </a:pPr>
            <a:r>
              <a:rPr lang="es-ES" sz="2400" b="1">
                <a:solidFill>
                  <a:srgbClr val="FD6534"/>
                </a:solidFill>
                <a:latin typeface="Inter" panose="02000503000000020004" pitchFamily="2" charset="0"/>
              </a:rPr>
              <a:t>Activación</a:t>
            </a:r>
          </a:p>
        </p:txBody>
      </p:sp>
      <p:sp>
        <p:nvSpPr>
          <p:cNvPr id="22" name="v3_34_text_3">
            <a:extLst>
              <a:ext uri="{FF2B5EF4-FFF2-40B4-BE49-F238E27FC236}">
                <a16:creationId xmlns:a16="http://schemas.microsoft.com/office/drawing/2014/main" id="{A80C05BB-8AF4-A16C-F1A7-6A16C2825D7E}"/>
              </a:ext>
            </a:extLst>
          </p:cNvPr>
          <p:cNvSpPr txBox="1"/>
          <p:nvPr/>
        </p:nvSpPr>
        <p:spPr>
          <a:xfrm>
            <a:off x="3340100" y="1346199"/>
            <a:ext cx="5397500" cy="762000"/>
          </a:xfrm>
          <a:prstGeom prst="rect">
            <a:avLst/>
          </a:prstGeom>
          <a:noFill/>
        </p:spPr>
        <p:txBody>
          <a:bodyPr vert="horz" wrap="square" lIns="0" tIns="0" rIns="0" bIns="0" rtlCol="0" anchor="t">
            <a:noAutofit/>
          </a:bodyPr>
          <a:lstStyle/>
          <a:p>
            <a:pPr>
              <a:lnSpc>
                <a:spcPct val="106000"/>
              </a:lnSpc>
            </a:pPr>
            <a:r>
              <a:rPr lang="es-ES" sz="2200">
                <a:solidFill>
                  <a:srgbClr val="1F2937"/>
                </a:solidFill>
                <a:latin typeface="Inter" panose="02000503000000020004" pitchFamily="2" charset="0"/>
              </a:rPr>
              <a:t>Petición directa, paráfrasis y un caso que no le corresponde.</a:t>
            </a:r>
          </a:p>
        </p:txBody>
      </p:sp>
      <p:sp>
        <p:nvSpPr>
          <p:cNvPr id="23" name="v3_34_text_4">
            <a:extLst>
              <a:ext uri="{FF2B5EF4-FFF2-40B4-BE49-F238E27FC236}">
                <a16:creationId xmlns:a16="http://schemas.microsoft.com/office/drawing/2014/main" id="{B99AFB0A-E72B-C0A7-34A0-2F29962E7982}"/>
              </a:ext>
            </a:extLst>
          </p:cNvPr>
          <p:cNvSpPr txBox="1"/>
          <p:nvPr/>
        </p:nvSpPr>
        <p:spPr>
          <a:xfrm>
            <a:off x="330200" y="2374900"/>
            <a:ext cx="2730500" cy="444500"/>
          </a:xfrm>
          <a:prstGeom prst="rect">
            <a:avLst/>
          </a:prstGeom>
          <a:noFill/>
        </p:spPr>
        <p:txBody>
          <a:bodyPr vert="horz" wrap="square" lIns="0" tIns="0" rIns="0" bIns="0" rtlCol="0" anchor="t">
            <a:noAutofit/>
          </a:bodyPr>
          <a:lstStyle/>
          <a:p>
            <a:pPr>
              <a:lnSpc>
                <a:spcPct val="106000"/>
              </a:lnSpc>
            </a:pPr>
            <a:r>
              <a:rPr lang="es-ES" sz="2400" b="1">
                <a:solidFill>
                  <a:srgbClr val="FD6534"/>
                </a:solidFill>
                <a:latin typeface="Inter" panose="02000503000000020004" pitchFamily="2" charset="0"/>
              </a:rPr>
              <a:t>Resultado</a:t>
            </a:r>
          </a:p>
        </p:txBody>
      </p:sp>
      <p:sp>
        <p:nvSpPr>
          <p:cNvPr id="24" name="v3_34_text_5">
            <a:extLst>
              <a:ext uri="{FF2B5EF4-FFF2-40B4-BE49-F238E27FC236}">
                <a16:creationId xmlns:a16="http://schemas.microsoft.com/office/drawing/2014/main" id="{5714646B-7654-3F34-0953-85997E0E9467}"/>
              </a:ext>
            </a:extLst>
          </p:cNvPr>
          <p:cNvSpPr txBox="1"/>
          <p:nvPr/>
        </p:nvSpPr>
        <p:spPr>
          <a:xfrm>
            <a:off x="3340100" y="2374899"/>
            <a:ext cx="5397500" cy="749300"/>
          </a:xfrm>
          <a:prstGeom prst="rect">
            <a:avLst/>
          </a:prstGeom>
          <a:noFill/>
        </p:spPr>
        <p:txBody>
          <a:bodyPr vert="horz" wrap="square" lIns="0" tIns="0" rIns="0" bIns="0" rtlCol="0" anchor="t">
            <a:noAutofit/>
          </a:bodyPr>
          <a:lstStyle/>
          <a:p>
            <a:pPr>
              <a:lnSpc>
                <a:spcPct val="106000"/>
              </a:lnSpc>
            </a:pPr>
            <a:r>
              <a:rPr lang="es-ES" sz="2200">
                <a:solidFill>
                  <a:srgbClr val="1F2937"/>
                </a:solidFill>
                <a:latin typeface="Inter" panose="02000503000000020004" pitchFamily="2" charset="0"/>
              </a:rPr>
              <a:t>Un caso nuevo con criterios de aceptación explícitos.</a:t>
            </a:r>
          </a:p>
        </p:txBody>
      </p:sp>
      <p:sp>
        <p:nvSpPr>
          <p:cNvPr id="25" name="v3_34_text_6">
            <a:extLst>
              <a:ext uri="{FF2B5EF4-FFF2-40B4-BE49-F238E27FC236}">
                <a16:creationId xmlns:a16="http://schemas.microsoft.com/office/drawing/2014/main" id="{E774BC87-B90B-5F17-E306-25A3E0B1BBC3}"/>
              </a:ext>
            </a:extLst>
          </p:cNvPr>
          <p:cNvSpPr txBox="1"/>
          <p:nvPr/>
        </p:nvSpPr>
        <p:spPr>
          <a:xfrm>
            <a:off x="330200" y="3416300"/>
            <a:ext cx="2730500" cy="444500"/>
          </a:xfrm>
          <a:prstGeom prst="rect">
            <a:avLst/>
          </a:prstGeom>
          <a:noFill/>
        </p:spPr>
        <p:txBody>
          <a:bodyPr vert="horz" wrap="square" lIns="0" tIns="0" rIns="0" bIns="0" rtlCol="0" anchor="t">
            <a:noAutofit/>
          </a:bodyPr>
          <a:lstStyle/>
          <a:p>
            <a:pPr>
              <a:lnSpc>
                <a:spcPct val="106000"/>
              </a:lnSpc>
            </a:pPr>
            <a:r>
              <a:rPr lang="es-ES" sz="2400" b="1">
                <a:solidFill>
                  <a:srgbClr val="FD6534"/>
                </a:solidFill>
                <a:latin typeface="Inter" panose="02000503000000020004" pitchFamily="2" charset="0"/>
              </a:rPr>
              <a:t>Errores</a:t>
            </a:r>
          </a:p>
        </p:txBody>
      </p:sp>
      <p:sp>
        <p:nvSpPr>
          <p:cNvPr id="26" name="v3_34_text_7">
            <a:extLst>
              <a:ext uri="{FF2B5EF4-FFF2-40B4-BE49-F238E27FC236}">
                <a16:creationId xmlns:a16="http://schemas.microsoft.com/office/drawing/2014/main" id="{8155695C-6A90-298C-B915-2512499CEB92}"/>
              </a:ext>
            </a:extLst>
          </p:cNvPr>
          <p:cNvSpPr txBox="1"/>
          <p:nvPr/>
        </p:nvSpPr>
        <p:spPr>
          <a:xfrm>
            <a:off x="3340100" y="3416299"/>
            <a:ext cx="5397500" cy="762000"/>
          </a:xfrm>
          <a:prstGeom prst="rect">
            <a:avLst/>
          </a:prstGeom>
          <a:noFill/>
        </p:spPr>
        <p:txBody>
          <a:bodyPr vert="horz" wrap="square" lIns="0" tIns="0" rIns="0" bIns="0" rtlCol="0" anchor="t">
            <a:noAutofit/>
          </a:bodyPr>
          <a:lstStyle/>
          <a:p>
            <a:pPr>
              <a:lnSpc>
                <a:spcPct val="106000"/>
              </a:lnSpc>
            </a:pPr>
            <a:r>
              <a:rPr lang="es-ES" sz="2200">
                <a:solidFill>
                  <a:srgbClr val="1F2937"/>
                </a:solidFill>
                <a:latin typeface="Inter" panose="02000503000000020004" pitchFamily="2" charset="0"/>
              </a:rPr>
              <a:t>Datos ausentes, fuentes inaccesibles y salidas inválidas.</a:t>
            </a:r>
          </a:p>
        </p:txBody>
      </p:sp>
      <p:sp>
        <p:nvSpPr>
          <p:cNvPr id="27" name="v3_34_text_8">
            <a:extLst>
              <a:ext uri="{FF2B5EF4-FFF2-40B4-BE49-F238E27FC236}">
                <a16:creationId xmlns:a16="http://schemas.microsoft.com/office/drawing/2014/main" id="{A79D981E-7FF2-A817-3E99-BB9ECEE4676D}"/>
              </a:ext>
            </a:extLst>
          </p:cNvPr>
          <p:cNvSpPr txBox="1"/>
          <p:nvPr/>
        </p:nvSpPr>
        <p:spPr>
          <a:xfrm>
            <a:off x="330200" y="4394200"/>
            <a:ext cx="8382000" cy="279400"/>
          </a:xfrm>
          <a:prstGeom prst="rect">
            <a:avLst/>
          </a:prstGeom>
          <a:noFill/>
        </p:spPr>
        <p:txBody>
          <a:bodyPr vert="horz" wrap="square" lIns="0" tIns="0" rIns="0" bIns="0" rtlCol="0" anchor="t">
            <a:noAutofit/>
          </a:bodyPr>
          <a:lstStyle/>
          <a:p>
            <a:pPr>
              <a:lnSpc>
                <a:spcPct val="106000"/>
              </a:lnSpc>
            </a:pPr>
            <a:r>
              <a:rPr lang="es-ES" sz="1130">
                <a:solidFill>
                  <a:srgbClr val="62666A"/>
                </a:solidFill>
                <a:latin typeface="Inter" panose="02000503000000020004" pitchFamily="2" charset="0"/>
              </a:rPr>
              <a:t>Compara con y sin Skill. Guarda la corrección donde corresponda y repite la prueba.</a:t>
            </a:r>
          </a:p>
        </p:txBody>
      </p:sp>
      <p:sp>
        <p:nvSpPr>
          <p:cNvPr id="28" name="TextBox 27">
            <a:extLst>
              <a:ext uri="{FF2B5EF4-FFF2-40B4-BE49-F238E27FC236}">
                <a16:creationId xmlns:a16="http://schemas.microsoft.com/office/drawing/2014/main" id="{08B07AD3-5EAC-9338-1573-60B430785280}"/>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34</a:t>
            </a:r>
          </a:p>
        </p:txBody>
      </p:sp>
    </p:spTree>
    <p:extLst>
      <p:ext uri="{BB962C8B-B14F-4D97-AF65-F5344CB8AC3E}">
        <p14:creationId xmlns:p14="http://schemas.microsoft.com/office/powerpoint/2010/main" val="29163605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EAE7DC"/>
        </a:solidFill>
        <a:effectLst/>
      </p:bgPr>
    </p:bg>
    <p:spTree>
      <p:nvGrpSpPr>
        <p:cNvPr id="1" name="Shape 145"/>
        <p:cNvGrpSpPr/>
        <p:nvPr/>
      </p:nvGrpSpPr>
      <p:grpSpPr>
        <a:xfrm>
          <a:off x="0" y="0"/>
          <a:ext cx="0" cy="0"/>
          <a:chOff x="0" y="0"/>
          <a:chExt cx="0" cy="0"/>
        </a:xfrm>
      </p:grpSpPr>
      <p:sp>
        <p:nvSpPr>
          <p:cNvPr id="20" name="v3_35_text_1">
            <a:extLst>
              <a:ext uri="{FF2B5EF4-FFF2-40B4-BE49-F238E27FC236}">
                <a16:creationId xmlns:a16="http://schemas.microsoft.com/office/drawing/2014/main" id="{DF32CEF3-C5AC-FB53-8490-7D2274268A2C}"/>
              </a:ext>
            </a:extLst>
          </p:cNvPr>
          <p:cNvSpPr txBox="1"/>
          <p:nvPr/>
        </p:nvSpPr>
        <p:spPr>
          <a:xfrm>
            <a:off x="330200" y="317500"/>
            <a:ext cx="8483600" cy="889000"/>
          </a:xfrm>
          <a:prstGeom prst="rect">
            <a:avLst/>
          </a:prstGeom>
          <a:noFill/>
        </p:spPr>
        <p:txBody>
          <a:bodyPr vert="horz" wrap="square" lIns="0" tIns="0" rIns="0" bIns="0" rtlCol="0" anchor="t">
            <a:noAutofit/>
          </a:bodyPr>
          <a:lstStyle/>
          <a:p>
            <a:pPr>
              <a:lnSpc>
                <a:spcPct val="106000"/>
              </a:lnSpc>
            </a:pPr>
            <a:r>
              <a:rPr lang="es-ES" sz="3200" b="1">
                <a:solidFill>
                  <a:srgbClr val="1F2937"/>
                </a:solidFill>
                <a:latin typeface="Inter" panose="02000503000000020004" pitchFamily="2" charset="0"/>
              </a:rPr>
              <a:t>Fuentes de esta demostración</a:t>
            </a:r>
          </a:p>
        </p:txBody>
      </p:sp>
      <p:sp>
        <p:nvSpPr>
          <p:cNvPr id="21" name="v3_35_text_2">
            <a:extLst>
              <a:ext uri="{FF2B5EF4-FFF2-40B4-BE49-F238E27FC236}">
                <a16:creationId xmlns:a16="http://schemas.microsoft.com/office/drawing/2014/main" id="{92E9AB2A-EC78-A21A-C128-DEA0FB698F1F}"/>
              </a:ext>
            </a:extLst>
          </p:cNvPr>
          <p:cNvSpPr txBox="1"/>
          <p:nvPr/>
        </p:nvSpPr>
        <p:spPr>
          <a:xfrm>
            <a:off x="330200" y="1346200"/>
            <a:ext cx="2667000" cy="393700"/>
          </a:xfrm>
          <a:prstGeom prst="rect">
            <a:avLst/>
          </a:prstGeom>
          <a:noFill/>
        </p:spPr>
        <p:txBody>
          <a:bodyPr vert="horz" wrap="square" lIns="0" tIns="0" rIns="0" bIns="0" rtlCol="0" anchor="t">
            <a:noAutofit/>
          </a:bodyPr>
          <a:lstStyle/>
          <a:p>
            <a:pPr>
              <a:lnSpc>
                <a:spcPct val="106000"/>
              </a:lnSpc>
            </a:pPr>
            <a:r>
              <a:rPr lang="es-ES" sz="2400" b="1">
                <a:solidFill>
                  <a:srgbClr val="FD6534"/>
                </a:solidFill>
                <a:latin typeface="Inter" panose="02000503000000020004" pitchFamily="2" charset="0"/>
              </a:rPr>
              <a:t>Think&amp;Hack</a:t>
            </a:r>
          </a:p>
        </p:txBody>
      </p:sp>
      <p:sp>
        <p:nvSpPr>
          <p:cNvPr id="22" name="v3_35_text_3">
            <a:extLst>
              <a:ext uri="{FF2B5EF4-FFF2-40B4-BE49-F238E27FC236}">
                <a16:creationId xmlns:a16="http://schemas.microsoft.com/office/drawing/2014/main" id="{9887B167-9732-2DCB-4801-9FCA5B4458A6}"/>
              </a:ext>
            </a:extLst>
          </p:cNvPr>
          <p:cNvSpPr txBox="1"/>
          <p:nvPr/>
        </p:nvSpPr>
        <p:spPr>
          <a:xfrm>
            <a:off x="3340100" y="1358900"/>
            <a:ext cx="5461000" cy="2209800"/>
          </a:xfrm>
          <a:prstGeom prst="rect">
            <a:avLst/>
          </a:prstGeom>
          <a:noFill/>
        </p:spPr>
        <p:txBody>
          <a:bodyPr vert="horz" wrap="square" lIns="0" tIns="0" rIns="0" bIns="0" rtlCol="0" anchor="t">
            <a:noAutofit/>
          </a:bodyPr>
          <a:lstStyle/>
          <a:p>
            <a:pPr>
              <a:lnSpc>
                <a:spcPct val="106000"/>
              </a:lnSpc>
            </a:pPr>
            <a:r>
              <a:rPr lang="es-ES" sz="1900">
                <a:solidFill>
                  <a:srgbClr val="1F2937"/>
                </a:solidFill>
                <a:latin typeface="Inter" panose="02000503000000020004" pitchFamily="2" charset="0"/>
              </a:rPr>
              <a:t>Crear Skills verificables · 5 julio</a:t>
            </a:r>
          </a:p>
          <a:p>
            <a:pPr>
              <a:lnSpc>
                <a:spcPct val="106000"/>
              </a:lnSpc>
            </a:pPr>
            <a:r>
              <a:rPr lang="es-ES" sz="1900">
                <a:solidFill>
                  <a:srgbClr val="1F2937"/>
                </a:solidFill>
                <a:latin typeface="Inter" panose="02000503000000020004" pitchFamily="2" charset="0"/>
              </a:rPr>
              <a:t>Crear agentes en Claude Code · 12 julio</a:t>
            </a:r>
          </a:p>
          <a:p>
            <a:pPr>
              <a:lnSpc>
                <a:spcPct val="106000"/>
              </a:lnSpc>
            </a:pPr>
            <a:r>
              <a:rPr lang="es-ES" sz="1900">
                <a:solidFill>
                  <a:srgbClr val="1F2937"/>
                </a:solidFill>
                <a:latin typeface="Inter" panose="02000503000000020004" pitchFamily="2" charset="0"/>
              </a:rPr>
              <a:t>Harness engineering · 19 julio</a:t>
            </a:r>
          </a:p>
          <a:p>
            <a:pPr>
              <a:lnSpc>
                <a:spcPct val="106000"/>
              </a:lnSpc>
            </a:pPr>
            <a:r>
              <a:rPr lang="es-ES" sz="1900">
                <a:solidFill>
                  <a:srgbClr val="1F2937"/>
                </a:solidFill>
                <a:latin typeface="Inter" panose="02000503000000020004" pitchFamily="2" charset="0"/>
              </a:rPr>
              <a:t>Hacki: semana 1 · 30 agosto</a:t>
            </a:r>
          </a:p>
          <a:p>
            <a:pPr>
              <a:lnSpc>
                <a:spcPct val="106000"/>
              </a:lnSpc>
            </a:pPr>
            <a:r>
              <a:rPr lang="es-ES" sz="1900">
                <a:solidFill>
                  <a:srgbClr val="1F2937"/>
                </a:solidFill>
                <a:latin typeface="Inter" panose="02000503000000020004" pitchFamily="2" charset="0"/>
              </a:rPr>
              <a:t>Calendario editorial con IA · 9 septiembre</a:t>
            </a:r>
          </a:p>
          <a:p>
            <a:pPr>
              <a:lnSpc>
                <a:spcPct val="106000"/>
              </a:lnSpc>
            </a:pPr>
            <a:r>
              <a:rPr lang="es-ES" sz="1900">
                <a:solidFill>
                  <a:srgbClr val="1F2937"/>
                </a:solidFill>
                <a:latin typeface="Inter" panose="02000503000000020004" pitchFamily="2" charset="0"/>
              </a:rPr>
              <a:t>Crear Skills en Work · 4 octubre</a:t>
            </a:r>
          </a:p>
        </p:txBody>
      </p:sp>
      <p:sp>
        <p:nvSpPr>
          <p:cNvPr id="23" name="v3_35_text_4">
            <a:extLst>
              <a:ext uri="{FF2B5EF4-FFF2-40B4-BE49-F238E27FC236}">
                <a16:creationId xmlns:a16="http://schemas.microsoft.com/office/drawing/2014/main" id="{DACE4CAE-67C1-7B65-0CC7-3B60970A2B35}"/>
              </a:ext>
            </a:extLst>
          </p:cNvPr>
          <p:cNvSpPr txBox="1"/>
          <p:nvPr/>
        </p:nvSpPr>
        <p:spPr>
          <a:xfrm>
            <a:off x="330200" y="3937000"/>
            <a:ext cx="8458200" cy="660400"/>
          </a:xfrm>
          <a:prstGeom prst="rect">
            <a:avLst/>
          </a:prstGeom>
          <a:noFill/>
        </p:spPr>
        <p:txBody>
          <a:bodyPr vert="horz" wrap="square" lIns="0" tIns="0" rIns="0" bIns="0" rtlCol="0" anchor="t">
            <a:noAutofit/>
          </a:bodyPr>
          <a:lstStyle/>
          <a:p>
            <a:pPr>
              <a:lnSpc>
                <a:spcPct val="106000"/>
              </a:lnSpc>
            </a:pPr>
            <a:r>
              <a:rPr lang="es-ES" sz="2100" b="1">
                <a:solidFill>
                  <a:srgbClr val="1F2937"/>
                </a:solidFill>
                <a:latin typeface="Inter" panose="02000503000000020004" pitchFamily="2" charset="0"/>
              </a:rPr>
              <a:t>Repositorio, transcripciones y documentación oficial</a:t>
            </a:r>
          </a:p>
        </p:txBody>
      </p:sp>
      <p:sp>
        <p:nvSpPr>
          <p:cNvPr id="24" name="v3_35_text_5">
            <a:extLst>
              <a:ext uri="{FF2B5EF4-FFF2-40B4-BE49-F238E27FC236}">
                <a16:creationId xmlns:a16="http://schemas.microsoft.com/office/drawing/2014/main" id="{AC75CE3E-B807-0B6E-77E3-A7637E785B5D}"/>
              </a:ext>
            </a:extLst>
          </p:cNvPr>
          <p:cNvSpPr txBox="1"/>
          <p:nvPr/>
        </p:nvSpPr>
        <p:spPr>
          <a:xfrm>
            <a:off x="330200" y="4394200"/>
            <a:ext cx="8382000" cy="279400"/>
          </a:xfrm>
          <a:prstGeom prst="rect">
            <a:avLst/>
          </a:prstGeom>
          <a:noFill/>
        </p:spPr>
        <p:txBody>
          <a:bodyPr vert="horz" wrap="square" lIns="0" tIns="0" rIns="0" bIns="0" rtlCol="0" anchor="t">
            <a:noAutofit/>
          </a:bodyPr>
          <a:lstStyle/>
          <a:p>
            <a:pPr>
              <a:lnSpc>
                <a:spcPct val="106000"/>
              </a:lnSpc>
            </a:pPr>
            <a:r>
              <a:rPr lang="es-ES" sz="1130">
                <a:solidFill>
                  <a:srgbClr val="62666A"/>
                </a:solidFill>
                <a:latin typeface="Inter" panose="02000503000000020004" pitchFamily="2" charset="0"/>
              </a:rPr>
              <a:t>Los enlaces y la trazabilidad de cada ejemplo están en las notas de su diapositiva.</a:t>
            </a:r>
          </a:p>
        </p:txBody>
      </p:sp>
      <p:sp>
        <p:nvSpPr>
          <p:cNvPr id="25" name="TextBox 24">
            <a:extLst>
              <a:ext uri="{FF2B5EF4-FFF2-40B4-BE49-F238E27FC236}">
                <a16:creationId xmlns:a16="http://schemas.microsoft.com/office/drawing/2014/main" id="{F8109ED7-D1A6-DF6C-D31D-36E8863DE0E2}"/>
              </a:ext>
            </a:extLst>
          </p:cNvPr>
          <p:cNvSpPr txBox="1"/>
          <p:nvPr/>
        </p:nvSpPr>
        <p:spPr>
          <a:xfrm>
            <a:off x="8712200" y="4813299"/>
            <a:ext cx="254000" cy="203200"/>
          </a:xfrm>
          <a:prstGeom prst="rect">
            <a:avLst/>
          </a:prstGeom>
          <a:noFill/>
        </p:spPr>
        <p:txBody>
          <a:bodyPr vert="horz" wrap="square" lIns="0" tIns="0" rIns="0" bIns="0" rtlCol="0" anchor="t">
            <a:noAutofit/>
          </a:bodyPr>
          <a:lstStyle/>
          <a:p>
            <a:pPr algn="r">
              <a:lnSpc>
                <a:spcPct val="106000"/>
              </a:lnSpc>
            </a:pPr>
            <a:r>
              <a:rPr lang="es-ES" sz="1000">
                <a:solidFill>
                  <a:srgbClr val="62666A"/>
                </a:solidFill>
                <a:latin typeface="Inter" panose="02000503000000020004" pitchFamily="2" charset="0"/>
              </a:rPr>
              <a:t>35</a:t>
            </a:r>
          </a:p>
        </p:txBody>
      </p:sp>
    </p:spTree>
    <p:extLst>
      <p:ext uri="{BB962C8B-B14F-4D97-AF65-F5344CB8AC3E}">
        <p14:creationId xmlns:p14="http://schemas.microsoft.com/office/powerpoint/2010/main" val="274970237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5037</Words>
  <Application>Microsoft Office PowerPoint</Application>
  <PresentationFormat>On-screen Show (16:9)</PresentationFormat>
  <Paragraphs>532</Paragraphs>
  <Slides>35</Slides>
  <Notes>35</Notes>
  <HiddenSlides>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Consolas</vt:lpstr>
      <vt:lpstr>Calibri</vt:lpstr>
      <vt:lpstr>Roboto</vt:lpstr>
      <vt:lpstr>Inter</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El proceso editorial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Aina-Lluna Taylor Barcelo</cp:lastModifiedBy>
  <cp:revision>3</cp:revision>
  <dcterms:modified xsi:type="dcterms:W3CDTF">2026-10-14T19:32:11Z</dcterms:modified>
</cp:coreProperties>
</file>