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75" r:id="rId22"/>
    <p:sldId id="274" r:id="rId23"/>
    <p:sldId id="276" r:id="rId24"/>
    <p:sldId id="277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">
          <p15:clr>
            <a:srgbClr val="747775"/>
          </p15:clr>
        </p15:guide>
        <p15:guide id="2" orient="horz" pos="488">
          <p15:clr>
            <a:srgbClr val="747775"/>
          </p15:clr>
        </p15:guide>
        <p15:guide id="3" pos="4876">
          <p15:clr>
            <a:srgbClr val="747775"/>
          </p15:clr>
        </p15:guide>
        <p15:guide id="5" pos="5556">
          <p15:clr>
            <a:srgbClr val="747775"/>
          </p15:clr>
        </p15:guide>
        <p15:guide id="6" orient="horz" pos="719">
          <p15:clr>
            <a:srgbClr val="747775"/>
          </p15:clr>
        </p15:guide>
        <p15:guide id="7" pos="26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EE3193-8D45-4A5B-88C0-FDBB99C5EF04}">
  <a:tblStyle styleId="{62EE3193-8D45-4A5B-88C0-FDBB99C5EF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/>
        <p:guide orient="horz" pos="488"/>
        <p:guide pos="4876"/>
        <p:guide pos="5556"/>
        <p:guide orient="horz" pos="719"/>
        <p:guide pos="26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a0fbafbb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a0fbafbb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d72ddebf51936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d72ddebf519363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4d72ddebf519363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4d72ddebf519363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d72ddebf519363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d72ddebf519363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d72ddebf519363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d72ddebf519363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4d72ddebf519363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4d72ddebf519363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4d72ddebf519363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4d72ddebf519363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ba2dd9be5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25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 es la forma de trabajar de Think&amp;Hack. Empezamos por lo que queremos conseguir, definimos los pasos y las decisiones del proceso y después elegimos las piezas que necesitamos para ejecutarlo y comprobarlo. Vamos a aplicarlo a un caso concreto: el sistema editorial de la newsletter. Primero, el objetivo.</a:t>
            </a:r>
            <a:endParaRPr/>
          </a:p>
        </p:txBody>
      </p:sp>
      <p:sp>
        <p:nvSpPr>
          <p:cNvPr id="112" name="Google Shape;112;g3eba2dd9be5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d72ddebf519363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d72ddebf519363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35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Queremos crear contenido para Think&amp;Hack a partir de oportunidades reales. Para eso el sistema necesita conocer lo publicado, encontrar temas relevantes, investigarlos y preparar las piezas para nuestros canales.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Tenemos dos condiciones: respaldar las afirmaciones con fuentes y aprovechar el conocimiento acumulado. Eso incluye los artículos anteriores, los enfoques que hemos utilizado, nuestras correcciones y las ideas que descartamos. Vamos a convertir ese objetivo en un proceso.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d72ddebf519363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d72ddebf519363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55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Primero revisamos lo publicado: qué temas hemos tratado y desde qué perspectiva. Después buscamos oportunidades y comprobamos qué podemos aportar respecto a lo que ya existe.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Elegimos una oportunidad, investigamos sus afirmaciones y desarrollamos el contenido principal. Cuando está aprobado, lo adaptamos a los canales.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último paso vuelve al primero. Incorporamos lo publicado y las correcciones útiles para que la siguiente ejecución pueda consultarlos.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Hemos definido cinco etapas, pero no todas necesitan el mismo tipo de trabajo. Algunas operaciones siguen reglas claras. Otras requieren interpretar y tomar decisiones. Vamos a verlo en la primera etapa.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ba2dd9be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ba2dd9be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revisar lo publicado necesitamos descargar artículos, detectar duplicados y ordenar por fecha. Podemos especificar esas operaciones con reglas y ejecutarlas mediante scripts.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También necesitamos entender qué defiende cada artículo, desde qué enfoque y para qué lector. Ahí interviene el modelo, guiado por criterios editoriales.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diferencia no es simplemente números frente a palabras. Un texto también puede procesarse con reglas. La pregunta es si podemos definir la operación de forma precisa o necesitamos interpretación.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Think&amp;Hack esos criterios incluyen la audiencia, nuestra aportación y nuestros límites. No desaparecen al introducir tecnología: se documentan y se aplican durante todo el proceso.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d72ddebf519363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d72ddebf519363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Queremos que el análisis de nuestros artículos siga una forma de trabajar definida. Por eso lo recogemos en una Skill.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este diseño, analizar-biblioteca indica qué artículos hay que leer, qué significa cada campo y cómo entregar la ficha. También incluye los recursos que permiten aplicar ese procedimiento: criterios, ejemplos y código de apoyo.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Skill no es otra persona ni otro modelo. Es una capacidad documentada que un agente puede utilizar. Podemos revisar sus instrucciones y conservar las mejoras para próximas tareas.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la arquitectura hay ocho Skills distribuidas entre cinco etapas. Una etapa puede necesitar más de una, como recuperar los artículos y después analizarlos.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https://agentskills.io/home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ARQUITECTURA.md y prompts/02-crear-analizar-biblioteca.md. Esta diapositiva muestra el diseño de la Skill.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ba2dd9be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ba2dd9be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Una Skill es una carpeta. Su archivo principal se llama SKILL.md. Al principio tiene dos datos esenciales: name, el nombre, y description, una descripción que explica qué hace y cuándo utilizarla. Después vienen las instrucciones del procedimiento.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Podemos separar los criterios detallados y los ejemplos en referencias. Y podemos incluir scripts con operaciones ya programadas. Estas carpetas auxiliares son opcionales.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la demo, las instrucciones de análisis definen qué entendemos por tema, enfoque y tesis. El formato de la ficha fija cómo se entrega el resultado. El script comprueba que los campos necesarios estén presentes antes de guardarla.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https://agentskills.io/specification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prompts/02-crear-analizar-biblioteca.md.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ba2dd9be5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45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Cuando pedimos actualizar el histórico, el agente puede reconocer la Skill adecuada por su nombre y su descripción. Entonces carga las instrucciones. Los recursos adicionales se consultan cuando la tarea los necesita.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 carga progresiva permite tener muchas Skills disponibles sin introducir todos sus detalles en cada conversación. También podemos indicar expresamente cuál queremos utilizar.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selección depende de la aplicación y de cómo tenga integradas las Skills. Una descripción precisa ayuda a que la capacidad se utilice en el momento adecuado.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https://agentskills.io/home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https://agentskills.io/specification</a:t>
            </a:r>
            <a:endParaRPr/>
          </a:p>
        </p:txBody>
      </p:sp>
      <p:sp>
        <p:nvSpPr>
          <p:cNvPr id="157" name="Google Shape;157;g3eba2dd9be5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4d72ddebf5193636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4d72ddebf5193636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agente lleva a cabo el trabajo. Utiliza el modelo para decidir el siguiente paso, llama a una herramienta, observa el resultado y continúa dentro de los límites establecidos.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nuestro ejemplo consulta la Skill, ejecuta la recuperación de artículos y lee el informe antes de seguir con el análisis. Si hay un error, debe tratarlo como un error y comunicarlo.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mismo agente puede utilizar varias Skills. No necesitamos uno por cada etapa. Podemos separar un trabajo cuando tenga sentido: por ejemplo, encargar a un subagente una revisión crítica de la investigación. Esa revisión aporta otra comprobación, pero tampoco garantiza por sí sola que el contenido sea correcto.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https://www.anthropic.com/engineering/building-effective-agents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ba2dd9be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ba2dd9be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110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recuperar lo publicado utilizamos un script. Fija las operaciones que conocemos: recorrer el archivo, descargar los artículos, detectar cambios y conservar las versiones anteriores.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agente puede ejecutar ese código sin volver a generarlo cada vez. Reutilizarlo facilita comprobar su comportamiento con pruebas.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DEMOSTRACIÓN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Abrir la carpeta del proyecto y mostrar .agents/skills/recuperar-newsletters/SKILL.md. Señalar brevemente name, description y el comando de ejecución.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Desde la raíz del proyecto, ejecutar: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python .agents/skills/recuperar-newsletters/scripts/recuperar_newsletters.py --limite 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Enseñar el informe que produzca la ejecución y un artículo guardado. Mostrar que el inventario conserva identificadores, fechas y estado del contenido. Si se usa una grabación previa, presentarla expresamente como tal.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 la consulta falla, mostrar el error real: no equivale a que no haya artículos nuevos. El comportamiento previsto conserva una copia completa ante un extracto o un fallo.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recuperación es la primera pieza implementada que marca el README. El resto del recorrido explica la arquitectura definida en los prompts, sin atribuirle resultados que todavía no hemos observado.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.agents/skills/recuperar-newsletters/SKILL.md, scripts/recuperar_newsletters.py y README.md.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d72ddebf519363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4d72ddebf5193636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75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agente necesita un entorno para actuar: herramientas disponibles, permisos, contexto y una forma de mantener el estado del trabajo. A ese entorno de ejecución y control lo llamamos arnés.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aplicación proporciona parte de ese entorno. Nosotros añadimos las reglas y comprobaciones de nuestro proceso editorial.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Por ejemplo, antes de redactar queremos comprobar que la investigación está aprobada. Es una condición de paso que debe comprobar el programa. Escribir la regla en un documento ayuda a orientar al agente, pero necesitamos implementarla y verificar que se cumple.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arnés es más amplio que una lista de comprobaciones. También permite ejecutar las herramientas y gestionar lo que el agente necesita para trabajar.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https://www.anthropic.com/engineering/effective-harnesses-for-long-running-agents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ARQUITECTURA.md y prompts/06-crear-redactar-contenido.md.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d72ddebf519363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d72ddebf519363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70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conectar las etapas acordamos qué recibe cada una, qué debe entregar y cómo lo vamos a comprobar. Ese acuerdo es lo que llamamos un contrato.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 el inventario, una ficha tiene unos campos definidos y mantiene la relación con el artículo original. En la investigación, cada afirmación debe tener un estado y las fuentes que la respaldan o contradicen. Las piezas tienen sus requisitos de formato y revisión.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código puede comprobar campos, referencias y longitudes. Pero que una URL responda no demuestra que respalde una afirmación. Esa parte exige leer y contrastar.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Por eso conservamos puntos de decisión humana: elegir la oportunidad, aprobar la investigación y aprobar el texto. Una segunda revisión con un agente puede ayudar, pero la responsabilidad editorial sigue siendo nuestra.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ARQUITECTURA.md y prompts/05-crear-investigar-tema.md.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4d72ddebf519363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4d72ddebf519363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65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Imaginemos que corregimos una frase porque presenta como realizada una prueba que solo está propuesta. Podemos convertir esa corrección en un criterio reutilizable: distinguir las pruebas realizadas de las propuestas.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Antes de guardarlo, comprobamos que sea una regla general y que no contradiga otra. Conservamos el cambio que la justifica y hacemos que las siguientes redacciones consulten esa regla.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Una Skill no aprende automáticamente porque hayamos corregido una respuesta. La mejora requiere registrar el criterio y volver a utilizarlo.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También incorporamos los nuevos artículos y los motivos de descarte. Así cerramos el ciclo: la siguiente búsqueda puede consultar qué hemos publicado y por qué dejamos pasar otras ideas.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Repositorio local: prompts/08-crear-registrar-resultado.md y biblioteca/estilo.md como salida prevista.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a0fbafbb3_2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a0fbafbb3_2_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60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Hemos empezado por un objetivo y un proceso. Después hemos identificado las operaciones que podemos programar, el trabajo que necesita interpretación y los resultados que queremos revisar.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Las Skills permiten conservar nuestra forma de trabajar y ponerla a disposición del agente. Los scripts fijan operaciones reutilizables. El arnés proporciona el entorno para ejecutarlas y los controles que añadimos al proceso.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Para llevar esto a vuestro equipo, empezad por una tarea que repitáis cada semana. Describid qué necesita, cómo la hacéis y cómo sabéis que está bien. Ese procedimiento es el punto de partida para construir vuestra primera capacidad reutilizable.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persona conserva el criterio editorial.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2e700a7e1b0b41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62e700a7e1b0b41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Tiempo orientativo: 20 segundos.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Aquí quedan los proyectos que hemos visto y la documentación técnica para profundizar. El enlace del sistema editorial apunta al repositorio de trabajo, cuyo acceso depende de sus permisos de GitHub.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Estado documental de la demo: README.md marca recuperar-newsletters como hecha y las otras siete Skills como pendientes. El repositorio contiene la arquitectura y los prompts de construcción. No se presenta aquí como un producto completo ya validado.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Fuentes: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https://www.tiktok.com/@pipoelnaufragoo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https://github.com/seoutopico/ai-entity-gap-seo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https://github.com/seoutopico/claude_skills/blob/master/browser-console-automation/ejemplos/ejemplo-radar-ideas-ThinkHack.md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https://github.com/seoutopico/sistema-editorial-agentico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https://agentskills.io/specification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https://www.anthropic.com/engineering/building-effective-agents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https://www.anthropic.com/engineering/effective-harnesses-for-long-running-agents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Tiempo orientativo: 0 segundos.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s-E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Preguntas, si el formato del evento y el tiempo disponible lo permiten. La duración de las preguntas queda fuera del bloque principal de 20 minutos.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aed10e44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eaed10e44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Tiempo orientativo: 10 segundos.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s-E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Muchas gracias. Podéis seguir el trabajo y las próximas pruebas en Think&amp;Hack.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rgbClr val="EAE7D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8500" y="1946975"/>
            <a:ext cx="8460900" cy="2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2"/>
          </p:nvPr>
        </p:nvSpPr>
        <p:spPr>
          <a:xfrm>
            <a:off x="270000" y="1135775"/>
            <a:ext cx="8507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270000" y="525575"/>
            <a:ext cx="8507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  <p15:guide id="2" pos="170">
          <p15:clr>
            <a:srgbClr val="E46962"/>
          </p15:clr>
        </p15:guide>
        <p15:guide id="3" orient="horz" pos="71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7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70">
          <p15:clr>
            <a:srgbClr val="E46962"/>
          </p15:clr>
        </p15:guide>
        <p15:guide id="2" orient="horz" pos="7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">
  <p:cSld name="DEFAULT_1">
    <p:bg>
      <p:bgPr>
        <a:solidFill>
          <a:srgbClr val="EAE7D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title"/>
          </p:nvPr>
        </p:nvSpPr>
        <p:spPr>
          <a:xfrm>
            <a:off x="311703" y="525575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  <p15:guide id="2" orient="horz" pos="964">
          <p15:clr>
            <a:srgbClr val="E46962"/>
          </p15:clr>
        </p15:guide>
        <p15:guide id="3" pos="17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2">
  <p:cSld name="DEFAULT_3">
    <p:bg>
      <p:bgPr>
        <a:solidFill>
          <a:srgbClr val="EAE7DC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99300" y="1431150"/>
            <a:ext cx="8345400" cy="22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1">
  <p:cSld name="DEFAULT_4">
    <p:bg>
      <p:bgPr>
        <a:solidFill>
          <a:srgbClr val="EAE7DC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3">
  <p:cSld name="DEFAULT_5">
    <p:bg>
      <p:bgPr>
        <a:solidFill>
          <a:srgbClr val="EAE7D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4">
  <p:cSld name="DEFAULT_6">
    <p:bg>
      <p:bgPr>
        <a:solidFill>
          <a:srgbClr val="EAE7D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5">
  <p:cSld name="DEFAULT_7">
    <p:bg>
      <p:bgPr>
        <a:solidFill>
          <a:srgbClr val="EAE7DC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 con título 6">
  <p:cSld name="DEFAULT_8">
    <p:bg>
      <p:bgPr>
        <a:solidFill>
          <a:srgbClr val="EAE7D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147103" y="338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Inter"/>
              <a:buNone/>
              <a:defRPr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AE7D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524700" y="4699575"/>
            <a:ext cx="1812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Think&amp;Hack by ainalluna.com</a:t>
            </a:r>
            <a:endParaRPr sz="800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 title="thinkhack_logo_alta-removebg-preview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59200" y="4699575"/>
            <a:ext cx="265500" cy="265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nalluna.com/" TargetMode="External"/><Relationship Id="rId5" Type="http://schemas.openxmlformats.org/officeDocument/2006/relationships/hyperlink" Target="https://ainalluna.substack.com/" TargetMode="External"/><Relationship Id="rId4" Type="http://schemas.openxmlformats.org/officeDocument/2006/relationships/hyperlink" Target="https://www.linkedin.com/in/ainataylo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6vhVGY8Yf9FQ8qv-nFxn_hXr8-_k03tt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engineering/building-effective-agents" TargetMode="External"/><Relationship Id="rId3" Type="http://schemas.openxmlformats.org/officeDocument/2006/relationships/hyperlink" Target="https://www.tiktok.com/@pipoelnaufragoo" TargetMode="External"/><Relationship Id="rId7" Type="http://schemas.openxmlformats.org/officeDocument/2006/relationships/hyperlink" Target="https://agentskills.io/specification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eoutopico/sistema-editorial-agentico" TargetMode="External"/><Relationship Id="rId5" Type="http://schemas.openxmlformats.org/officeDocument/2006/relationships/hyperlink" Target="https://github.com/seoutopico/claude_skills/blob/master/browser-console-automation/ejemplos/ejemplo-radar-ideas-ThinkHack.md" TargetMode="External"/><Relationship Id="rId4" Type="http://schemas.openxmlformats.org/officeDocument/2006/relationships/hyperlink" Target="https://github.com/seoutopico/ai-entity-gap-seo" TargetMode="External"/><Relationship Id="rId9" Type="http://schemas.openxmlformats.org/officeDocument/2006/relationships/hyperlink" Target="https://www.anthropic.com/engineering/effective-harnesses-for-long-running-agent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inataylor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inalluna.com/" TargetMode="External"/><Relationship Id="rId4" Type="http://schemas.openxmlformats.org/officeDocument/2006/relationships/hyperlink" Target="https://ainalluna.substack.co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inataylor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ainalluna.com/" TargetMode="External"/><Relationship Id="rId4" Type="http://schemas.openxmlformats.org/officeDocument/2006/relationships/hyperlink" Target="https://ainalluna.substac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3"/>
          <p:cNvGrpSpPr/>
          <p:nvPr/>
        </p:nvGrpSpPr>
        <p:grpSpPr>
          <a:xfrm>
            <a:off x="232198" y="1086363"/>
            <a:ext cx="8679605" cy="2970775"/>
            <a:chOff x="140445" y="358900"/>
            <a:chExt cx="8679605" cy="2970775"/>
          </a:xfrm>
        </p:grpSpPr>
        <p:sp>
          <p:nvSpPr>
            <p:cNvPr id="56" name="Google Shape;56;p23"/>
            <p:cNvSpPr txBox="1"/>
            <p:nvPr/>
          </p:nvSpPr>
          <p:spPr>
            <a:xfrm>
              <a:off x="140450" y="358900"/>
              <a:ext cx="8679600" cy="7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58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De chat a </a:t>
              </a:r>
              <a:r>
                <a:rPr lang="es" sz="5800" b="1">
                  <a:solidFill>
                    <a:schemeClr val="lt1"/>
                  </a:solidFill>
                  <a:highlight>
                    <a:srgbClr val="FD6534"/>
                  </a:highlight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lang="es" sz="58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5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" name="Google Shape;57;p23"/>
            <p:cNvSpPr txBox="1"/>
            <p:nvPr/>
          </p:nvSpPr>
          <p:spPr>
            <a:xfrm>
              <a:off x="270000" y="2867975"/>
              <a:ext cx="855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s" sz="18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ConIA - Madrid - 17 octubre 2026</a:t>
              </a:r>
              <a:endParaRPr sz="100" b="1"/>
            </a:p>
          </p:txBody>
        </p:sp>
        <p:sp>
          <p:nvSpPr>
            <p:cNvPr id="58" name="Google Shape;58;p23"/>
            <p:cNvSpPr txBox="1"/>
            <p:nvPr/>
          </p:nvSpPr>
          <p:spPr>
            <a:xfrm>
              <a:off x="140445" y="1333238"/>
              <a:ext cx="8679600" cy="13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Las skills convierten la </a:t>
              </a:r>
              <a:r>
                <a:rPr lang="es" sz="35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IA</a:t>
              </a: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en tu equipo de marketing</a:t>
              </a:r>
              <a:endParaRPr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/>
        </p:nvSpPr>
        <p:spPr>
          <a:xfrm>
            <a:off x="269875" y="1423069"/>
            <a:ext cx="3723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2379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Head of Generative AI</a:t>
            </a:r>
            <a:r>
              <a:rPr lang="es" sz="1870">
                <a:solidFill>
                  <a:schemeClr val="dk1"/>
                </a:solidFill>
              </a:rPr>
              <a:t> </a:t>
            </a:r>
            <a:r>
              <a:rPr lang="es" sz="2379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 Editorial Planeta</a:t>
            </a:r>
            <a:endParaRPr sz="176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770">
              <a:solidFill>
                <a:schemeClr val="dk1"/>
              </a:solidFill>
            </a:endParaRPr>
          </a:p>
        </p:txBody>
      </p:sp>
      <p:pic>
        <p:nvPicPr>
          <p:cNvPr id="64" name="Google Shape;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200" y="1473300"/>
            <a:ext cx="2012650" cy="2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4"/>
          <p:cNvSpPr txBox="1"/>
          <p:nvPr/>
        </p:nvSpPr>
        <p:spPr>
          <a:xfrm>
            <a:off x="270000" y="2791431"/>
            <a:ext cx="56229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5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Creo sistemas de IA aplicados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25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 procesos. Y escribo Think&amp;Hack.</a:t>
            </a:r>
            <a:endParaRPr/>
          </a:p>
        </p:txBody>
      </p:sp>
      <p:sp>
        <p:nvSpPr>
          <p:cNvPr id="66" name="Google Shape;66;p24"/>
          <p:cNvSpPr txBox="1"/>
          <p:nvPr/>
        </p:nvSpPr>
        <p:spPr>
          <a:xfrm>
            <a:off x="269875" y="374140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https://www.linkedin.com/in/ainataylor/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https://ainalluna.substack.com/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https://ainalluna.com/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7" name="Google Shape;67;p24"/>
          <p:cNvSpPr txBox="1"/>
          <p:nvPr/>
        </p:nvSpPr>
        <p:spPr>
          <a:xfrm>
            <a:off x="269875" y="664500"/>
            <a:ext cx="60879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808" b="1">
                <a:solidFill>
                  <a:schemeClr val="dk1"/>
                </a:solidFill>
              </a:rPr>
              <a:t>Aina-Lluna Taylor Barceló </a:t>
            </a:r>
            <a:endParaRPr sz="290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63" y="219850"/>
            <a:ext cx="2714625" cy="381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3" name="Google Shape;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402" y="0"/>
            <a:ext cx="511372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5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TikTok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35K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5"/>
          <p:cNvSpPr txBox="1"/>
          <p:nvPr/>
        </p:nvSpPr>
        <p:spPr>
          <a:xfrm>
            <a:off x="270000" y="2395100"/>
            <a:ext cx="3750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Cuentas virales en redes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sociales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DC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Análisis de 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entidades SEO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6"/>
          <p:cNvSpPr txBox="1"/>
          <p:nvPr/>
        </p:nvSpPr>
        <p:spPr>
          <a:xfrm>
            <a:off x="270000" y="2395100"/>
            <a:ext cx="56439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Detector de oportunidades de posicionamiento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pic>
        <p:nvPicPr>
          <p:cNvPr id="82" name="Google Shape;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0" y="3067077"/>
            <a:ext cx="3452798" cy="1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D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7" title="analisis_de_oportunidad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725" y="0"/>
            <a:ext cx="46752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/>
        </p:nvSpPr>
        <p:spPr>
          <a:xfrm>
            <a:off x="269878" y="552000"/>
            <a:ext cx="85785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Radar de 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ideas</a:t>
            </a:r>
            <a:endParaRPr sz="56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27"/>
          <p:cNvSpPr txBox="1"/>
          <p:nvPr/>
        </p:nvSpPr>
        <p:spPr>
          <a:xfrm>
            <a:off x="270000" y="2395100"/>
            <a:ext cx="48255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Análisis de oportunidades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/>
          <p:nvPr/>
        </p:nvSpPr>
        <p:spPr>
          <a:xfrm>
            <a:off x="238125" y="775150"/>
            <a:ext cx="500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Pipo, SEO y Radar de ideas</a:t>
            </a:r>
            <a:endParaRPr/>
          </a:p>
        </p:txBody>
      </p:sp>
      <p:sp>
        <p:nvSpPr>
          <p:cNvPr id="95" name="Google Shape;95;p28"/>
          <p:cNvSpPr txBox="1"/>
          <p:nvPr/>
        </p:nvSpPr>
        <p:spPr>
          <a:xfrm>
            <a:off x="297000" y="1519650"/>
            <a:ext cx="8550000" cy="22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6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¿Qué tiene que ver un náufrago y el SEO?</a:t>
            </a:r>
            <a:endParaRPr sz="6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9" title="fondador_v5-ezgif.com-video-to-gif-converter.gif"/>
          <p:cNvPicPr preferRelativeResize="0"/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-14687" y="0"/>
            <a:ext cx="91733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9"/>
          <p:cNvSpPr txBox="1"/>
          <p:nvPr/>
        </p:nvSpPr>
        <p:spPr>
          <a:xfrm>
            <a:off x="255313" y="704700"/>
            <a:ext cx="4343100" cy="3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1"/>
                </a:solidFill>
              </a:rPr>
              <a:t>Tres proyectos diferentes.</a:t>
            </a:r>
            <a:endParaRPr sz="17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1"/>
                </a:solidFill>
              </a:rPr>
              <a:t>Una misma forma de trabajar: convertir conocimiento y procesos en capacidades que la IA puede ejecutar.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Vamos a aprender a</a:t>
            </a:r>
            <a:r>
              <a:rPr lang="es" sz="2400">
                <a:solidFill>
                  <a:schemeClr val="lt1"/>
                </a:solidFill>
              </a:rPr>
              <a:t> 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diseñar procesos</a:t>
            </a:r>
            <a:r>
              <a:rPr lang="es" sz="2400">
                <a:solidFill>
                  <a:schemeClr val="dk1"/>
                </a:solidFill>
              </a:rPr>
              <a:t> donde la IA trabaja 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con Agentes y </a:t>
            </a:r>
            <a:r>
              <a:rPr lang="es" sz="2800" b="1">
                <a:solidFill>
                  <a:schemeClr val="lt1"/>
                </a:solidFill>
                <a:highlight>
                  <a:srgbClr val="FD6534"/>
                </a:highlight>
              </a:rPr>
              <a:t>Skills</a:t>
            </a:r>
            <a:r>
              <a:rPr lang="es" sz="2400">
                <a:solidFill>
                  <a:schemeClr val="lt1"/>
                </a:solidFill>
                <a:highlight>
                  <a:srgbClr val="FD6534"/>
                </a:highlight>
              </a:rPr>
              <a:t>.</a:t>
            </a:r>
            <a:endParaRPr sz="2400">
              <a:solidFill>
                <a:schemeClr val="lt1"/>
              </a:solidFill>
              <a:highlight>
                <a:srgbClr val="FD6534"/>
              </a:highlight>
            </a:endParaRPr>
          </a:p>
        </p:txBody>
      </p:sp>
      <p:sp>
        <p:nvSpPr>
          <p:cNvPr id="102" name="Google Shape;102;p29"/>
          <p:cNvSpPr txBox="1"/>
          <p:nvPr/>
        </p:nvSpPr>
        <p:spPr>
          <a:xfrm>
            <a:off x="6566250" y="4365400"/>
            <a:ext cx="2347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Escena película: El fundador </a:t>
            </a:r>
            <a:r>
              <a:rPr lang="es" sz="9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0"/>
          <p:cNvGrpSpPr/>
          <p:nvPr/>
        </p:nvGrpSpPr>
        <p:grpSpPr>
          <a:xfrm>
            <a:off x="278975" y="1413029"/>
            <a:ext cx="8541005" cy="2317443"/>
            <a:chOff x="113223" y="2691"/>
            <a:chExt cx="8541005" cy="2317443"/>
          </a:xfrm>
        </p:grpSpPr>
        <p:sp>
          <p:nvSpPr>
            <p:cNvPr id="108" name="Google Shape;108;p30"/>
            <p:cNvSpPr txBox="1"/>
            <p:nvPr/>
          </p:nvSpPr>
          <p:spPr>
            <a:xfrm>
              <a:off x="113227" y="2691"/>
              <a:ext cx="8541000" cy="78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58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De chat a </a:t>
              </a:r>
              <a:r>
                <a:rPr lang="es" sz="5800" b="1">
                  <a:solidFill>
                    <a:schemeClr val="lt1"/>
                  </a:solidFill>
                  <a:highlight>
                    <a:srgbClr val="FD6534"/>
                  </a:highlight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lang="es" sz="58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58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9" name="Google Shape;109;p30"/>
            <p:cNvSpPr txBox="1"/>
            <p:nvPr/>
          </p:nvSpPr>
          <p:spPr>
            <a:xfrm>
              <a:off x="113223" y="977034"/>
              <a:ext cx="8541000" cy="13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Las skills convierten la </a:t>
              </a:r>
              <a:r>
                <a:rPr lang="es" sz="3500" b="1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IA</a:t>
              </a:r>
              <a:r>
                <a:rPr lang="es" sz="3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en tu equipo de marketing</a:t>
              </a:r>
              <a:endParaRPr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7DC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/>
        </p:nvSpPr>
        <p:spPr>
          <a:xfrm>
            <a:off x="257050" y="361975"/>
            <a:ext cx="85629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" sz="5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El método Think&amp;Hack</a:t>
            </a:r>
            <a:endParaRPr sz="57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method_n_0">
            <a:extLst>
              <a:ext uri="{FF2B5EF4-FFF2-40B4-BE49-F238E27FC236}">
                <a16:creationId xmlns:a16="http://schemas.microsoft.com/office/drawing/2014/main" id="{84E980A0-AE80-4AD2-7722-F4F8B18E5FA7}"/>
              </a:ext>
            </a:extLst>
          </p:cNvPr>
          <p:cNvSpPr txBox="1"/>
          <p:nvPr/>
        </p:nvSpPr>
        <p:spPr>
          <a:xfrm>
            <a:off x="304800" y="1689099"/>
            <a:ext cx="24892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00" b="1">
                <a:solidFill>
                  <a:srgbClr val="FD6534"/>
                </a:solidFill>
                <a:latin typeface="Inter" panose="02000503000000020004" pitchFamily="2" charset="0"/>
              </a:rPr>
              <a:t>01</a:t>
            </a:r>
          </a:p>
        </p:txBody>
      </p:sp>
      <p:sp>
        <p:nvSpPr>
          <p:cNvPr id="3" name="method_h_0">
            <a:extLst>
              <a:ext uri="{FF2B5EF4-FFF2-40B4-BE49-F238E27FC236}">
                <a16:creationId xmlns:a16="http://schemas.microsoft.com/office/drawing/2014/main" id="{79A23F9F-AAD5-4861-58AD-D5BFDF1772E8}"/>
              </a:ext>
            </a:extLst>
          </p:cNvPr>
          <p:cNvSpPr txBox="1"/>
          <p:nvPr/>
        </p:nvSpPr>
        <p:spPr>
          <a:xfrm>
            <a:off x="304800" y="2413000"/>
            <a:ext cx="2489200" cy="5461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Objetivo</a:t>
            </a:r>
          </a:p>
        </p:txBody>
      </p:sp>
      <p:sp>
        <p:nvSpPr>
          <p:cNvPr id="4" name="method_b_0">
            <a:extLst>
              <a:ext uri="{FF2B5EF4-FFF2-40B4-BE49-F238E27FC236}">
                <a16:creationId xmlns:a16="http://schemas.microsoft.com/office/drawing/2014/main" id="{721196B9-3104-76F9-7452-62D40A79ABBA}"/>
              </a:ext>
            </a:extLst>
          </p:cNvPr>
          <p:cNvSpPr txBox="1"/>
          <p:nvPr/>
        </p:nvSpPr>
        <p:spPr>
          <a:xfrm>
            <a:off x="304800" y="3162299"/>
            <a:ext cx="2489200" cy="1143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Qué queremos conseguir.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9F1BB5-013A-DD95-AB3F-9BA036617CD9}"/>
              </a:ext>
            </a:extLst>
          </p:cNvPr>
          <p:cNvCxnSpPr/>
          <p:nvPr/>
        </p:nvCxnSpPr>
        <p:spPr>
          <a:xfrm>
            <a:off x="2794000" y="2616200"/>
            <a:ext cx="406400" cy="0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hod_n_1">
            <a:extLst>
              <a:ext uri="{FF2B5EF4-FFF2-40B4-BE49-F238E27FC236}">
                <a16:creationId xmlns:a16="http://schemas.microsoft.com/office/drawing/2014/main" id="{01F3CDDD-26F8-2C84-3A31-B173B83044EF}"/>
              </a:ext>
            </a:extLst>
          </p:cNvPr>
          <p:cNvSpPr txBox="1"/>
          <p:nvPr/>
        </p:nvSpPr>
        <p:spPr>
          <a:xfrm>
            <a:off x="3352800" y="1689099"/>
            <a:ext cx="24892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00" b="1">
                <a:solidFill>
                  <a:srgbClr val="FD6534"/>
                </a:solidFill>
                <a:latin typeface="Inter" panose="02000503000000020004" pitchFamily="2" charset="0"/>
              </a:rPr>
              <a:t>02</a:t>
            </a:r>
          </a:p>
        </p:txBody>
      </p:sp>
      <p:sp>
        <p:nvSpPr>
          <p:cNvPr id="7" name="method_h_1">
            <a:extLst>
              <a:ext uri="{FF2B5EF4-FFF2-40B4-BE49-F238E27FC236}">
                <a16:creationId xmlns:a16="http://schemas.microsoft.com/office/drawing/2014/main" id="{52F65F7D-7A22-61A7-E942-82D7F2FAF186}"/>
              </a:ext>
            </a:extLst>
          </p:cNvPr>
          <p:cNvSpPr txBox="1"/>
          <p:nvPr/>
        </p:nvSpPr>
        <p:spPr>
          <a:xfrm>
            <a:off x="3352800" y="2413000"/>
            <a:ext cx="2489200" cy="5461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Proceso</a:t>
            </a:r>
          </a:p>
        </p:txBody>
      </p:sp>
      <p:sp>
        <p:nvSpPr>
          <p:cNvPr id="8" name="method_b_1">
            <a:extLst>
              <a:ext uri="{FF2B5EF4-FFF2-40B4-BE49-F238E27FC236}">
                <a16:creationId xmlns:a16="http://schemas.microsoft.com/office/drawing/2014/main" id="{1FABADF1-3B53-3BC8-D1A3-2F843B9DC6CA}"/>
              </a:ext>
            </a:extLst>
          </p:cNvPr>
          <p:cNvSpPr txBox="1"/>
          <p:nvPr/>
        </p:nvSpPr>
        <p:spPr>
          <a:xfrm>
            <a:off x="3352800" y="3162300"/>
            <a:ext cx="2489200" cy="1143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Qué pasos y decisiones hacen falta.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8AC2D7-A7A0-2480-60ED-94DD053024A2}"/>
              </a:ext>
            </a:extLst>
          </p:cNvPr>
          <p:cNvCxnSpPr/>
          <p:nvPr/>
        </p:nvCxnSpPr>
        <p:spPr>
          <a:xfrm>
            <a:off x="5842000" y="2616200"/>
            <a:ext cx="406400" cy="0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ethod_n_2">
            <a:extLst>
              <a:ext uri="{FF2B5EF4-FFF2-40B4-BE49-F238E27FC236}">
                <a16:creationId xmlns:a16="http://schemas.microsoft.com/office/drawing/2014/main" id="{FCB6DD2C-CFA7-C6B2-4203-D14D419CC992}"/>
              </a:ext>
            </a:extLst>
          </p:cNvPr>
          <p:cNvSpPr txBox="1"/>
          <p:nvPr/>
        </p:nvSpPr>
        <p:spPr>
          <a:xfrm>
            <a:off x="6400800" y="1689099"/>
            <a:ext cx="24892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800" b="1">
                <a:solidFill>
                  <a:srgbClr val="FD6534"/>
                </a:solidFill>
                <a:latin typeface="Inter" panose="02000503000000020004" pitchFamily="2" charset="0"/>
              </a:rPr>
              <a:t>03</a:t>
            </a:r>
          </a:p>
        </p:txBody>
      </p:sp>
      <p:sp>
        <p:nvSpPr>
          <p:cNvPr id="11" name="method_h_2">
            <a:extLst>
              <a:ext uri="{FF2B5EF4-FFF2-40B4-BE49-F238E27FC236}">
                <a16:creationId xmlns:a16="http://schemas.microsoft.com/office/drawing/2014/main" id="{0272FDAB-FF0B-6F1B-2391-DD3634B7137A}"/>
              </a:ext>
            </a:extLst>
          </p:cNvPr>
          <p:cNvSpPr txBox="1"/>
          <p:nvPr/>
        </p:nvSpPr>
        <p:spPr>
          <a:xfrm>
            <a:off x="6400800" y="2413000"/>
            <a:ext cx="2489200" cy="5461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Tecnología</a:t>
            </a:r>
          </a:p>
        </p:txBody>
      </p:sp>
      <p:sp>
        <p:nvSpPr>
          <p:cNvPr id="12" name="method_b_2">
            <a:extLst>
              <a:ext uri="{FF2B5EF4-FFF2-40B4-BE49-F238E27FC236}">
                <a16:creationId xmlns:a16="http://schemas.microsoft.com/office/drawing/2014/main" id="{611C0FBA-7007-D5D6-9E15-5FA55739F21D}"/>
              </a:ext>
            </a:extLst>
          </p:cNvPr>
          <p:cNvSpPr txBox="1"/>
          <p:nvPr/>
        </p:nvSpPr>
        <p:spPr>
          <a:xfrm>
            <a:off x="6400800" y="3162300"/>
            <a:ext cx="2489200" cy="1143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Con qué ejecutamos y comprobamos cada paso.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/>
        </p:nvSpPr>
        <p:spPr>
          <a:xfrm>
            <a:off x="304800" y="914399"/>
            <a:ext cx="8534400" cy="106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2400"/>
              </a:spcBef>
              <a:buNone/>
            </a:pPr>
            <a:r>
              <a:rPr lang="es" sz="2300" b="1">
                <a:solidFill>
                  <a:schemeClr val="dk1"/>
                </a:solidFill>
              </a:rPr>
              <a:t>Crear contenido para Think&amp;Hack a partir de oportunidades reales</a:t>
            </a:r>
            <a:endParaRPr sz="3000" b="1"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p32"/>
          <p:cNvGraphicFramePr/>
          <p:nvPr/>
        </p:nvGraphicFramePr>
        <p:xfrm>
          <a:off x="270000" y="37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{62EE3193-8D45-4A5B-88C0-FDBB99C5EF04}</a:tableStyleId>
              </a:tblPr>
              <a:tblGrid>
                <a:gridCol w="8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D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01. Definir el objetivo</a:t>
                      </a:r>
                      <a:endParaRPr>
                        <a:solidFill>
                          <a:srgbClr val="FD653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F293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293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" name="Google Shape;122;p32"/>
          <p:cNvSpPr txBox="1">
            <a:spLocks/>
          </p:cNvSpPr>
          <p:nvPr/>
        </p:nvSpPr>
        <p:spPr>
          <a:xfrm>
            <a:off x="304800" y="2057400"/>
            <a:ext cx="8255000" cy="2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200">
                <a:solidFill>
                  <a:srgbClr val="1F2937"/>
                </a:solidFill>
                <a:latin typeface="Arial" panose="020B0604020202020204" pitchFamily="34" charset="0"/>
              </a:rPr>
              <a:t>Analizar lo que ya hemos publicado, descubrir temas interesantes que todavía no hemos tratado, investigar con fuentes fiables y preparar contenidos para nuestros canales.</a:t>
            </a:r>
          </a:p>
          <a:p>
            <a:pPr lvl="0" rtl="0">
              <a:lnSpc>
                <a:spcPct val="115000"/>
              </a:lnSpc>
              <a:spcAft>
                <a:spcPts val="800"/>
              </a:spcAft>
            </a:pPr>
            <a:endParaRPr lang="es-ES" sz="2200">
              <a:solidFill>
                <a:srgbClr val="1F2937"/>
              </a:solidFill>
              <a:latin typeface="Arial" panose="020B0604020202020204" pitchFamily="34" charset="0"/>
            </a:endParaRPr>
          </a:p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200" b="1">
                <a:solidFill>
                  <a:srgbClr val="1F2937"/>
                </a:solidFill>
                <a:latin typeface="Arial" panose="020B0604020202020204" pitchFamily="34" charset="0"/>
              </a:rPr>
              <a:t>Y que cada nuevo contenido aproveche lo que ya sabemos.</a:t>
            </a:r>
            <a:endParaRPr sz="2200" b="1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4400" b="1">
                <a:solidFill>
                  <a:srgbClr val="1F2937"/>
                </a:solidFill>
                <a:latin typeface="Inter" panose="02000503000000020004" pitchFamily="2" charset="0"/>
              </a:rPr>
              <a:t>El proceso editorial</a:t>
            </a:r>
            <a:endParaRPr sz="44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proc_num_0">
            <a:extLst>
              <a:ext uri="{FF2B5EF4-FFF2-40B4-BE49-F238E27FC236}">
                <a16:creationId xmlns:a16="http://schemas.microsoft.com/office/drawing/2014/main" id="{AAAD21FE-20DC-8DB7-6EA3-1674BAB846FE}"/>
              </a:ext>
            </a:extLst>
          </p:cNvPr>
          <p:cNvSpPr txBox="1">
            <a:spLocks/>
          </p:cNvSpPr>
          <p:nvPr/>
        </p:nvSpPr>
        <p:spPr>
          <a:xfrm>
            <a:off x="304800" y="1574800"/>
            <a:ext cx="1422400" cy="5249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3200" b="1">
                <a:solidFill>
                  <a:srgbClr val="FD6534"/>
                </a:solidFill>
                <a:latin typeface="Inter" panose="02000503000000020004" pitchFamily="2" charset="0"/>
              </a:rPr>
              <a:t>01</a:t>
            </a:r>
          </a:p>
        </p:txBody>
      </p:sp>
      <p:sp>
        <p:nvSpPr>
          <p:cNvPr id="3" name="c26_proc_label_0">
            <a:extLst>
              <a:ext uri="{FF2B5EF4-FFF2-40B4-BE49-F238E27FC236}">
                <a16:creationId xmlns:a16="http://schemas.microsoft.com/office/drawing/2014/main" id="{73C58224-9429-3EA4-64E7-78C2D7DBA301}"/>
              </a:ext>
            </a:extLst>
          </p:cNvPr>
          <p:cNvSpPr txBox="1">
            <a:spLocks/>
          </p:cNvSpPr>
          <p:nvPr/>
        </p:nvSpPr>
        <p:spPr>
          <a:xfrm>
            <a:off x="304800" y="2298700"/>
            <a:ext cx="1676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Revisar</a:t>
            </a:r>
          </a:p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lo publicado</a:t>
            </a:r>
          </a:p>
        </p:txBody>
      </p:sp>
      <p:cxnSp>
        <p:nvCxnSpPr>
          <p:cNvPr id="4" name="c26_line_1">
            <a:extLst>
              <a:ext uri="{FF2B5EF4-FFF2-40B4-BE49-F238E27FC236}">
                <a16:creationId xmlns:a16="http://schemas.microsoft.com/office/drawing/2014/main" id="{535D0BD5-4778-45A6-D2DD-015F94D59BC5}"/>
              </a:ext>
            </a:extLst>
          </p:cNvPr>
          <p:cNvCxnSpPr/>
          <p:nvPr/>
        </p:nvCxnSpPr>
        <p:spPr>
          <a:xfrm>
            <a:off x="1803400" y="19050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26_proc_num_1">
            <a:extLst>
              <a:ext uri="{FF2B5EF4-FFF2-40B4-BE49-F238E27FC236}">
                <a16:creationId xmlns:a16="http://schemas.microsoft.com/office/drawing/2014/main" id="{668CC8C7-87FD-F498-38DD-04332C616A44}"/>
              </a:ext>
            </a:extLst>
          </p:cNvPr>
          <p:cNvSpPr txBox="1">
            <a:spLocks/>
          </p:cNvSpPr>
          <p:nvPr/>
        </p:nvSpPr>
        <p:spPr>
          <a:xfrm>
            <a:off x="2082800" y="1574800"/>
            <a:ext cx="1422400" cy="5249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3200" b="1">
                <a:solidFill>
                  <a:srgbClr val="FD6534"/>
                </a:solidFill>
                <a:latin typeface="Inter" panose="02000503000000020004" pitchFamily="2" charset="0"/>
              </a:rPr>
              <a:t>02</a:t>
            </a:r>
          </a:p>
        </p:txBody>
      </p:sp>
      <p:sp>
        <p:nvSpPr>
          <p:cNvPr id="6" name="c26_proc_label_1">
            <a:extLst>
              <a:ext uri="{FF2B5EF4-FFF2-40B4-BE49-F238E27FC236}">
                <a16:creationId xmlns:a16="http://schemas.microsoft.com/office/drawing/2014/main" id="{1E0AA6E8-AFA3-6F25-B4A8-8AD5640139BC}"/>
              </a:ext>
            </a:extLst>
          </p:cNvPr>
          <p:cNvSpPr txBox="1">
            <a:spLocks/>
          </p:cNvSpPr>
          <p:nvPr/>
        </p:nvSpPr>
        <p:spPr>
          <a:xfrm>
            <a:off x="2082800" y="2298700"/>
            <a:ext cx="1676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Encontrar</a:t>
            </a:r>
          </a:p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oportunidades</a:t>
            </a:r>
          </a:p>
        </p:txBody>
      </p:sp>
      <p:cxnSp>
        <p:nvCxnSpPr>
          <p:cNvPr id="7" name="c26_line_2">
            <a:extLst>
              <a:ext uri="{FF2B5EF4-FFF2-40B4-BE49-F238E27FC236}">
                <a16:creationId xmlns:a16="http://schemas.microsoft.com/office/drawing/2014/main" id="{BEE4C99D-F426-7289-0C5A-E02609122007}"/>
              </a:ext>
            </a:extLst>
          </p:cNvPr>
          <p:cNvCxnSpPr/>
          <p:nvPr/>
        </p:nvCxnSpPr>
        <p:spPr>
          <a:xfrm>
            <a:off x="3581400" y="19050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26_proc_num_2">
            <a:extLst>
              <a:ext uri="{FF2B5EF4-FFF2-40B4-BE49-F238E27FC236}">
                <a16:creationId xmlns:a16="http://schemas.microsoft.com/office/drawing/2014/main" id="{D0EC79CD-3618-9CE7-753E-8E31057E275A}"/>
              </a:ext>
            </a:extLst>
          </p:cNvPr>
          <p:cNvSpPr txBox="1">
            <a:spLocks/>
          </p:cNvSpPr>
          <p:nvPr/>
        </p:nvSpPr>
        <p:spPr>
          <a:xfrm>
            <a:off x="3860800" y="1574800"/>
            <a:ext cx="1422400" cy="5249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3200" b="1">
                <a:solidFill>
                  <a:srgbClr val="FD6534"/>
                </a:solidFill>
                <a:latin typeface="Inter" panose="02000503000000020004" pitchFamily="2" charset="0"/>
              </a:rPr>
              <a:t>03</a:t>
            </a:r>
          </a:p>
        </p:txBody>
      </p:sp>
      <p:sp>
        <p:nvSpPr>
          <p:cNvPr id="9" name="c26_proc_label_2">
            <a:extLst>
              <a:ext uri="{FF2B5EF4-FFF2-40B4-BE49-F238E27FC236}">
                <a16:creationId xmlns:a16="http://schemas.microsoft.com/office/drawing/2014/main" id="{57BF0028-DBBE-1417-B05E-853A7B2E8DF8}"/>
              </a:ext>
            </a:extLst>
          </p:cNvPr>
          <p:cNvSpPr txBox="1">
            <a:spLocks/>
          </p:cNvSpPr>
          <p:nvPr/>
        </p:nvSpPr>
        <p:spPr>
          <a:xfrm>
            <a:off x="3860800" y="2298700"/>
            <a:ext cx="1676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Investigar y</a:t>
            </a:r>
          </a:p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desarrollar</a:t>
            </a:r>
          </a:p>
        </p:txBody>
      </p:sp>
      <p:cxnSp>
        <p:nvCxnSpPr>
          <p:cNvPr id="10" name="c26_line_3">
            <a:extLst>
              <a:ext uri="{FF2B5EF4-FFF2-40B4-BE49-F238E27FC236}">
                <a16:creationId xmlns:a16="http://schemas.microsoft.com/office/drawing/2014/main" id="{1436E7B0-AD96-E64B-CACD-C28CA13B4D12}"/>
              </a:ext>
            </a:extLst>
          </p:cNvPr>
          <p:cNvCxnSpPr/>
          <p:nvPr/>
        </p:nvCxnSpPr>
        <p:spPr>
          <a:xfrm>
            <a:off x="5359400" y="19050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26_proc_num_3">
            <a:extLst>
              <a:ext uri="{FF2B5EF4-FFF2-40B4-BE49-F238E27FC236}">
                <a16:creationId xmlns:a16="http://schemas.microsoft.com/office/drawing/2014/main" id="{F674F3DC-0818-D752-07F9-D8A84C52CA7E}"/>
              </a:ext>
            </a:extLst>
          </p:cNvPr>
          <p:cNvSpPr txBox="1">
            <a:spLocks/>
          </p:cNvSpPr>
          <p:nvPr/>
        </p:nvSpPr>
        <p:spPr>
          <a:xfrm>
            <a:off x="5638800" y="1574800"/>
            <a:ext cx="1422400" cy="5249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3200" b="1">
                <a:solidFill>
                  <a:srgbClr val="FD6534"/>
                </a:solidFill>
                <a:latin typeface="Inter" panose="02000503000000020004" pitchFamily="2" charset="0"/>
              </a:rPr>
              <a:t>04</a:t>
            </a:r>
          </a:p>
        </p:txBody>
      </p:sp>
      <p:sp>
        <p:nvSpPr>
          <p:cNvPr id="12" name="c26_proc_label_3">
            <a:extLst>
              <a:ext uri="{FF2B5EF4-FFF2-40B4-BE49-F238E27FC236}">
                <a16:creationId xmlns:a16="http://schemas.microsoft.com/office/drawing/2014/main" id="{EBE8DF50-88E9-2EA2-75A2-DF9B436E0C9B}"/>
              </a:ext>
            </a:extLst>
          </p:cNvPr>
          <p:cNvSpPr txBox="1">
            <a:spLocks/>
          </p:cNvSpPr>
          <p:nvPr/>
        </p:nvSpPr>
        <p:spPr>
          <a:xfrm>
            <a:off x="5638800" y="2298700"/>
            <a:ext cx="1676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Adaptar a</a:t>
            </a:r>
          </a:p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cada canal</a:t>
            </a:r>
          </a:p>
        </p:txBody>
      </p:sp>
      <p:cxnSp>
        <p:nvCxnSpPr>
          <p:cNvPr id="13" name="c26_line_4">
            <a:extLst>
              <a:ext uri="{FF2B5EF4-FFF2-40B4-BE49-F238E27FC236}">
                <a16:creationId xmlns:a16="http://schemas.microsoft.com/office/drawing/2014/main" id="{076FE10A-5383-B615-41C9-178AD5CC76FF}"/>
              </a:ext>
            </a:extLst>
          </p:cNvPr>
          <p:cNvCxnSpPr/>
          <p:nvPr/>
        </p:nvCxnSpPr>
        <p:spPr>
          <a:xfrm>
            <a:off x="7137400" y="19050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26_proc_num_4">
            <a:extLst>
              <a:ext uri="{FF2B5EF4-FFF2-40B4-BE49-F238E27FC236}">
                <a16:creationId xmlns:a16="http://schemas.microsoft.com/office/drawing/2014/main" id="{14431FDD-B3AA-5451-6AB3-DA5DF911EB30}"/>
              </a:ext>
            </a:extLst>
          </p:cNvPr>
          <p:cNvSpPr txBox="1">
            <a:spLocks/>
          </p:cNvSpPr>
          <p:nvPr/>
        </p:nvSpPr>
        <p:spPr>
          <a:xfrm>
            <a:off x="7416800" y="1574800"/>
            <a:ext cx="1422400" cy="5249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3200" b="1">
                <a:solidFill>
                  <a:srgbClr val="FD6534"/>
                </a:solidFill>
                <a:latin typeface="Inter" panose="02000503000000020004" pitchFamily="2" charset="0"/>
              </a:rPr>
              <a:t>05</a:t>
            </a:r>
          </a:p>
        </p:txBody>
      </p:sp>
      <p:sp>
        <p:nvSpPr>
          <p:cNvPr id="15" name="c26_proc_label_4">
            <a:extLst>
              <a:ext uri="{FF2B5EF4-FFF2-40B4-BE49-F238E27FC236}">
                <a16:creationId xmlns:a16="http://schemas.microsoft.com/office/drawing/2014/main" id="{BBE41529-6317-8051-D0D5-75AD6912F543}"/>
              </a:ext>
            </a:extLst>
          </p:cNvPr>
          <p:cNvSpPr txBox="1">
            <a:spLocks/>
          </p:cNvSpPr>
          <p:nvPr/>
        </p:nvSpPr>
        <p:spPr>
          <a:xfrm>
            <a:off x="7416800" y="2298700"/>
            <a:ext cx="1676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Aprovechar</a:t>
            </a:r>
          </a:p>
          <a:p>
            <a:pPr>
              <a:lnSpc>
                <a:spcPct val="110000"/>
              </a:lnSpc>
            </a:pPr>
            <a:r>
              <a:rPr lang="es-ES" sz="1750" b="1">
                <a:solidFill>
                  <a:srgbClr val="1F2937"/>
                </a:solidFill>
                <a:latin typeface="Inter" panose="02000503000000020004" pitchFamily="2" charset="0"/>
              </a:rPr>
              <a:t>lo aprendido</a:t>
            </a:r>
          </a:p>
        </p:txBody>
      </p:sp>
      <p:cxnSp>
        <p:nvCxnSpPr>
          <p:cNvPr id="16" name="c26_line_5">
            <a:extLst>
              <a:ext uri="{FF2B5EF4-FFF2-40B4-BE49-F238E27FC236}">
                <a16:creationId xmlns:a16="http://schemas.microsoft.com/office/drawing/2014/main" id="{A4282598-9DCA-AEE0-8C7A-05582B29CA46}"/>
              </a:ext>
            </a:extLst>
          </p:cNvPr>
          <p:cNvCxnSpPr/>
          <p:nvPr/>
        </p:nvCxnSpPr>
        <p:spPr>
          <a:xfrm>
            <a:off x="8153400" y="3213100"/>
            <a:ext cx="127" cy="495300"/>
          </a:xfrm>
          <a:prstGeom prst="line">
            <a:avLst/>
          </a:prstGeom>
          <a:ln w="19050">
            <a:solidFill>
              <a:srgbClr val="FD653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26_line_6">
            <a:extLst>
              <a:ext uri="{FF2B5EF4-FFF2-40B4-BE49-F238E27FC236}">
                <a16:creationId xmlns:a16="http://schemas.microsoft.com/office/drawing/2014/main" id="{8EEDFC1A-DADB-C1FC-61F0-B2410204FBE2}"/>
              </a:ext>
            </a:extLst>
          </p:cNvPr>
          <p:cNvCxnSpPr/>
          <p:nvPr/>
        </p:nvCxnSpPr>
        <p:spPr>
          <a:xfrm flipH="1">
            <a:off x="1016000" y="3708400"/>
            <a:ext cx="7137400" cy="127"/>
          </a:xfrm>
          <a:prstGeom prst="line">
            <a:avLst/>
          </a:prstGeom>
          <a:ln w="19050">
            <a:solidFill>
              <a:srgbClr val="FD653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26_line_7">
            <a:extLst>
              <a:ext uri="{FF2B5EF4-FFF2-40B4-BE49-F238E27FC236}">
                <a16:creationId xmlns:a16="http://schemas.microsoft.com/office/drawing/2014/main" id="{2AE6B627-2BC3-6FB5-4D90-93923F9B4317}"/>
              </a:ext>
            </a:extLst>
          </p:cNvPr>
          <p:cNvCxnSpPr/>
          <p:nvPr/>
        </p:nvCxnSpPr>
        <p:spPr>
          <a:xfrm flipV="1">
            <a:off x="1016000" y="3213100"/>
            <a:ext cx="127" cy="495300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26_proc_return">
            <a:extLst>
              <a:ext uri="{FF2B5EF4-FFF2-40B4-BE49-F238E27FC236}">
                <a16:creationId xmlns:a16="http://schemas.microsoft.com/office/drawing/2014/main" id="{90B1A6C2-2EA2-2AA3-7BDB-C841D2CDBD91}"/>
              </a:ext>
            </a:extLst>
          </p:cNvPr>
          <p:cNvSpPr txBox="1">
            <a:spLocks/>
          </p:cNvSpPr>
          <p:nvPr/>
        </p:nvSpPr>
        <p:spPr>
          <a:xfrm>
            <a:off x="736600" y="3987800"/>
            <a:ext cx="7747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Lo publicado y las correcciones alimentan la siguiente revisión.</a:t>
            </a:r>
          </a:p>
        </p:txBody>
      </p:sp>
    </p:spTree>
    <p:extLst>
      <p:ext uri="{BB962C8B-B14F-4D97-AF65-F5344CB8AC3E}">
        <p14:creationId xmlns:p14="http://schemas.microsoft.com/office/powerpoint/2010/main" val="378578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>
            <a:spLocks/>
          </p:cNvSpPr>
          <p:nvPr/>
        </p:nvSpPr>
        <p:spPr>
          <a:xfrm>
            <a:off x="304800" y="2019299"/>
            <a:ext cx="4089400" cy="160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Descargar artículos</a:t>
            </a:r>
          </a:p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Detectar duplicados y cambios</a:t>
            </a:r>
          </a:p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Ordenar por fecha</a:t>
            </a:r>
            <a:endParaRPr sz="2100">
              <a:solidFill>
                <a:srgbClr val="1F2937"/>
              </a:solidFill>
              <a:latin typeface="Inter" panose="02000503000000020004" pitchFamily="2" charset="0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4"/>
          <p:cNvSpPr txBox="1">
            <a:spLocks/>
          </p:cNvSpPr>
          <p:nvPr/>
        </p:nvSpPr>
        <p:spPr>
          <a:xfrm>
            <a:off x="304800" y="279400"/>
            <a:ext cx="8534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7200"/>
            </a:pPr>
            <a:r>
              <a:rPr lang="es-ES" sz="4000" b="1">
                <a:solidFill>
                  <a:srgbClr val="1F2937"/>
                </a:solidFill>
                <a:latin typeface="Inter" panose="02000503000000020004" pitchFamily="2" charset="0"/>
              </a:rPr>
              <a:t>Reglas y criterio editorial</a:t>
            </a:r>
            <a:endParaRPr sz="40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rules_left">
            <a:extLst>
              <a:ext uri="{FF2B5EF4-FFF2-40B4-BE49-F238E27FC236}">
                <a16:creationId xmlns:a16="http://schemas.microsoft.com/office/drawing/2014/main" id="{9FBE7565-3D85-C1AF-820E-ABFD42D67DB4}"/>
              </a:ext>
            </a:extLst>
          </p:cNvPr>
          <p:cNvSpPr txBox="1">
            <a:spLocks/>
          </p:cNvSpPr>
          <p:nvPr/>
        </p:nvSpPr>
        <p:spPr>
          <a:xfrm>
            <a:off x="304800" y="1422400"/>
            <a:ext cx="40640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 b="1">
                <a:solidFill>
                  <a:srgbClr val="FD6534"/>
                </a:solidFill>
                <a:latin typeface="Inter" panose="02000503000000020004" pitchFamily="2" charset="0"/>
              </a:rPr>
              <a:t>Operaciones con reglas</a:t>
            </a:r>
          </a:p>
        </p:txBody>
      </p:sp>
      <p:sp>
        <p:nvSpPr>
          <p:cNvPr id="3" name="c26_rules_right">
            <a:extLst>
              <a:ext uri="{FF2B5EF4-FFF2-40B4-BE49-F238E27FC236}">
                <a16:creationId xmlns:a16="http://schemas.microsoft.com/office/drawing/2014/main" id="{4DEC88BD-704E-CB65-1C03-20F63D7711D1}"/>
              </a:ext>
            </a:extLst>
          </p:cNvPr>
          <p:cNvSpPr txBox="1">
            <a:spLocks/>
          </p:cNvSpPr>
          <p:nvPr/>
        </p:nvSpPr>
        <p:spPr>
          <a:xfrm>
            <a:off x="4851400" y="1422400"/>
            <a:ext cx="39878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 b="1">
                <a:solidFill>
                  <a:srgbClr val="FD6534"/>
                </a:solidFill>
                <a:latin typeface="Inter" panose="02000503000000020004" pitchFamily="2" charset="0"/>
              </a:rPr>
              <a:t>Trabajo de interpretación</a:t>
            </a:r>
          </a:p>
        </p:txBody>
      </p:sp>
      <p:sp>
        <p:nvSpPr>
          <p:cNvPr id="4" name="c26_rules_judgment">
            <a:extLst>
              <a:ext uri="{FF2B5EF4-FFF2-40B4-BE49-F238E27FC236}">
                <a16:creationId xmlns:a16="http://schemas.microsoft.com/office/drawing/2014/main" id="{335EEC6D-855D-A36D-B188-9E8508BC02D3}"/>
              </a:ext>
            </a:extLst>
          </p:cNvPr>
          <p:cNvSpPr txBox="1">
            <a:spLocks/>
          </p:cNvSpPr>
          <p:nvPr/>
        </p:nvSpPr>
        <p:spPr>
          <a:xfrm>
            <a:off x="4851400" y="2019300"/>
            <a:ext cx="3987800" cy="1612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Identificar tema y enfoque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Entender la necesidad del lector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Valorar qué podemos aportar</a:t>
            </a:r>
          </a:p>
        </p:txBody>
      </p:sp>
      <p:cxnSp>
        <p:nvCxnSpPr>
          <p:cNvPr id="5" name="c26_line_8">
            <a:extLst>
              <a:ext uri="{FF2B5EF4-FFF2-40B4-BE49-F238E27FC236}">
                <a16:creationId xmlns:a16="http://schemas.microsoft.com/office/drawing/2014/main" id="{83AF80F9-B9DB-54EA-C0CC-8FD95BC700A4}"/>
              </a:ext>
            </a:extLst>
          </p:cNvPr>
          <p:cNvCxnSpPr/>
          <p:nvPr/>
        </p:nvCxnSpPr>
        <p:spPr>
          <a:xfrm>
            <a:off x="4584700" y="1460500"/>
            <a:ext cx="127" cy="2324100"/>
          </a:xfrm>
          <a:prstGeom prst="line">
            <a:avLst/>
          </a:prstGeom>
          <a:ln w="19050">
            <a:solidFill>
              <a:srgbClr val="B8B8B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26_rules_human">
            <a:extLst>
              <a:ext uri="{FF2B5EF4-FFF2-40B4-BE49-F238E27FC236}">
                <a16:creationId xmlns:a16="http://schemas.microsoft.com/office/drawing/2014/main" id="{2E280275-127D-E584-FADE-7277B934153A}"/>
              </a:ext>
            </a:extLst>
          </p:cNvPr>
          <p:cNvSpPr txBox="1">
            <a:spLocks/>
          </p:cNvSpPr>
          <p:nvPr/>
        </p:nvSpPr>
        <p:spPr>
          <a:xfrm>
            <a:off x="304800" y="4127499"/>
            <a:ext cx="85344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1F2937"/>
                </a:solidFill>
                <a:latin typeface="Inter" panose="02000503000000020004" pitchFamily="2" charset="0"/>
              </a:rPr>
              <a:t>La persona fija los criterios y aprueba las decisiones.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110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5600" b="1">
                <a:solidFill>
                  <a:srgbClr val="1F2937"/>
                </a:solidFill>
                <a:latin typeface="Inter" panose="02000503000000020004" pitchFamily="2" charset="0"/>
              </a:rPr>
              <a:t>La Skill</a:t>
            </a:r>
            <a:endParaRPr sz="56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skill_definition">
            <a:extLst>
              <a:ext uri="{FF2B5EF4-FFF2-40B4-BE49-F238E27FC236}">
                <a16:creationId xmlns:a16="http://schemas.microsoft.com/office/drawing/2014/main" id="{E903215D-A019-72EB-B9A7-9CF151D6CB5D}"/>
              </a:ext>
            </a:extLst>
          </p:cNvPr>
          <p:cNvSpPr txBox="1">
            <a:spLocks/>
          </p:cNvSpPr>
          <p:nvPr/>
        </p:nvSpPr>
        <p:spPr>
          <a:xfrm>
            <a:off x="304800" y="1562099"/>
            <a:ext cx="3683000" cy="13030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El procedimiento y los recursos para realizar una tarea.</a:t>
            </a:r>
          </a:p>
        </p:txBody>
      </p:sp>
      <p:sp>
        <p:nvSpPr>
          <p:cNvPr id="3" name="c26_skill_name">
            <a:extLst>
              <a:ext uri="{FF2B5EF4-FFF2-40B4-BE49-F238E27FC236}">
                <a16:creationId xmlns:a16="http://schemas.microsoft.com/office/drawing/2014/main" id="{FC1DDAB2-FD0B-557C-4F09-5456A9629F14}"/>
              </a:ext>
            </a:extLst>
          </p:cNvPr>
          <p:cNvSpPr txBox="1">
            <a:spLocks/>
          </p:cNvSpPr>
          <p:nvPr/>
        </p:nvSpPr>
        <p:spPr>
          <a:xfrm>
            <a:off x="4584700" y="1473199"/>
            <a:ext cx="4229100" cy="34220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FD6534"/>
                </a:solidFill>
                <a:latin typeface="Consolas" panose="020B0609020204030204" pitchFamily="49" charset="0"/>
              </a:rPr>
              <a:t>analizar-biblioteca</a:t>
            </a:r>
          </a:p>
        </p:txBody>
      </p:sp>
      <p:sp>
        <p:nvSpPr>
          <p:cNvPr id="4" name="c26_skill_steps">
            <a:extLst>
              <a:ext uri="{FF2B5EF4-FFF2-40B4-BE49-F238E27FC236}">
                <a16:creationId xmlns:a16="http://schemas.microsoft.com/office/drawing/2014/main" id="{D717C762-5974-75D1-7EE4-26976B74FD50}"/>
              </a:ext>
            </a:extLst>
          </p:cNvPr>
          <p:cNvSpPr txBox="1">
            <a:spLocks/>
          </p:cNvSpPr>
          <p:nvPr/>
        </p:nvSpPr>
        <p:spPr>
          <a:xfrm>
            <a:off x="4584700" y="2057400"/>
            <a:ext cx="4229100" cy="17141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Leer los artículos pendientes.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Identificar tema, enfoque y tesis.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Seguir los criterios editoriales.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Entregar la ficha acordada.</a:t>
            </a:r>
          </a:p>
        </p:txBody>
      </p:sp>
      <p:sp>
        <p:nvSpPr>
          <p:cNvPr id="5" name="c26_skill_repeat">
            <a:extLst>
              <a:ext uri="{FF2B5EF4-FFF2-40B4-BE49-F238E27FC236}">
                <a16:creationId xmlns:a16="http://schemas.microsoft.com/office/drawing/2014/main" id="{8C63BAD1-4597-F3F7-4B54-AE24C6A01590}"/>
              </a:ext>
            </a:extLst>
          </p:cNvPr>
          <p:cNvSpPr txBox="1">
            <a:spLocks/>
          </p:cNvSpPr>
          <p:nvPr/>
        </p:nvSpPr>
        <p:spPr>
          <a:xfrm>
            <a:off x="304800" y="4190999"/>
            <a:ext cx="85344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Una forma de trabajar que podemos revisar y reutilizar.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4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9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4400">
                <a:latin typeface="Inter" panose="02000503000000020004" pitchFamily="2" charset="0"/>
              </a:rPr>
              <a:t>Una Skill por dentro</a:t>
            </a:r>
            <a:endParaRPr sz="4400">
              <a:latin typeface="Inter" panose="02000503000000020004" pitchFamily="2" charset="0"/>
            </a:endParaRPr>
          </a:p>
        </p:txBody>
      </p:sp>
      <p:sp>
        <p:nvSpPr>
          <p:cNvPr id="154" name="Google Shape;154;p36"/>
          <p:cNvSpPr txBox="1">
            <a:spLocks/>
          </p:cNvSpPr>
          <p:nvPr/>
        </p:nvSpPr>
        <p:spPr>
          <a:xfrm>
            <a:off x="406400" y="1803400"/>
            <a:ext cx="3390900" cy="226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2700"/>
              </a:spcAft>
            </a:pPr>
            <a:r>
              <a:rPr lang="es-ES" sz="2300" b="1">
                <a:solidFill>
                  <a:srgbClr val="FD6534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SKILL.md</a:t>
            </a:r>
          </a:p>
          <a:p>
            <a:pPr lvl="0" rtl="0">
              <a:lnSpc>
                <a:spcPct val="115000"/>
              </a:lnSpc>
              <a:spcAft>
                <a:spcPts val="2700"/>
              </a:spcAft>
            </a:pPr>
            <a:r>
              <a:rPr lang="es-ES" sz="2300" b="1">
                <a:solidFill>
                  <a:srgbClr val="1F2937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references/</a:t>
            </a:r>
          </a:p>
          <a:p>
            <a:pPr lvl="0" rtl="0">
              <a:lnSpc>
                <a:spcPct val="115000"/>
              </a:lnSpc>
              <a:spcAft>
                <a:spcPts val="2700"/>
              </a:spcAft>
            </a:pPr>
            <a:r>
              <a:rPr lang="es-ES" sz="2300" b="1">
                <a:solidFill>
                  <a:srgbClr val="1F2937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scripts/</a:t>
            </a:r>
            <a:endParaRPr sz="2300" b="1">
              <a:solidFill>
                <a:srgbClr val="1F2937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c26_structure_intro">
            <a:extLst>
              <a:ext uri="{FF2B5EF4-FFF2-40B4-BE49-F238E27FC236}">
                <a16:creationId xmlns:a16="http://schemas.microsoft.com/office/drawing/2014/main" id="{CF1C6C06-8441-8570-6984-A10540DB6A9C}"/>
              </a:ext>
            </a:extLst>
          </p:cNvPr>
          <p:cNvSpPr txBox="1">
            <a:spLocks/>
          </p:cNvSpPr>
          <p:nvPr/>
        </p:nvSpPr>
        <p:spPr>
          <a:xfrm>
            <a:off x="355600" y="1320799"/>
            <a:ext cx="3810000" cy="306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800">
                <a:solidFill>
                  <a:srgbClr val="5A5D5E"/>
                </a:solidFill>
                <a:latin typeface="Inter" panose="02000503000000020004" pitchFamily="2" charset="0"/>
              </a:rPr>
              <a:t>Archivos de una Skill</a:t>
            </a:r>
          </a:p>
        </p:txBody>
      </p:sp>
      <p:sp>
        <p:nvSpPr>
          <p:cNvPr id="3" name="c26_structure_md">
            <a:extLst>
              <a:ext uri="{FF2B5EF4-FFF2-40B4-BE49-F238E27FC236}">
                <a16:creationId xmlns:a16="http://schemas.microsoft.com/office/drawing/2014/main" id="{BC63F805-051E-96AB-D6EB-A17A153A3D11}"/>
              </a:ext>
            </a:extLst>
          </p:cNvPr>
          <p:cNvSpPr txBox="1">
            <a:spLocks/>
          </p:cNvSpPr>
          <p:nvPr/>
        </p:nvSpPr>
        <p:spPr>
          <a:xfrm>
            <a:off x="4089400" y="1803400"/>
            <a:ext cx="4635500" cy="7052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Nombre, descripción e instrucciones.</a:t>
            </a:r>
          </a:p>
        </p:txBody>
      </p:sp>
      <p:sp>
        <p:nvSpPr>
          <p:cNvPr id="4" name="c26_structure_refs">
            <a:extLst>
              <a:ext uri="{FF2B5EF4-FFF2-40B4-BE49-F238E27FC236}">
                <a16:creationId xmlns:a16="http://schemas.microsoft.com/office/drawing/2014/main" id="{C3F88E4F-7DE9-3602-11AD-20AED9C58B64}"/>
              </a:ext>
            </a:extLst>
          </p:cNvPr>
          <p:cNvSpPr txBox="1">
            <a:spLocks/>
          </p:cNvSpPr>
          <p:nvPr/>
        </p:nvSpPr>
        <p:spPr>
          <a:xfrm>
            <a:off x="4089400" y="2565400"/>
            <a:ext cx="4635500" cy="3532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Criterios, ejemplos y formatos.</a:t>
            </a:r>
          </a:p>
        </p:txBody>
      </p:sp>
      <p:sp>
        <p:nvSpPr>
          <p:cNvPr id="5" name="c26_structure_scripts">
            <a:extLst>
              <a:ext uri="{FF2B5EF4-FFF2-40B4-BE49-F238E27FC236}">
                <a16:creationId xmlns:a16="http://schemas.microsoft.com/office/drawing/2014/main" id="{04F491E0-18E9-F6F0-CC6C-FFA54773F1EA}"/>
              </a:ext>
            </a:extLst>
          </p:cNvPr>
          <p:cNvSpPr txBox="1">
            <a:spLocks/>
          </p:cNvSpPr>
          <p:nvPr/>
        </p:nvSpPr>
        <p:spPr>
          <a:xfrm>
            <a:off x="4089400" y="3327400"/>
            <a:ext cx="4635500" cy="7052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100">
                <a:solidFill>
                  <a:srgbClr val="1F2937"/>
                </a:solidFill>
                <a:latin typeface="Inter" panose="02000503000000020004" pitchFamily="2" charset="0"/>
              </a:rPr>
              <a:t>Código para tareas y comprobaciones.</a:t>
            </a:r>
          </a:p>
        </p:txBody>
      </p:sp>
      <p:sp>
        <p:nvSpPr>
          <p:cNvPr id="6" name="c26_structure_optional">
            <a:extLst>
              <a:ext uri="{FF2B5EF4-FFF2-40B4-BE49-F238E27FC236}">
                <a16:creationId xmlns:a16="http://schemas.microsoft.com/office/drawing/2014/main" id="{B9F05C4A-8676-9CAE-AF7B-FAD338D6CC57}"/>
              </a:ext>
            </a:extLst>
          </p:cNvPr>
          <p:cNvSpPr txBox="1">
            <a:spLocks/>
          </p:cNvSpPr>
          <p:nvPr/>
        </p:nvSpPr>
        <p:spPr>
          <a:xfrm>
            <a:off x="355600" y="4229099"/>
            <a:ext cx="8382000" cy="306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800">
                <a:solidFill>
                  <a:srgbClr val="1F2937"/>
                </a:solidFill>
                <a:latin typeface="Inter" panose="02000503000000020004" pitchFamily="2" charset="0"/>
              </a:rPr>
              <a:t>SKILL.md es obligatorio. Los recursos dependen de la tarea.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>
            <a:spLocks/>
          </p:cNvSpPr>
          <p:nvPr/>
        </p:nvSpPr>
        <p:spPr>
          <a:xfrm>
            <a:off x="304800" y="279400"/>
            <a:ext cx="8534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7200"/>
            </a:pPr>
            <a:r>
              <a:rPr lang="es-ES" sz="4000" b="1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Cuándo se carga la Skill</a:t>
            </a:r>
            <a:endParaRPr sz="4000" b="1">
              <a:solidFill>
                <a:srgbClr val="1F2937"/>
              </a:solidFill>
              <a:latin typeface="Inter" panose="02000503000000020004" pitchFamily="2" charset="0"/>
              <a:ea typeface="Inter"/>
              <a:cs typeface="Inter"/>
              <a:sym typeface="Inter"/>
            </a:endParaRPr>
          </a:p>
        </p:txBody>
      </p:sp>
      <p:sp>
        <p:nvSpPr>
          <p:cNvPr id="2" name="c26_load_prompt">
            <a:extLst>
              <a:ext uri="{FF2B5EF4-FFF2-40B4-BE49-F238E27FC236}">
                <a16:creationId xmlns:a16="http://schemas.microsoft.com/office/drawing/2014/main" id="{2BBE75A8-8382-8341-82DC-9E1BE453B78F}"/>
              </a:ext>
            </a:extLst>
          </p:cNvPr>
          <p:cNvSpPr txBox="1">
            <a:spLocks/>
          </p:cNvSpPr>
          <p:nvPr/>
        </p:nvSpPr>
        <p:spPr>
          <a:xfrm>
            <a:off x="304800" y="1422400"/>
            <a:ext cx="8534400" cy="4312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«Actualiza el histórico de Think&amp;Hack»</a:t>
            </a:r>
          </a:p>
        </p:txBody>
      </p:sp>
      <p:sp>
        <p:nvSpPr>
          <p:cNvPr id="3" name="c26_load_title_0">
            <a:extLst>
              <a:ext uri="{FF2B5EF4-FFF2-40B4-BE49-F238E27FC236}">
                <a16:creationId xmlns:a16="http://schemas.microsoft.com/office/drawing/2014/main" id="{B59C535F-10C5-63A5-388B-C7272D5DF3A8}"/>
              </a:ext>
            </a:extLst>
          </p:cNvPr>
          <p:cNvSpPr txBox="1">
            <a:spLocks/>
          </p:cNvSpPr>
          <p:nvPr/>
        </p:nvSpPr>
        <p:spPr>
          <a:xfrm>
            <a:off x="304800" y="2463800"/>
            <a:ext cx="2667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400" b="1">
                <a:solidFill>
                  <a:srgbClr val="FD6534"/>
                </a:solidFill>
                <a:latin typeface="Inter" panose="02000503000000020004" pitchFamily="2" charset="0"/>
              </a:rPr>
              <a:t>Identifica</a:t>
            </a:r>
          </a:p>
        </p:txBody>
      </p:sp>
      <p:sp>
        <p:nvSpPr>
          <p:cNvPr id="4" name="c26_load_body_0">
            <a:extLst>
              <a:ext uri="{FF2B5EF4-FFF2-40B4-BE49-F238E27FC236}">
                <a16:creationId xmlns:a16="http://schemas.microsoft.com/office/drawing/2014/main" id="{42315C9E-64F5-6285-2B54-C5CE676E520F}"/>
              </a:ext>
            </a:extLst>
          </p:cNvPr>
          <p:cNvSpPr txBox="1">
            <a:spLocks/>
          </p:cNvSpPr>
          <p:nvPr/>
        </p:nvSpPr>
        <p:spPr>
          <a:xfrm>
            <a:off x="304800" y="3073399"/>
            <a:ext cx="27432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Nombre 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descripción</a:t>
            </a:r>
          </a:p>
        </p:txBody>
      </p:sp>
      <p:cxnSp>
        <p:nvCxnSpPr>
          <p:cNvPr id="5" name="c26_line_9">
            <a:extLst>
              <a:ext uri="{FF2B5EF4-FFF2-40B4-BE49-F238E27FC236}">
                <a16:creationId xmlns:a16="http://schemas.microsoft.com/office/drawing/2014/main" id="{82ED0636-7EC2-2956-EF7D-CAE3A33C5AF1}"/>
              </a:ext>
            </a:extLst>
          </p:cNvPr>
          <p:cNvCxnSpPr/>
          <p:nvPr/>
        </p:nvCxnSpPr>
        <p:spPr>
          <a:xfrm>
            <a:off x="2984500" y="2844800"/>
            <a:ext cx="2667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26_load_title_1">
            <a:extLst>
              <a:ext uri="{FF2B5EF4-FFF2-40B4-BE49-F238E27FC236}">
                <a16:creationId xmlns:a16="http://schemas.microsoft.com/office/drawing/2014/main" id="{7CA529AB-CDEF-C0DE-CAFA-CDC55D75D44A}"/>
              </a:ext>
            </a:extLst>
          </p:cNvPr>
          <p:cNvSpPr txBox="1">
            <a:spLocks/>
          </p:cNvSpPr>
          <p:nvPr/>
        </p:nvSpPr>
        <p:spPr>
          <a:xfrm>
            <a:off x="3327400" y="2463800"/>
            <a:ext cx="2667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400" b="1">
                <a:solidFill>
                  <a:srgbClr val="FD6534"/>
                </a:solidFill>
                <a:latin typeface="Inter" panose="02000503000000020004" pitchFamily="2" charset="0"/>
              </a:rPr>
              <a:t>Carga</a:t>
            </a:r>
          </a:p>
        </p:txBody>
      </p:sp>
      <p:sp>
        <p:nvSpPr>
          <p:cNvPr id="7" name="c26_load_body_1">
            <a:extLst>
              <a:ext uri="{FF2B5EF4-FFF2-40B4-BE49-F238E27FC236}">
                <a16:creationId xmlns:a16="http://schemas.microsoft.com/office/drawing/2014/main" id="{8F401123-D0C8-0364-927A-581A904E5B34}"/>
              </a:ext>
            </a:extLst>
          </p:cNvPr>
          <p:cNvSpPr txBox="1">
            <a:spLocks/>
          </p:cNvSpPr>
          <p:nvPr/>
        </p:nvSpPr>
        <p:spPr>
          <a:xfrm>
            <a:off x="3327400" y="3073399"/>
            <a:ext cx="27432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Instrucciones de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SKILL.md</a:t>
            </a:r>
          </a:p>
        </p:txBody>
      </p:sp>
      <p:cxnSp>
        <p:nvCxnSpPr>
          <p:cNvPr id="8" name="c26_line_10">
            <a:extLst>
              <a:ext uri="{FF2B5EF4-FFF2-40B4-BE49-F238E27FC236}">
                <a16:creationId xmlns:a16="http://schemas.microsoft.com/office/drawing/2014/main" id="{4FE1AD80-6431-69EF-6A89-F92C851CEBDA}"/>
              </a:ext>
            </a:extLst>
          </p:cNvPr>
          <p:cNvCxnSpPr/>
          <p:nvPr/>
        </p:nvCxnSpPr>
        <p:spPr>
          <a:xfrm>
            <a:off x="6007100" y="2844800"/>
            <a:ext cx="2667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26_load_title_2">
            <a:extLst>
              <a:ext uri="{FF2B5EF4-FFF2-40B4-BE49-F238E27FC236}">
                <a16:creationId xmlns:a16="http://schemas.microsoft.com/office/drawing/2014/main" id="{2054D3D6-2E03-FB5D-622C-056258CDDF48}"/>
              </a:ext>
            </a:extLst>
          </p:cNvPr>
          <p:cNvSpPr txBox="1">
            <a:spLocks/>
          </p:cNvSpPr>
          <p:nvPr/>
        </p:nvSpPr>
        <p:spPr>
          <a:xfrm>
            <a:off x="6350000" y="2463800"/>
            <a:ext cx="2667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400" b="1">
                <a:solidFill>
                  <a:srgbClr val="FD6534"/>
                </a:solidFill>
                <a:latin typeface="Inter" panose="02000503000000020004" pitchFamily="2" charset="0"/>
              </a:rPr>
              <a:t>Consulta</a:t>
            </a:r>
          </a:p>
        </p:txBody>
      </p:sp>
      <p:sp>
        <p:nvSpPr>
          <p:cNvPr id="10" name="c26_load_body_2">
            <a:extLst>
              <a:ext uri="{FF2B5EF4-FFF2-40B4-BE49-F238E27FC236}">
                <a16:creationId xmlns:a16="http://schemas.microsoft.com/office/drawing/2014/main" id="{17771BB6-FB95-7CB5-06A9-FD9BADB64021}"/>
              </a:ext>
            </a:extLst>
          </p:cNvPr>
          <p:cNvSpPr txBox="1">
            <a:spLocks/>
          </p:cNvSpPr>
          <p:nvPr/>
        </p:nvSpPr>
        <p:spPr>
          <a:xfrm>
            <a:off x="6350000" y="3073399"/>
            <a:ext cx="27432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Referencias y scripts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cuando hacen falta</a:t>
            </a:r>
          </a:p>
        </p:txBody>
      </p:sp>
      <p:sp>
        <p:nvSpPr>
          <p:cNvPr id="11" name="c26_load_explicit">
            <a:extLst>
              <a:ext uri="{FF2B5EF4-FFF2-40B4-BE49-F238E27FC236}">
                <a16:creationId xmlns:a16="http://schemas.microsoft.com/office/drawing/2014/main" id="{72C0EEFE-983F-97AF-ECA5-CBF4AAC2DB59}"/>
              </a:ext>
            </a:extLst>
          </p:cNvPr>
          <p:cNvSpPr txBox="1">
            <a:spLocks/>
          </p:cNvSpPr>
          <p:nvPr/>
        </p:nvSpPr>
        <p:spPr>
          <a:xfrm>
            <a:off x="304800" y="4241800"/>
            <a:ext cx="8534400" cy="32200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900">
                <a:solidFill>
                  <a:srgbClr val="1F2937"/>
                </a:solidFill>
                <a:latin typeface="Inter" panose="02000503000000020004" pitchFamily="2" charset="0"/>
              </a:rPr>
              <a:t>También podemos pedir una Skill por su nombre.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110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5600" b="1">
                <a:solidFill>
                  <a:srgbClr val="1F2937"/>
                </a:solidFill>
                <a:latin typeface="Inter" panose="02000503000000020004" pitchFamily="2" charset="0"/>
              </a:rPr>
              <a:t>El agente</a:t>
            </a:r>
            <a:endParaRPr sz="56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166" name="Google Shape;166;p38"/>
          <p:cNvSpPr txBox="1">
            <a:spLocks/>
          </p:cNvSpPr>
          <p:nvPr/>
        </p:nvSpPr>
        <p:spPr>
          <a:xfrm>
            <a:off x="304800" y="1689100"/>
            <a:ext cx="3860800" cy="1667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</a:rPr>
              <a:t>Recibe un objetivo y decide cómo avanzar usando herramientas.</a:t>
            </a:r>
            <a:endParaRPr sz="26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agent_step_0">
            <a:extLst>
              <a:ext uri="{FF2B5EF4-FFF2-40B4-BE49-F238E27FC236}">
                <a16:creationId xmlns:a16="http://schemas.microsoft.com/office/drawing/2014/main" id="{E0133BF9-30EC-CF6A-76FA-E185E1444D3B}"/>
              </a:ext>
            </a:extLst>
          </p:cNvPr>
          <p:cNvSpPr txBox="1">
            <a:spLocks/>
          </p:cNvSpPr>
          <p:nvPr/>
        </p:nvSpPr>
        <p:spPr>
          <a:xfrm>
            <a:off x="4851400" y="1422399"/>
            <a:ext cx="3937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FD6534"/>
                </a:solidFill>
                <a:latin typeface="Inter" panose="02000503000000020004" pitchFamily="2" charset="0"/>
              </a:rPr>
              <a:t>Consulta la Skill</a:t>
            </a:r>
          </a:p>
        </p:txBody>
      </p:sp>
      <p:cxnSp>
        <p:nvCxnSpPr>
          <p:cNvPr id="3" name="c26_line_11">
            <a:extLst>
              <a:ext uri="{FF2B5EF4-FFF2-40B4-BE49-F238E27FC236}">
                <a16:creationId xmlns:a16="http://schemas.microsoft.com/office/drawing/2014/main" id="{03CAFE66-8EED-8651-6BA3-0842027F65A9}"/>
              </a:ext>
            </a:extLst>
          </p:cNvPr>
          <p:cNvCxnSpPr/>
          <p:nvPr/>
        </p:nvCxnSpPr>
        <p:spPr>
          <a:xfrm>
            <a:off x="4635500" y="1778000"/>
            <a:ext cx="127" cy="304800"/>
          </a:xfrm>
          <a:prstGeom prst="line">
            <a:avLst/>
          </a:prstGeom>
          <a:ln w="19050">
            <a:solidFill>
              <a:srgbClr val="B8B8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26_agent_step_1">
            <a:extLst>
              <a:ext uri="{FF2B5EF4-FFF2-40B4-BE49-F238E27FC236}">
                <a16:creationId xmlns:a16="http://schemas.microsoft.com/office/drawing/2014/main" id="{0AFA4B7C-B36A-37A4-5CB4-32EBC7503E26}"/>
              </a:ext>
            </a:extLst>
          </p:cNvPr>
          <p:cNvSpPr txBox="1">
            <a:spLocks/>
          </p:cNvSpPr>
          <p:nvPr/>
        </p:nvSpPr>
        <p:spPr>
          <a:xfrm>
            <a:off x="4851400" y="2044699"/>
            <a:ext cx="3937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Ejecuta una herramienta</a:t>
            </a:r>
          </a:p>
        </p:txBody>
      </p:sp>
      <p:cxnSp>
        <p:nvCxnSpPr>
          <p:cNvPr id="5" name="c26_line_12">
            <a:extLst>
              <a:ext uri="{FF2B5EF4-FFF2-40B4-BE49-F238E27FC236}">
                <a16:creationId xmlns:a16="http://schemas.microsoft.com/office/drawing/2014/main" id="{0F5AD2AC-6358-09EE-0BD1-973AFDDB4664}"/>
              </a:ext>
            </a:extLst>
          </p:cNvPr>
          <p:cNvCxnSpPr/>
          <p:nvPr/>
        </p:nvCxnSpPr>
        <p:spPr>
          <a:xfrm>
            <a:off x="4635500" y="2400300"/>
            <a:ext cx="127" cy="304800"/>
          </a:xfrm>
          <a:prstGeom prst="line">
            <a:avLst/>
          </a:prstGeom>
          <a:ln w="19050">
            <a:solidFill>
              <a:srgbClr val="B8B8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26_agent_step_2">
            <a:extLst>
              <a:ext uri="{FF2B5EF4-FFF2-40B4-BE49-F238E27FC236}">
                <a16:creationId xmlns:a16="http://schemas.microsoft.com/office/drawing/2014/main" id="{3C6731C7-53BB-0047-0ADD-C6734A2EDD33}"/>
              </a:ext>
            </a:extLst>
          </p:cNvPr>
          <p:cNvSpPr txBox="1">
            <a:spLocks/>
          </p:cNvSpPr>
          <p:nvPr/>
        </p:nvSpPr>
        <p:spPr>
          <a:xfrm>
            <a:off x="4851400" y="2666999"/>
            <a:ext cx="3937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Lee el resultado</a:t>
            </a:r>
          </a:p>
        </p:txBody>
      </p:sp>
      <p:cxnSp>
        <p:nvCxnSpPr>
          <p:cNvPr id="7" name="c26_line_13">
            <a:extLst>
              <a:ext uri="{FF2B5EF4-FFF2-40B4-BE49-F238E27FC236}">
                <a16:creationId xmlns:a16="http://schemas.microsoft.com/office/drawing/2014/main" id="{E5BB4961-CA0D-861E-884B-4F8BABA9D151}"/>
              </a:ext>
            </a:extLst>
          </p:cNvPr>
          <p:cNvCxnSpPr/>
          <p:nvPr/>
        </p:nvCxnSpPr>
        <p:spPr>
          <a:xfrm>
            <a:off x="4635500" y="3022600"/>
            <a:ext cx="127" cy="304800"/>
          </a:xfrm>
          <a:prstGeom prst="line">
            <a:avLst/>
          </a:prstGeom>
          <a:ln w="19050">
            <a:solidFill>
              <a:srgbClr val="B8B8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26_agent_step_3">
            <a:extLst>
              <a:ext uri="{FF2B5EF4-FFF2-40B4-BE49-F238E27FC236}">
                <a16:creationId xmlns:a16="http://schemas.microsoft.com/office/drawing/2014/main" id="{C739794B-75A6-3F17-1F2C-9D903D898789}"/>
              </a:ext>
            </a:extLst>
          </p:cNvPr>
          <p:cNvSpPr txBox="1">
            <a:spLocks/>
          </p:cNvSpPr>
          <p:nvPr/>
        </p:nvSpPr>
        <p:spPr>
          <a:xfrm>
            <a:off x="4851400" y="3289299"/>
            <a:ext cx="3937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it-IT" sz="2000">
                <a:solidFill>
                  <a:srgbClr val="1F2937"/>
                </a:solidFill>
                <a:latin typeface="Inter" panose="02000503000000020004" pitchFamily="2" charset="0"/>
              </a:rPr>
              <a:t>Continúa o informa del fallo</a:t>
            </a:r>
            <a:endParaRPr lang="es-ES" sz="2000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9" name="c26_agent_multiple">
            <a:extLst>
              <a:ext uri="{FF2B5EF4-FFF2-40B4-BE49-F238E27FC236}">
                <a16:creationId xmlns:a16="http://schemas.microsoft.com/office/drawing/2014/main" id="{78450E42-DFAC-A0D3-B6C8-9EB2AD8611FC}"/>
              </a:ext>
            </a:extLst>
          </p:cNvPr>
          <p:cNvSpPr txBox="1">
            <a:spLocks/>
          </p:cNvSpPr>
          <p:nvPr/>
        </p:nvSpPr>
        <p:spPr>
          <a:xfrm>
            <a:off x="304800" y="4216400"/>
            <a:ext cx="85344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1F2937"/>
                </a:solidFill>
                <a:latin typeface="Inter" panose="02000503000000020004" pitchFamily="2" charset="0"/>
              </a:rPr>
              <a:t>Un agente puede utilizar varias Skills.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110845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>
                <a:latin typeface="Inter" panose="02000503000000020004" pitchFamily="2" charset="0"/>
              </a:rPr>
              <a:t>El script</a:t>
            </a:r>
            <a:endParaRPr>
              <a:latin typeface="Inter" panose="02000503000000020004" pitchFamily="2" charset="0"/>
            </a:endParaRPr>
          </a:p>
        </p:txBody>
      </p:sp>
      <p:sp>
        <p:nvSpPr>
          <p:cNvPr id="172" name="Google Shape;172;p39"/>
          <p:cNvSpPr txBox="1">
            <a:spLocks/>
          </p:cNvSpPr>
          <p:nvPr/>
        </p:nvSpPr>
        <p:spPr>
          <a:xfrm>
            <a:off x="304800" y="1587500"/>
            <a:ext cx="37084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2600" b="1">
                <a:solidFill>
                  <a:srgbClr val="1F2937"/>
                </a:solidFill>
                <a:latin typeface="Inter" panose="02000503000000020004" pitchFamily="2" charset="0"/>
                <a:ea typeface="Calibri"/>
                <a:cs typeface="Calibri"/>
                <a:sym typeface="Calibri"/>
              </a:rPr>
              <a:t>Código que fija una operación para volver a utilizarla.</a:t>
            </a:r>
            <a:endParaRPr sz="2600" b="1">
              <a:solidFill>
                <a:srgbClr val="1F2937"/>
              </a:solidFill>
              <a:latin typeface="Inter" panose="0200050300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c26_script_name">
            <a:extLst>
              <a:ext uri="{FF2B5EF4-FFF2-40B4-BE49-F238E27FC236}">
                <a16:creationId xmlns:a16="http://schemas.microsoft.com/office/drawing/2014/main" id="{FE323B74-4C8E-F786-62C8-9A57529ABFF3}"/>
              </a:ext>
            </a:extLst>
          </p:cNvPr>
          <p:cNvSpPr txBox="1">
            <a:spLocks/>
          </p:cNvSpPr>
          <p:nvPr/>
        </p:nvSpPr>
        <p:spPr>
          <a:xfrm>
            <a:off x="4394200" y="1473200"/>
            <a:ext cx="4445000" cy="32639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900" b="1">
                <a:solidFill>
                  <a:srgbClr val="FD6534"/>
                </a:solidFill>
                <a:latin typeface="Consolas" panose="020B0609020204030204" pitchFamily="49" charset="0"/>
              </a:rPr>
              <a:t>recuperar_newsletters.py</a:t>
            </a:r>
          </a:p>
        </p:txBody>
      </p:sp>
      <p:sp>
        <p:nvSpPr>
          <p:cNvPr id="3" name="c26_script_event_0">
            <a:extLst>
              <a:ext uri="{FF2B5EF4-FFF2-40B4-BE49-F238E27FC236}">
                <a16:creationId xmlns:a16="http://schemas.microsoft.com/office/drawing/2014/main" id="{9FA73BA3-56E9-81BF-D4BA-A85E003037D7}"/>
              </a:ext>
            </a:extLst>
          </p:cNvPr>
          <p:cNvSpPr txBox="1">
            <a:spLocks/>
          </p:cNvSpPr>
          <p:nvPr/>
        </p:nvSpPr>
        <p:spPr>
          <a:xfrm>
            <a:off x="4394200" y="2108200"/>
            <a:ext cx="4445000" cy="290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700">
                <a:solidFill>
                  <a:srgbClr val="5A5D5E"/>
                </a:solidFill>
                <a:latin typeface="Inter" panose="02000503000000020004" pitchFamily="2" charset="0"/>
              </a:rPr>
              <a:t>Artículo nuevo</a:t>
            </a:r>
          </a:p>
        </p:txBody>
      </p:sp>
      <p:sp>
        <p:nvSpPr>
          <p:cNvPr id="4" name="c26_script_action_0">
            <a:extLst>
              <a:ext uri="{FF2B5EF4-FFF2-40B4-BE49-F238E27FC236}">
                <a16:creationId xmlns:a16="http://schemas.microsoft.com/office/drawing/2014/main" id="{C28C4CD8-EFD3-9C10-01E1-7758CBD922B0}"/>
              </a:ext>
            </a:extLst>
          </p:cNvPr>
          <p:cNvSpPr txBox="1">
            <a:spLocks/>
          </p:cNvSpPr>
          <p:nvPr/>
        </p:nvSpPr>
        <p:spPr>
          <a:xfrm>
            <a:off x="4394200" y="2400299"/>
            <a:ext cx="4445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1F2937"/>
                </a:solidFill>
                <a:latin typeface="Inter" panose="02000503000000020004" pitchFamily="2" charset="0"/>
              </a:rPr>
              <a:t>Guardar</a:t>
            </a:r>
          </a:p>
        </p:txBody>
      </p:sp>
      <p:sp>
        <p:nvSpPr>
          <p:cNvPr id="5" name="c26_script_event_1">
            <a:extLst>
              <a:ext uri="{FF2B5EF4-FFF2-40B4-BE49-F238E27FC236}">
                <a16:creationId xmlns:a16="http://schemas.microsoft.com/office/drawing/2014/main" id="{FDE6B527-F698-6BE1-72B1-443AEE3D061D}"/>
              </a:ext>
            </a:extLst>
          </p:cNvPr>
          <p:cNvSpPr txBox="1">
            <a:spLocks/>
          </p:cNvSpPr>
          <p:nvPr/>
        </p:nvSpPr>
        <p:spPr>
          <a:xfrm>
            <a:off x="4394200" y="2794000"/>
            <a:ext cx="4445000" cy="290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700">
                <a:solidFill>
                  <a:srgbClr val="5A5D5E"/>
                </a:solidFill>
                <a:latin typeface="Inter" panose="02000503000000020004" pitchFamily="2" charset="0"/>
              </a:rPr>
              <a:t>Contenido modificado</a:t>
            </a:r>
          </a:p>
        </p:txBody>
      </p:sp>
      <p:sp>
        <p:nvSpPr>
          <p:cNvPr id="6" name="c26_script_action_1">
            <a:extLst>
              <a:ext uri="{FF2B5EF4-FFF2-40B4-BE49-F238E27FC236}">
                <a16:creationId xmlns:a16="http://schemas.microsoft.com/office/drawing/2014/main" id="{16B13401-049C-C445-1E78-FA2E3EC550ED}"/>
              </a:ext>
            </a:extLst>
          </p:cNvPr>
          <p:cNvSpPr txBox="1">
            <a:spLocks/>
          </p:cNvSpPr>
          <p:nvPr/>
        </p:nvSpPr>
        <p:spPr>
          <a:xfrm>
            <a:off x="4394200" y="3086099"/>
            <a:ext cx="4445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1F2937"/>
                </a:solidFill>
                <a:latin typeface="Inter" panose="02000503000000020004" pitchFamily="2" charset="0"/>
              </a:rPr>
              <a:t>Conservar la versión anterior</a:t>
            </a:r>
          </a:p>
        </p:txBody>
      </p:sp>
      <p:sp>
        <p:nvSpPr>
          <p:cNvPr id="7" name="c26_script_event_2">
            <a:extLst>
              <a:ext uri="{FF2B5EF4-FFF2-40B4-BE49-F238E27FC236}">
                <a16:creationId xmlns:a16="http://schemas.microsoft.com/office/drawing/2014/main" id="{914E69F5-153E-97A3-60C3-E97ED97A5214}"/>
              </a:ext>
            </a:extLst>
          </p:cNvPr>
          <p:cNvSpPr txBox="1">
            <a:spLocks/>
          </p:cNvSpPr>
          <p:nvPr/>
        </p:nvSpPr>
        <p:spPr>
          <a:xfrm>
            <a:off x="4394200" y="3479800"/>
            <a:ext cx="4445000" cy="290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700">
                <a:solidFill>
                  <a:srgbClr val="5A5D5E"/>
                </a:solidFill>
                <a:latin typeface="Inter" panose="02000503000000020004" pitchFamily="2" charset="0"/>
              </a:rPr>
              <a:t>Fallo de descarga</a:t>
            </a:r>
          </a:p>
        </p:txBody>
      </p:sp>
      <p:sp>
        <p:nvSpPr>
          <p:cNvPr id="8" name="c26_script_action_2">
            <a:extLst>
              <a:ext uri="{FF2B5EF4-FFF2-40B4-BE49-F238E27FC236}">
                <a16:creationId xmlns:a16="http://schemas.microsoft.com/office/drawing/2014/main" id="{841A85F5-FC40-8D40-70F1-4C904BDF8966}"/>
              </a:ext>
            </a:extLst>
          </p:cNvPr>
          <p:cNvSpPr txBox="1">
            <a:spLocks/>
          </p:cNvSpPr>
          <p:nvPr/>
        </p:nvSpPr>
        <p:spPr>
          <a:xfrm>
            <a:off x="4394200" y="3771899"/>
            <a:ext cx="44450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1F2937"/>
                </a:solidFill>
                <a:latin typeface="Inter" panose="02000503000000020004" pitchFamily="2" charset="0"/>
              </a:rPr>
              <a:t>Registrar la incidencia</a:t>
            </a:r>
          </a:p>
        </p:txBody>
      </p:sp>
      <p:sp>
        <p:nvSpPr>
          <p:cNvPr id="9" name="c26_script_demo">
            <a:extLst>
              <a:ext uri="{FF2B5EF4-FFF2-40B4-BE49-F238E27FC236}">
                <a16:creationId xmlns:a16="http://schemas.microsoft.com/office/drawing/2014/main" id="{AA096984-9509-FFD5-A2AD-8FEBD1754E51}"/>
              </a:ext>
            </a:extLst>
          </p:cNvPr>
          <p:cNvSpPr txBox="1">
            <a:spLocks/>
          </p:cNvSpPr>
          <p:nvPr/>
        </p:nvSpPr>
        <p:spPr>
          <a:xfrm>
            <a:off x="304800" y="4254499"/>
            <a:ext cx="85344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 b="1">
                <a:solidFill>
                  <a:srgbClr val="1F2937"/>
                </a:solidFill>
                <a:latin typeface="Inter" panose="02000503000000020004" pitchFamily="2" charset="0"/>
              </a:rPr>
              <a:t>Demo: recuperar los 5 artículos más recientes.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26_line_16">
            <a:extLst>
              <a:ext uri="{FF2B5EF4-FFF2-40B4-BE49-F238E27FC236}">
                <a16:creationId xmlns:a16="http://schemas.microsoft.com/office/drawing/2014/main" id="{099C4AB3-9E1A-DF5F-EA62-86068596A3B7}"/>
              </a:ext>
            </a:extLst>
          </p:cNvPr>
          <p:cNvCxnSpPr/>
          <p:nvPr/>
        </p:nvCxnSpPr>
        <p:spPr>
          <a:xfrm>
            <a:off x="5676900" y="4013200"/>
            <a:ext cx="8255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26_line_15">
            <a:extLst>
              <a:ext uri="{FF2B5EF4-FFF2-40B4-BE49-F238E27FC236}">
                <a16:creationId xmlns:a16="http://schemas.microsoft.com/office/drawing/2014/main" id="{83A125A5-A4B6-6898-3B48-625373B32D11}"/>
              </a:ext>
            </a:extLst>
          </p:cNvPr>
          <p:cNvCxnSpPr/>
          <p:nvPr/>
        </p:nvCxnSpPr>
        <p:spPr>
          <a:xfrm>
            <a:off x="2705100" y="4013200"/>
            <a:ext cx="5969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26_line_14">
            <a:extLst>
              <a:ext uri="{FF2B5EF4-FFF2-40B4-BE49-F238E27FC236}">
                <a16:creationId xmlns:a16="http://schemas.microsoft.com/office/drawing/2014/main" id="{CEE34507-5B52-4CE2-E7DB-958C1E401760}"/>
              </a:ext>
            </a:extLst>
          </p:cNvPr>
          <p:cNvCxnSpPr/>
          <p:nvPr/>
        </p:nvCxnSpPr>
        <p:spPr>
          <a:xfrm>
            <a:off x="355600" y="3060700"/>
            <a:ext cx="8382000" cy="127"/>
          </a:xfrm>
          <a:prstGeom prst="line">
            <a:avLst/>
          </a:prstGeom>
          <a:ln w="19050">
            <a:solidFill>
              <a:srgbClr val="B8B8B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Google Shape;178;p40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110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5600" b="1">
                <a:solidFill>
                  <a:srgbClr val="1F2937"/>
                </a:solidFill>
                <a:latin typeface="Inter" panose="02000503000000020004" pitchFamily="2" charset="0"/>
              </a:rPr>
              <a:t>El arnés</a:t>
            </a:r>
            <a:endParaRPr sz="56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harness_def">
            <a:extLst>
              <a:ext uri="{FF2B5EF4-FFF2-40B4-BE49-F238E27FC236}">
                <a16:creationId xmlns:a16="http://schemas.microsoft.com/office/drawing/2014/main" id="{91E09533-F371-76C6-03E3-D24D8B380D56}"/>
              </a:ext>
            </a:extLst>
          </p:cNvPr>
          <p:cNvSpPr txBox="1">
            <a:spLocks/>
          </p:cNvSpPr>
          <p:nvPr/>
        </p:nvSpPr>
        <p:spPr>
          <a:xfrm>
            <a:off x="304800" y="1409699"/>
            <a:ext cx="85344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400" b="1">
                <a:solidFill>
                  <a:srgbClr val="1F2937"/>
                </a:solidFill>
                <a:latin typeface="Inter" panose="02000503000000020004" pitchFamily="2" charset="0"/>
              </a:rPr>
              <a:t>El entorno que permite ejecutar y supervisar el trabajo.</a:t>
            </a:r>
          </a:p>
        </p:txBody>
      </p:sp>
      <p:sp>
        <p:nvSpPr>
          <p:cNvPr id="3" name="c26_harness_tools">
            <a:extLst>
              <a:ext uri="{FF2B5EF4-FFF2-40B4-BE49-F238E27FC236}">
                <a16:creationId xmlns:a16="http://schemas.microsoft.com/office/drawing/2014/main" id="{7A3025EB-4504-1FE8-89B7-C314EB2D3AD4}"/>
              </a:ext>
            </a:extLst>
          </p:cNvPr>
          <p:cNvSpPr txBox="1">
            <a:spLocks/>
          </p:cNvSpPr>
          <p:nvPr/>
        </p:nvSpPr>
        <p:spPr>
          <a:xfrm>
            <a:off x="304800" y="2298700"/>
            <a:ext cx="40894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>
                <a:solidFill>
                  <a:srgbClr val="1F2937"/>
                </a:solidFill>
                <a:latin typeface="Inter" panose="02000503000000020004" pitchFamily="2" charset="0"/>
              </a:rPr>
              <a:t>Herramientas y permisos</a:t>
            </a:r>
          </a:p>
        </p:txBody>
      </p:sp>
      <p:sp>
        <p:nvSpPr>
          <p:cNvPr id="4" name="c26_harness_context">
            <a:extLst>
              <a:ext uri="{FF2B5EF4-FFF2-40B4-BE49-F238E27FC236}">
                <a16:creationId xmlns:a16="http://schemas.microsoft.com/office/drawing/2014/main" id="{35F0F587-009A-E118-9EB7-05FC55B0FCA6}"/>
              </a:ext>
            </a:extLst>
          </p:cNvPr>
          <p:cNvSpPr txBox="1">
            <a:spLocks/>
          </p:cNvSpPr>
          <p:nvPr/>
        </p:nvSpPr>
        <p:spPr>
          <a:xfrm>
            <a:off x="4711700" y="2298700"/>
            <a:ext cx="41275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>
                <a:solidFill>
                  <a:srgbClr val="1F2937"/>
                </a:solidFill>
                <a:latin typeface="Inter" panose="02000503000000020004" pitchFamily="2" charset="0"/>
              </a:rPr>
              <a:t>Contexto y estado del trabajo</a:t>
            </a:r>
          </a:p>
        </p:txBody>
      </p:sp>
      <p:sp>
        <p:nvSpPr>
          <p:cNvPr id="6" name="c26_harness_controls">
            <a:extLst>
              <a:ext uri="{FF2B5EF4-FFF2-40B4-BE49-F238E27FC236}">
                <a16:creationId xmlns:a16="http://schemas.microsoft.com/office/drawing/2014/main" id="{8DE3C102-D3BE-95FE-B3AA-B26B96376F3B}"/>
              </a:ext>
            </a:extLst>
          </p:cNvPr>
          <p:cNvSpPr txBox="1">
            <a:spLocks/>
          </p:cNvSpPr>
          <p:nvPr/>
        </p:nvSpPr>
        <p:spPr>
          <a:xfrm>
            <a:off x="304800" y="3238499"/>
            <a:ext cx="8534400" cy="306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800" b="1">
                <a:solidFill>
                  <a:srgbClr val="FD6534"/>
                </a:solidFill>
                <a:latin typeface="Inter" panose="02000503000000020004" pitchFamily="2" charset="0"/>
              </a:rPr>
              <a:t>Un control previsto en la demo</a:t>
            </a:r>
          </a:p>
        </p:txBody>
      </p:sp>
      <p:sp>
        <p:nvSpPr>
          <p:cNvPr id="7" name="c26_harness_research">
            <a:extLst>
              <a:ext uri="{FF2B5EF4-FFF2-40B4-BE49-F238E27FC236}">
                <a16:creationId xmlns:a16="http://schemas.microsoft.com/office/drawing/2014/main" id="{410D5A25-4EBD-50B4-AC0C-D245A38B7B12}"/>
              </a:ext>
            </a:extLst>
          </p:cNvPr>
          <p:cNvSpPr txBox="1">
            <a:spLocks/>
          </p:cNvSpPr>
          <p:nvPr/>
        </p:nvSpPr>
        <p:spPr>
          <a:xfrm>
            <a:off x="304800" y="3835400"/>
            <a:ext cx="25527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1F2937"/>
                </a:solidFill>
                <a:latin typeface="Inter" panose="02000503000000020004" pitchFamily="2" charset="0"/>
              </a:rPr>
              <a:t>Investigación</a:t>
            </a:r>
          </a:p>
        </p:txBody>
      </p:sp>
      <p:sp>
        <p:nvSpPr>
          <p:cNvPr id="8" name="c26_harness_approval">
            <a:extLst>
              <a:ext uri="{FF2B5EF4-FFF2-40B4-BE49-F238E27FC236}">
                <a16:creationId xmlns:a16="http://schemas.microsoft.com/office/drawing/2014/main" id="{783113D7-206F-FEE7-36FB-D64643E1A3D9}"/>
              </a:ext>
            </a:extLst>
          </p:cNvPr>
          <p:cNvSpPr txBox="1">
            <a:spLocks/>
          </p:cNvSpPr>
          <p:nvPr/>
        </p:nvSpPr>
        <p:spPr>
          <a:xfrm>
            <a:off x="3467100" y="3835400"/>
            <a:ext cx="22987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FD6534"/>
                </a:solidFill>
                <a:latin typeface="Inter" panose="02000503000000020004" pitchFamily="2" charset="0"/>
              </a:rPr>
              <a:t>Aprobación</a:t>
            </a:r>
          </a:p>
        </p:txBody>
      </p:sp>
      <p:sp>
        <p:nvSpPr>
          <p:cNvPr id="9" name="c26_harness_write">
            <a:extLst>
              <a:ext uri="{FF2B5EF4-FFF2-40B4-BE49-F238E27FC236}">
                <a16:creationId xmlns:a16="http://schemas.microsoft.com/office/drawing/2014/main" id="{646AC39E-E71F-37B9-9A02-6AD36F949A0F}"/>
              </a:ext>
            </a:extLst>
          </p:cNvPr>
          <p:cNvSpPr txBox="1">
            <a:spLocks/>
          </p:cNvSpPr>
          <p:nvPr/>
        </p:nvSpPr>
        <p:spPr>
          <a:xfrm>
            <a:off x="6705600" y="3835400"/>
            <a:ext cx="20955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1F2937"/>
                </a:solidFill>
                <a:latin typeface="Inter" panose="02000503000000020004" pitchFamily="2" charset="0"/>
              </a:rPr>
              <a:t>Redacción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3800" b="1">
                <a:solidFill>
                  <a:srgbClr val="1F2937"/>
                </a:solidFill>
                <a:latin typeface="Inter" panose="02000503000000020004" pitchFamily="2" charset="0"/>
              </a:rPr>
              <a:t>Resultados que podemos revisar</a:t>
            </a:r>
            <a:endParaRPr sz="38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contract_definition">
            <a:extLst>
              <a:ext uri="{FF2B5EF4-FFF2-40B4-BE49-F238E27FC236}">
                <a16:creationId xmlns:a16="http://schemas.microsoft.com/office/drawing/2014/main" id="{0DAF43C2-9998-3A00-0141-D4FA9EA784CE}"/>
              </a:ext>
            </a:extLst>
          </p:cNvPr>
          <p:cNvSpPr txBox="1">
            <a:spLocks/>
          </p:cNvSpPr>
          <p:nvPr/>
        </p:nvSpPr>
        <p:spPr>
          <a:xfrm>
            <a:off x="304800" y="1295399"/>
            <a:ext cx="8534400" cy="3376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Cada etapa acuerda qué recibe, qué entrega y cómo se comprueba.</a:t>
            </a:r>
          </a:p>
        </p:txBody>
      </p:sp>
      <p:graphicFrame>
        <p:nvGraphicFramePr>
          <p:cNvPr id="3" name="c26_contract_table">
            <a:extLst>
              <a:ext uri="{FF2B5EF4-FFF2-40B4-BE49-F238E27FC236}">
                <a16:creationId xmlns:a16="http://schemas.microsoft.com/office/drawing/2014/main" id="{2E93F3D8-9DBF-DFA0-97AF-5723D6BCE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808"/>
              </p:ext>
            </p:extLst>
          </p:nvPr>
        </p:nvGraphicFramePr>
        <p:xfrm>
          <a:off x="355600" y="2095500"/>
          <a:ext cx="8432800" cy="2082800"/>
        </p:xfrm>
        <a:graphic>
          <a:graphicData uri="http://schemas.openxmlformats.org/drawingml/2006/table">
            <a:tbl>
              <a:tblPr firstRow="1" bandRow="1">
                <a:tableStyleId>{62EE3193-8D45-4A5B-88C0-FDBB99C5EF04}</a:tableStyleId>
              </a:tblPr>
              <a:tblGrid>
                <a:gridCol w="2810933">
                  <a:extLst>
                    <a:ext uri="{9D8B030D-6E8A-4147-A177-3AD203B41FA5}">
                      <a16:colId xmlns:a16="http://schemas.microsoft.com/office/drawing/2014/main" val="1214439169"/>
                    </a:ext>
                  </a:extLst>
                </a:gridCol>
                <a:gridCol w="2810933">
                  <a:extLst>
                    <a:ext uri="{9D8B030D-6E8A-4147-A177-3AD203B41FA5}">
                      <a16:colId xmlns:a16="http://schemas.microsoft.com/office/drawing/2014/main" val="3992348337"/>
                    </a:ext>
                  </a:extLst>
                </a:gridCol>
                <a:gridCol w="2810933">
                  <a:extLst>
                    <a:ext uri="{9D8B030D-6E8A-4147-A177-3AD203B41FA5}">
                      <a16:colId xmlns:a16="http://schemas.microsoft.com/office/drawing/2014/main" val="2656530786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800" b="1">
                          <a:solidFill>
                            <a:srgbClr val="FD6534"/>
                          </a:solidFill>
                          <a:latin typeface="Inter" panose="02000503000000020004" pitchFamily="2" charset="0"/>
                        </a:rPr>
                        <a:t>Etapa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800" b="1">
                          <a:solidFill>
                            <a:srgbClr val="FD6534"/>
                          </a:solidFill>
                          <a:latin typeface="Inter" panose="02000503000000020004" pitchFamily="2" charset="0"/>
                        </a:rPr>
                        <a:t>Entrega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800" b="1">
                          <a:solidFill>
                            <a:srgbClr val="FD6534"/>
                          </a:solidFill>
                          <a:latin typeface="Inter" panose="02000503000000020004" pitchFamily="2" charset="0"/>
                        </a:rPr>
                        <a:t>Comprobación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7795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Inventario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Artículos y fichas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Campos y procedencia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5316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Investigación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Afirmaciones y fuentes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Respaldo y aprobación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88197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Piezas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Textos por canal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700" b="0">
                          <a:solidFill>
                            <a:srgbClr val="1F2937"/>
                          </a:solidFill>
                          <a:latin typeface="Inter" panose="02000503000000020004" pitchFamily="2" charset="0"/>
                        </a:rPr>
                        <a:t>Formato y revisión</a:t>
                      </a:r>
                    </a:p>
                  </a:txBody>
                  <a:tcPr marL="101600" marR="63500" marT="25400" marB="25400" anchor="ctr">
                    <a:lnL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B8B8B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987190"/>
                  </a:ext>
                </a:extLst>
              </a:tr>
            </a:tbl>
          </a:graphicData>
        </a:graphic>
      </p:graphicFrame>
      <p:sp>
        <p:nvSpPr>
          <p:cNvPr id="4" name="c26_contract_limit">
            <a:extLst>
              <a:ext uri="{FF2B5EF4-FFF2-40B4-BE49-F238E27FC236}">
                <a16:creationId xmlns:a16="http://schemas.microsoft.com/office/drawing/2014/main" id="{29CF2D5C-2AA7-4F76-E1B1-8D5D8151F51B}"/>
              </a:ext>
            </a:extLst>
          </p:cNvPr>
          <p:cNvSpPr txBox="1">
            <a:spLocks/>
          </p:cNvSpPr>
          <p:nvPr/>
        </p:nvSpPr>
        <p:spPr>
          <a:xfrm>
            <a:off x="304800" y="4330700"/>
            <a:ext cx="8534400" cy="290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700" b="1">
                <a:solidFill>
                  <a:srgbClr val="1F2937"/>
                </a:solidFill>
                <a:latin typeface="Inter" panose="02000503000000020004" pitchFamily="2" charset="0"/>
              </a:rPr>
              <a:t>Un enlace válido no demuestra que una afirmación sea correcta.</a:t>
            </a:r>
          </a:p>
        </p:txBody>
      </p:sp>
    </p:spTree>
    <p:extLst>
      <p:ext uri="{BB962C8B-B14F-4D97-AF65-F5344CB8AC3E}">
        <p14:creationId xmlns:p14="http://schemas.microsoft.com/office/powerpoint/2010/main" val="1649818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26_line_18">
            <a:extLst>
              <a:ext uri="{FF2B5EF4-FFF2-40B4-BE49-F238E27FC236}">
                <a16:creationId xmlns:a16="http://schemas.microsoft.com/office/drawing/2014/main" id="{1D537B8F-C5D2-AF03-C74C-7E4ACCD89F39}"/>
              </a:ext>
            </a:extLst>
          </p:cNvPr>
          <p:cNvCxnSpPr/>
          <p:nvPr/>
        </p:nvCxnSpPr>
        <p:spPr>
          <a:xfrm>
            <a:off x="6032500" y="19177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26_line_17">
            <a:extLst>
              <a:ext uri="{FF2B5EF4-FFF2-40B4-BE49-F238E27FC236}">
                <a16:creationId xmlns:a16="http://schemas.microsoft.com/office/drawing/2014/main" id="{932C734A-D533-8C46-626E-88C5A0DAE580}"/>
              </a:ext>
            </a:extLst>
          </p:cNvPr>
          <p:cNvCxnSpPr/>
          <p:nvPr/>
        </p:nvCxnSpPr>
        <p:spPr>
          <a:xfrm>
            <a:off x="3009900" y="1917700"/>
            <a:ext cx="241300" cy="127"/>
          </a:xfrm>
          <a:prstGeom prst="line">
            <a:avLst/>
          </a:prstGeom>
          <a:ln w="19050">
            <a:solidFill>
              <a:srgbClr val="FD65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4200" b="1">
                <a:solidFill>
                  <a:srgbClr val="1F2937"/>
                </a:solidFill>
                <a:latin typeface="Inter" panose="02000503000000020004" pitchFamily="2" charset="0"/>
              </a:rPr>
              <a:t>Aprovechar lo aprendido</a:t>
            </a:r>
            <a:endParaRPr sz="4200" b="1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2" name="c26_learn_t_0">
            <a:extLst>
              <a:ext uri="{FF2B5EF4-FFF2-40B4-BE49-F238E27FC236}">
                <a16:creationId xmlns:a16="http://schemas.microsoft.com/office/drawing/2014/main" id="{9BD3CFEA-32FF-DF80-7E96-4CDCB7B7E4A4}"/>
              </a:ext>
            </a:extLst>
          </p:cNvPr>
          <p:cNvSpPr txBox="1">
            <a:spLocks/>
          </p:cNvSpPr>
          <p:nvPr/>
        </p:nvSpPr>
        <p:spPr>
          <a:xfrm>
            <a:off x="304800" y="1574800"/>
            <a:ext cx="27559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FD6534"/>
                </a:solidFill>
                <a:latin typeface="Inter" panose="02000503000000020004" pitchFamily="2" charset="0"/>
              </a:rPr>
              <a:t>Corrección</a:t>
            </a:r>
          </a:p>
        </p:txBody>
      </p:sp>
      <p:sp>
        <p:nvSpPr>
          <p:cNvPr id="3" name="c26_learn_b_0">
            <a:extLst>
              <a:ext uri="{FF2B5EF4-FFF2-40B4-BE49-F238E27FC236}">
                <a16:creationId xmlns:a16="http://schemas.microsoft.com/office/drawing/2014/main" id="{DB1D7961-8D12-EF07-4CB9-1D68C9F21601}"/>
              </a:ext>
            </a:extLst>
          </p:cNvPr>
          <p:cNvSpPr txBox="1">
            <a:spLocks/>
          </p:cNvSpPr>
          <p:nvPr/>
        </p:nvSpPr>
        <p:spPr>
          <a:xfrm>
            <a:off x="304800" y="2197099"/>
            <a:ext cx="27559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Un cambio real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en el contenido</a:t>
            </a:r>
          </a:p>
        </p:txBody>
      </p:sp>
      <p:sp>
        <p:nvSpPr>
          <p:cNvPr id="5" name="c26_learn_t_1">
            <a:extLst>
              <a:ext uri="{FF2B5EF4-FFF2-40B4-BE49-F238E27FC236}">
                <a16:creationId xmlns:a16="http://schemas.microsoft.com/office/drawing/2014/main" id="{BAD941FC-8764-7A13-EE55-E07EEADA04F3}"/>
              </a:ext>
            </a:extLst>
          </p:cNvPr>
          <p:cNvSpPr txBox="1">
            <a:spLocks/>
          </p:cNvSpPr>
          <p:nvPr/>
        </p:nvSpPr>
        <p:spPr>
          <a:xfrm>
            <a:off x="3327400" y="1574800"/>
            <a:ext cx="27559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FD6534"/>
                </a:solidFill>
                <a:latin typeface="Inter" panose="02000503000000020004" pitchFamily="2" charset="0"/>
              </a:rPr>
              <a:t>Regla revisada</a:t>
            </a:r>
          </a:p>
        </p:txBody>
      </p:sp>
      <p:sp>
        <p:nvSpPr>
          <p:cNvPr id="6" name="c26_learn_b_1">
            <a:extLst>
              <a:ext uri="{FF2B5EF4-FFF2-40B4-BE49-F238E27FC236}">
                <a16:creationId xmlns:a16="http://schemas.microsoft.com/office/drawing/2014/main" id="{C060ADF0-DA6D-D594-6803-2FE1EDF4F631}"/>
              </a:ext>
            </a:extLst>
          </p:cNvPr>
          <p:cNvSpPr txBox="1">
            <a:spLocks/>
          </p:cNvSpPr>
          <p:nvPr/>
        </p:nvSpPr>
        <p:spPr>
          <a:xfrm>
            <a:off x="3327400" y="2197099"/>
            <a:ext cx="27559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Un criterio útil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para otros textos</a:t>
            </a:r>
          </a:p>
        </p:txBody>
      </p:sp>
      <p:sp>
        <p:nvSpPr>
          <p:cNvPr id="8" name="c26_learn_t_2">
            <a:extLst>
              <a:ext uri="{FF2B5EF4-FFF2-40B4-BE49-F238E27FC236}">
                <a16:creationId xmlns:a16="http://schemas.microsoft.com/office/drawing/2014/main" id="{F9B4563B-6751-1CCE-370D-658D6B9B7DBF}"/>
              </a:ext>
            </a:extLst>
          </p:cNvPr>
          <p:cNvSpPr txBox="1">
            <a:spLocks/>
          </p:cNvSpPr>
          <p:nvPr/>
        </p:nvSpPr>
        <p:spPr>
          <a:xfrm>
            <a:off x="6350000" y="1574800"/>
            <a:ext cx="2755900" cy="3844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300" b="1">
                <a:solidFill>
                  <a:srgbClr val="FD6534"/>
                </a:solidFill>
                <a:latin typeface="Inter" panose="02000503000000020004" pitchFamily="2" charset="0"/>
              </a:rPr>
              <a:t>Próxima tarea</a:t>
            </a:r>
          </a:p>
        </p:txBody>
      </p:sp>
      <p:sp>
        <p:nvSpPr>
          <p:cNvPr id="9" name="c26_learn_b_2">
            <a:extLst>
              <a:ext uri="{FF2B5EF4-FFF2-40B4-BE49-F238E27FC236}">
                <a16:creationId xmlns:a16="http://schemas.microsoft.com/office/drawing/2014/main" id="{069432D5-97AC-B57B-731B-D7C508AB832D}"/>
              </a:ext>
            </a:extLst>
          </p:cNvPr>
          <p:cNvSpPr txBox="1">
            <a:spLocks/>
          </p:cNvSpPr>
          <p:nvPr/>
        </p:nvSpPr>
        <p:spPr>
          <a:xfrm>
            <a:off x="6350000" y="2197099"/>
            <a:ext cx="2755900" cy="7745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El agente consulta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la regla guardada</a:t>
            </a:r>
          </a:p>
        </p:txBody>
      </p:sp>
      <p:sp>
        <p:nvSpPr>
          <p:cNvPr id="10" name="c26_learn_example">
            <a:extLst>
              <a:ext uri="{FF2B5EF4-FFF2-40B4-BE49-F238E27FC236}">
                <a16:creationId xmlns:a16="http://schemas.microsoft.com/office/drawing/2014/main" id="{D39C8205-BEBF-5770-4AC0-91DE2BFB38B9}"/>
              </a:ext>
            </a:extLst>
          </p:cNvPr>
          <p:cNvSpPr txBox="1">
            <a:spLocks/>
          </p:cNvSpPr>
          <p:nvPr/>
        </p:nvSpPr>
        <p:spPr>
          <a:xfrm>
            <a:off x="304800" y="3441700"/>
            <a:ext cx="8534400" cy="290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700">
                <a:solidFill>
                  <a:srgbClr val="5A5D5E"/>
                </a:solidFill>
                <a:latin typeface="Inter" panose="02000503000000020004" pitchFamily="2" charset="0"/>
              </a:rPr>
              <a:t>Ejemplo de regla</a:t>
            </a:r>
          </a:p>
        </p:txBody>
      </p:sp>
      <p:sp>
        <p:nvSpPr>
          <p:cNvPr id="11" name="c26_learn_rule">
            <a:extLst>
              <a:ext uri="{FF2B5EF4-FFF2-40B4-BE49-F238E27FC236}">
                <a16:creationId xmlns:a16="http://schemas.microsoft.com/office/drawing/2014/main" id="{967E4B28-4BD9-80C5-2160-0E48314508D0}"/>
              </a:ext>
            </a:extLst>
          </p:cNvPr>
          <p:cNvSpPr txBox="1">
            <a:spLocks/>
          </p:cNvSpPr>
          <p:nvPr/>
        </p:nvSpPr>
        <p:spPr>
          <a:xfrm>
            <a:off x="304800" y="3873500"/>
            <a:ext cx="8534400" cy="4156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500" b="1">
                <a:solidFill>
                  <a:srgbClr val="1F2937"/>
                </a:solidFill>
                <a:latin typeface="Inter" panose="02000503000000020004" pitchFamily="2" charset="0"/>
              </a:rPr>
              <a:t>Distinguir las pruebas realizadas de las propuestas.</a:t>
            </a:r>
          </a:p>
        </p:txBody>
      </p:sp>
    </p:spTree>
    <p:extLst>
      <p:ext uri="{BB962C8B-B14F-4D97-AF65-F5344CB8AC3E}">
        <p14:creationId xmlns:p14="http://schemas.microsoft.com/office/powerpoint/2010/main" val="935958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26_closing_highlight">
            <a:extLst>
              <a:ext uri="{FF2B5EF4-FFF2-40B4-BE49-F238E27FC236}">
                <a16:creationId xmlns:a16="http://schemas.microsoft.com/office/drawing/2014/main" id="{D820919C-741D-394B-D629-C7432241F732}"/>
              </a:ext>
            </a:extLst>
          </p:cNvPr>
          <p:cNvSpPr/>
          <p:nvPr/>
        </p:nvSpPr>
        <p:spPr>
          <a:xfrm>
            <a:off x="3313113" y="838200"/>
            <a:ext cx="2822638" cy="833374"/>
          </a:xfrm>
          <a:prstGeom prst="rect">
            <a:avLst/>
          </a:prstGeom>
          <a:solidFill>
            <a:srgbClr val="FD653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0" name="Google Shape;190;p42"/>
          <p:cNvSpPr txBox="1">
            <a:spLocks/>
          </p:cNvSpPr>
          <p:nvPr/>
        </p:nvSpPr>
        <p:spPr>
          <a:xfrm>
            <a:off x="381000" y="774700"/>
            <a:ext cx="8382000" cy="10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s-ES" sz="4900" b="1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De chat a </a:t>
            </a:r>
            <a:r>
              <a:rPr lang="es-ES" sz="4900" b="1">
                <a:solidFill>
                  <a:srgbClr val="FFFFFF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sistemas</a:t>
            </a:r>
            <a:endParaRPr sz="4900" b="1">
              <a:solidFill>
                <a:srgbClr val="FFFFFF"/>
              </a:solidFill>
              <a:latin typeface="Inter" panose="02000503000000020004" pitchFamily="2" charset="0"/>
              <a:ea typeface="Inter"/>
              <a:cs typeface="Inter"/>
              <a:sym typeface="Inter"/>
            </a:endParaRPr>
          </a:p>
        </p:txBody>
      </p:sp>
      <p:sp>
        <p:nvSpPr>
          <p:cNvPr id="2" name="c26_closing_items">
            <a:extLst>
              <a:ext uri="{FF2B5EF4-FFF2-40B4-BE49-F238E27FC236}">
                <a16:creationId xmlns:a16="http://schemas.microsoft.com/office/drawing/2014/main" id="{503C77AB-3B36-94B2-2331-BEF6162E112D}"/>
              </a:ext>
            </a:extLst>
          </p:cNvPr>
          <p:cNvSpPr txBox="1">
            <a:spLocks/>
          </p:cNvSpPr>
          <p:nvPr/>
        </p:nvSpPr>
        <p:spPr>
          <a:xfrm>
            <a:off x="381000" y="2108200"/>
            <a:ext cx="8382000" cy="19777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500">
                <a:solidFill>
                  <a:srgbClr val="1F2937"/>
                </a:solidFill>
                <a:latin typeface="Inter" panose="02000503000000020004" pitchFamily="2" charset="0"/>
              </a:rPr>
              <a:t>Un proceso definido.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500">
                <a:solidFill>
                  <a:srgbClr val="1F2937"/>
                </a:solidFill>
                <a:latin typeface="Inter" panose="02000503000000020004" pitchFamily="2" charset="0"/>
              </a:rPr>
              <a:t>Skills que conservan el método.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500">
                <a:solidFill>
                  <a:srgbClr val="1F2937"/>
                </a:solidFill>
                <a:latin typeface="Inter" panose="02000503000000020004" pitchFamily="2" charset="0"/>
              </a:rPr>
              <a:t>Un agente con herramientas.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500">
                <a:solidFill>
                  <a:srgbClr val="1F2937"/>
                </a:solidFill>
                <a:latin typeface="Inter" panose="02000503000000020004" pitchFamily="2" charset="0"/>
              </a:rPr>
              <a:t>Resultados que revisamos.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>
            <a:spLocks noGrp="1"/>
          </p:cNvSpPr>
          <p:nvPr>
            <p:ph type="title"/>
          </p:nvPr>
        </p:nvSpPr>
        <p:spPr>
          <a:xfrm>
            <a:off x="304800" y="279400"/>
            <a:ext cx="8534400" cy="9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</a:pPr>
            <a:r>
              <a:rPr lang="es-ES" sz="4200" b="1">
                <a:solidFill>
                  <a:srgbClr val="1F2937"/>
                </a:solidFill>
                <a:latin typeface="Inter" panose="02000503000000020004" pitchFamily="2" charset="0"/>
                <a:ea typeface="Inter"/>
                <a:cs typeface="Inter"/>
                <a:sym typeface="Inter"/>
              </a:rPr>
              <a:t>Recursos y referencias</a:t>
            </a:r>
            <a:endParaRPr sz="4200" b="1">
              <a:solidFill>
                <a:srgbClr val="1F2937"/>
              </a:solidFill>
              <a:latin typeface="Inter" panose="02000503000000020004" pitchFamily="2" charset="0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41"/>
          <p:cNvSpPr txBox="1">
            <a:spLocks/>
          </p:cNvSpPr>
          <p:nvPr/>
        </p:nvSpPr>
        <p:spPr>
          <a:xfrm>
            <a:off x="304800" y="2019300"/>
            <a:ext cx="4216400" cy="193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lnSpc>
                <a:spcPct val="115000"/>
              </a:lnSpc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3"/>
              </a:rPr>
              <a:t>Pipo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  <a:p>
            <a:pPr lvl="0" rtl="0">
              <a:lnSpc>
                <a:spcPct val="115000"/>
              </a:lnSpc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4"/>
              </a:rPr>
              <a:t>Análisis de entidades SEO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  <a:p>
            <a:pPr lvl="0" rtl="0">
              <a:lnSpc>
                <a:spcPct val="115000"/>
              </a:lnSpc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5"/>
              </a:rPr>
              <a:t>Radar de ideas Think&amp;Hack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  <a:p>
            <a:pPr lvl="0" rtl="0">
              <a:lnSpc>
                <a:spcPct val="115000"/>
              </a:lnSpc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6"/>
              </a:rPr>
              <a:t>Sistema editorial Think&amp;Hack</a:t>
            </a:r>
            <a:endParaRPr sz="1900" u="sng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6EE02-D005-30E4-6CBE-CD3B62BD3ED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26_res_projects">
            <a:extLst>
              <a:ext uri="{FF2B5EF4-FFF2-40B4-BE49-F238E27FC236}">
                <a16:creationId xmlns:a16="http://schemas.microsoft.com/office/drawing/2014/main" id="{C4742385-6DF1-AD3A-B7B6-6027289389CC}"/>
              </a:ext>
            </a:extLst>
          </p:cNvPr>
          <p:cNvSpPr txBox="1">
            <a:spLocks/>
          </p:cNvSpPr>
          <p:nvPr/>
        </p:nvSpPr>
        <p:spPr>
          <a:xfrm>
            <a:off x="304800" y="1422400"/>
            <a:ext cx="42164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 b="1">
                <a:solidFill>
                  <a:srgbClr val="FD6534"/>
                </a:solidFill>
                <a:latin typeface="Inter" panose="02000503000000020004" pitchFamily="2" charset="0"/>
              </a:rPr>
              <a:t>Proyectos de la charla</a:t>
            </a:r>
          </a:p>
        </p:txBody>
      </p:sp>
      <p:sp>
        <p:nvSpPr>
          <p:cNvPr id="5" name="c26_res_tech">
            <a:extLst>
              <a:ext uri="{FF2B5EF4-FFF2-40B4-BE49-F238E27FC236}">
                <a16:creationId xmlns:a16="http://schemas.microsoft.com/office/drawing/2014/main" id="{EFD3D86C-3C67-57BC-D05C-7E59B5AF0034}"/>
              </a:ext>
            </a:extLst>
          </p:cNvPr>
          <p:cNvSpPr txBox="1">
            <a:spLocks/>
          </p:cNvSpPr>
          <p:nvPr/>
        </p:nvSpPr>
        <p:spPr>
          <a:xfrm>
            <a:off x="4889500" y="1422400"/>
            <a:ext cx="3949700" cy="3688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2200" b="1">
                <a:solidFill>
                  <a:srgbClr val="FD6534"/>
                </a:solidFill>
                <a:latin typeface="Inter" panose="02000503000000020004" pitchFamily="2" charset="0"/>
              </a:rPr>
              <a:t>Documentación técnica</a:t>
            </a:r>
          </a:p>
        </p:txBody>
      </p:sp>
      <p:sp>
        <p:nvSpPr>
          <p:cNvPr id="6" name="c26_res_technical">
            <a:extLst>
              <a:ext uri="{FF2B5EF4-FFF2-40B4-BE49-F238E27FC236}">
                <a16:creationId xmlns:a16="http://schemas.microsoft.com/office/drawing/2014/main" id="{3F8344CC-0D89-4192-A97C-94A489234CF0}"/>
              </a:ext>
            </a:extLst>
          </p:cNvPr>
          <p:cNvSpPr txBox="1">
            <a:spLocks/>
          </p:cNvSpPr>
          <p:nvPr/>
        </p:nvSpPr>
        <p:spPr>
          <a:xfrm>
            <a:off x="4889500" y="2019300"/>
            <a:ext cx="3949700" cy="11622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7"/>
              </a:rPr>
              <a:t>Formato Agent Skills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8"/>
              </a:rPr>
              <a:t>Agentes y flujos de trabajo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900" u="sng">
                <a:solidFill>
                  <a:srgbClr val="1F2937"/>
                </a:solidFill>
                <a:latin typeface="Inter" panose="02000503000000020004" pitchFamily="2" charset="0"/>
                <a:hlinkClick r:id="rId9"/>
              </a:rPr>
              <a:t>Arnés y verificación</a:t>
            </a:r>
            <a:endParaRPr lang="es-ES" sz="1900" u="sng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7" name="c26_res_status">
            <a:extLst>
              <a:ext uri="{FF2B5EF4-FFF2-40B4-BE49-F238E27FC236}">
                <a16:creationId xmlns:a16="http://schemas.microsoft.com/office/drawing/2014/main" id="{501CD0C7-60DC-0F44-35C8-FB3281955688}"/>
              </a:ext>
            </a:extLst>
          </p:cNvPr>
          <p:cNvSpPr txBox="1">
            <a:spLocks/>
          </p:cNvSpPr>
          <p:nvPr/>
        </p:nvSpPr>
        <p:spPr>
          <a:xfrm>
            <a:off x="304800" y="4318000"/>
            <a:ext cx="8534400" cy="27520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s-ES" sz="1600">
                <a:solidFill>
                  <a:srgbClr val="5A5D5E"/>
                </a:solidFill>
                <a:latin typeface="Inter" panose="02000503000000020004" pitchFamily="2" charset="0"/>
              </a:rPr>
              <a:t>El sistema editorial enlaza al repositorio de trabajo.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/>
        </p:nvSpPr>
        <p:spPr>
          <a:xfrm flipH="1">
            <a:off x="297000" y="406075"/>
            <a:ext cx="8550000" cy="90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" sz="46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lang="es" sz="4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PREGUNTAS</a:t>
            </a:r>
            <a:r>
              <a:rPr lang="es" sz="440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4400" b="1" i="0" u="none" strike="noStrike" cap="none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43"/>
          <p:cNvSpPr txBox="1">
            <a:spLocks/>
          </p:cNvSpPr>
          <p:nvPr/>
        </p:nvSpPr>
        <p:spPr>
          <a:xfrm>
            <a:off x="304800" y="1549400"/>
            <a:ext cx="85344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 rtl="0">
              <a:lnSpc>
                <a:spcPct val="115000"/>
              </a:lnSpc>
              <a:spcAft>
                <a:spcPts val="800"/>
              </a:spcAft>
            </a:pPr>
            <a:r>
              <a:rPr lang="es-ES" sz="2000">
                <a:solidFill>
                  <a:srgbClr val="1F2937"/>
                </a:solidFill>
                <a:latin typeface="Inter" panose="02000503000000020004" pitchFamily="2" charset="0"/>
              </a:rPr>
              <a:t>Think&amp;Hack · IA aplicada al trabajo</a:t>
            </a:r>
            <a:endParaRPr sz="2000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sp>
        <p:nvSpPr>
          <p:cNvPr id="197" name="Google Shape;197;p43"/>
          <p:cNvSpPr txBox="1"/>
          <p:nvPr/>
        </p:nvSpPr>
        <p:spPr>
          <a:xfrm>
            <a:off x="2159000" y="3568700"/>
            <a:ext cx="4826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3"/>
              </a:rPr>
              <a:t>LinkedIn · Aina-Lluna Taylor</a:t>
            </a:r>
            <a:endParaRPr lang="es-ES" sz="1600">
              <a:solidFill>
                <a:srgbClr val="1F2937"/>
              </a:solidFill>
              <a:uFill>
                <a:noFill/>
              </a:uFill>
              <a:latin typeface="Inter" panose="02000503000000020004" pitchFamily="2" charset="0"/>
            </a:endParaRPr>
          </a:p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4"/>
              </a:rPr>
              <a:t>Think&amp;Hack · Newsletter</a:t>
            </a:r>
            <a:endParaRPr lang="es-ES" sz="1600">
              <a:solidFill>
                <a:srgbClr val="1F2937"/>
              </a:solidFill>
              <a:uFill>
                <a:noFill/>
              </a:uFill>
              <a:latin typeface="Inter" panose="02000503000000020004" pitchFamily="2" charset="0"/>
            </a:endParaRPr>
          </a:p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5"/>
              </a:rPr>
              <a:t>ainalluna.com</a:t>
            </a:r>
            <a:endParaRPr sz="1600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 txBox="1"/>
          <p:nvPr/>
        </p:nvSpPr>
        <p:spPr>
          <a:xfrm flipH="1">
            <a:off x="0" y="212535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" sz="46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 sz="4400" b="1" i="0" u="none" strike="noStrike" cap="none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44"/>
          <p:cNvSpPr txBox="1"/>
          <p:nvPr/>
        </p:nvSpPr>
        <p:spPr>
          <a:xfrm>
            <a:off x="2159000" y="3568700"/>
            <a:ext cx="4826000" cy="927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3"/>
              </a:rPr>
              <a:t>LinkedIn · Aina-Lluna Taylor</a:t>
            </a:r>
            <a:endParaRPr lang="es-ES" sz="1600">
              <a:solidFill>
                <a:srgbClr val="1F2937"/>
              </a:solidFill>
              <a:uFill>
                <a:noFill/>
              </a:uFill>
              <a:latin typeface="Inter" panose="02000503000000020004" pitchFamily="2" charset="0"/>
            </a:endParaRPr>
          </a:p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4"/>
              </a:rPr>
              <a:t>Think&amp;Hack · Newsletter</a:t>
            </a:r>
            <a:endParaRPr lang="es-ES" sz="1600">
              <a:solidFill>
                <a:srgbClr val="1F2937"/>
              </a:solidFill>
              <a:uFill>
                <a:noFill/>
              </a:uFill>
              <a:latin typeface="Inter" panose="02000503000000020004" pitchFamily="2" charset="0"/>
            </a:endParaRPr>
          </a:p>
          <a:p>
            <a:pPr marL="158750" lvl="0" algn="ctr" rtl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s-ES" sz="1600">
                <a:solidFill>
                  <a:srgbClr val="1F2937"/>
                </a:solidFill>
                <a:uFill>
                  <a:noFill/>
                </a:uFill>
                <a:latin typeface="Inter" panose="02000503000000020004" pitchFamily="2" charset="0"/>
                <a:hlinkClick r:id="rId5"/>
              </a:rPr>
              <a:t>ainalluna.com</a:t>
            </a:r>
            <a:endParaRPr sz="1600">
              <a:solidFill>
                <a:srgbClr val="1F2937"/>
              </a:solidFill>
              <a:latin typeface="Inter" panose="02000503000000020004" pitchFamily="2" charset="0"/>
            </a:endParaRPr>
          </a:p>
        </p:txBody>
      </p:sp>
      <p:pic>
        <p:nvPicPr>
          <p:cNvPr id="204" name="Google Shape;204;p44" title="thinkhack_logo_alta-removebg-previe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9200" y="4699575"/>
            <a:ext cx="265500" cy="2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 title="thinkhack_logo_alta-removebg-previe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11925" y="583775"/>
            <a:ext cx="1320150" cy="13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Microsoft Office PowerPoint</Application>
  <PresentationFormat>On-screen Show (16:9)</PresentationFormat>
  <Paragraphs>335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Inter</vt:lpstr>
      <vt:lpstr>Calibri</vt:lpstr>
      <vt:lpstr>Roboto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 proceso editorial</vt:lpstr>
      <vt:lpstr>PowerPoint Presentation</vt:lpstr>
      <vt:lpstr>La Skill</vt:lpstr>
      <vt:lpstr>Una Skill por dentro</vt:lpstr>
      <vt:lpstr>PowerPoint Presentation</vt:lpstr>
      <vt:lpstr>El agente</vt:lpstr>
      <vt:lpstr>El script</vt:lpstr>
      <vt:lpstr>El arnés</vt:lpstr>
      <vt:lpstr>Resultados que podemos revisar</vt:lpstr>
      <vt:lpstr>Aprovechar lo aprendido</vt:lpstr>
      <vt:lpstr>PowerPoint Presentation</vt:lpstr>
      <vt:lpstr>Recursos y referencias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Aina-Lluna Taylor Barcelo</cp:lastModifiedBy>
  <cp:revision>1</cp:revision>
  <dcterms:modified xsi:type="dcterms:W3CDTF">2026-10-14T18:46:35Z</dcterms:modified>
</cp:coreProperties>
</file>